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161F"/>
                </a:solidFill>
                <a:latin typeface="+mn-lt"/>
              </a:defRPr>
            </a:pPr>
            <a:r>
              <a:rPr sz="1400" b="0" i="0" u="none" strike="noStrike">
                <a:solidFill>
                  <a:srgbClr val="14161F"/>
                </a:solidFill>
                <a:latin typeface="+mn-lt"/>
              </a:rPr>
              <a:t>Chi phí AI mỗi ticket theo bước (USD, ShopDemo)</a:t>
            </a:r>
          </a:p>
        </c:rich>
      </c:tx>
      <c:layout/>
      <c:overlay val="0"/>
    </c:title>
    <c:autoTitleDeleted val="0"/>
    <c:plotArea>
      <c:layout/>
      <c:barChart>
        <c:barDir val="bar"/>
        <c:grouping val="stacked"/>
        <c:varyColors val="0"/>
        <c:ser>
          <c:idx val="0"/>
          <c:order val="0"/>
          <c:tx>
            <c:strRef>
              <c:f>Sheet1!$B$1</c:f>
              <c:strCache>
                <c:ptCount val="1"/>
                <c:pt idx="0">
                  <c:v>Tách rule</c:v>
                </c:pt>
              </c:strCache>
            </c:strRef>
          </c:tx>
          <c:spPr>
            <a:solidFill>
              <a:srgbClr val="5B5BD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SCRUM-8 · $0,91</c:v>
                  </c:pt>
                  <c:pt idx="1">
                    <c:v>SCRUM-9 · $1,35</c:v>
                  </c:pt>
                  <c:pt idx="2">
                    <c:v>SCRUM-11 · $1,38</c:v>
                  </c:pt>
                  <c:pt idx="3">
                    <c:v>SCRUM-12 · $1,32</c:v>
                  </c:pt>
                  <c:pt idx="4">
                    <c:v>SCRUM-13 · $0,81</c:v>
                  </c:pt>
                </c:lvl>
              </c:multiLvlStrCache>
            </c:multiLvlStrRef>
          </c:cat>
          <c:val>
            <c:numRef>
              <c:f>Sheet1!$B$2:$B$6</c:f>
              <c:numCache>
                <c:formatCode>General</c:formatCode>
                <c:ptCount val="5"/>
                <c:pt idx="0">
                  <c:v>0.27</c:v>
                </c:pt>
                <c:pt idx="1">
                  <c:v>0.24</c:v>
                </c:pt>
                <c:pt idx="2">
                  <c:v>0.26</c:v>
                </c:pt>
                <c:pt idx="3">
                  <c:v>0.29</c:v>
                </c:pt>
                <c:pt idx="4">
                  <c:v>0.32</c:v>
                </c:pt>
              </c:numCache>
            </c:numRef>
          </c:val>
        </c:ser>
        <c:ser>
          <c:idx val="1"/>
          <c:order val="1"/>
          <c:tx>
            <c:strRef>
              <c:f>Sheet1!$C$1</c:f>
              <c:strCache>
                <c:ptCount val="1"/>
                <c:pt idx="0">
                  <c:v>Thiết kế case</c:v>
                </c:pt>
              </c:strCache>
            </c:strRef>
          </c:tx>
          <c:spPr>
            <a:solidFill>
              <a:srgbClr val="9CA3F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SCRUM-8 · $0,91</c:v>
                  </c:pt>
                  <c:pt idx="1">
                    <c:v>SCRUM-9 · $1,35</c:v>
                  </c:pt>
                  <c:pt idx="2">
                    <c:v>SCRUM-11 · $1,38</c:v>
                  </c:pt>
                  <c:pt idx="3">
                    <c:v>SCRUM-12 · $1,32</c:v>
                  </c:pt>
                  <c:pt idx="4">
                    <c:v>SCRUM-13 · $0,81</c:v>
                  </c:pt>
                </c:lvl>
              </c:multiLvlStrCache>
            </c:multiLvlStrRef>
          </c:cat>
          <c:val>
            <c:numRef>
              <c:f>Sheet1!$C$2:$C$6</c:f>
              <c:numCache>
                <c:formatCode>General</c:formatCode>
                <c:ptCount val="5"/>
                <c:pt idx="0">
                  <c:v>0</c:v>
                </c:pt>
                <c:pt idx="1">
                  <c:v>0.47</c:v>
                </c:pt>
                <c:pt idx="2">
                  <c:v>0.46</c:v>
                </c:pt>
                <c:pt idx="3">
                  <c:v>0.47</c:v>
                </c:pt>
                <c:pt idx="4">
                  <c:v>0.17</c:v>
                </c:pt>
              </c:numCache>
            </c:numRef>
          </c:val>
        </c:ser>
        <c:ser>
          <c:idx val="2"/>
          <c:order val="2"/>
          <c:tx>
            <c:strRef>
              <c:f>Sheet1!$D$1</c:f>
              <c:strCache>
                <c:ptCount val="1"/>
                <c:pt idx="0">
                  <c:v>Viết test</c:v>
                </c:pt>
              </c:strCache>
            </c:strRef>
          </c:tx>
          <c:spPr>
            <a:solidFill>
              <a:srgbClr val="2B324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SCRUM-8 · $0,91</c:v>
                  </c:pt>
                  <c:pt idx="1">
                    <c:v>SCRUM-9 · $1,35</c:v>
                  </c:pt>
                  <c:pt idx="2">
                    <c:v>SCRUM-11 · $1,38</c:v>
                  </c:pt>
                  <c:pt idx="3">
                    <c:v>SCRUM-12 · $1,32</c:v>
                  </c:pt>
                  <c:pt idx="4">
                    <c:v>SCRUM-13 · $0,81</c:v>
                  </c:pt>
                </c:lvl>
              </c:multiLvlStrCache>
            </c:multiLvlStrRef>
          </c:cat>
          <c:val>
            <c:numRef>
              <c:f>Sheet1!$D$2:$D$6</c:f>
              <c:numCache>
                <c:formatCode>General</c:formatCode>
                <c:ptCount val="5"/>
                <c:pt idx="0">
                  <c:v>0.34</c:v>
                </c:pt>
                <c:pt idx="1">
                  <c:v>0.47</c:v>
                </c:pt>
                <c:pt idx="2">
                  <c:v>0.38</c:v>
                </c:pt>
                <c:pt idx="3">
                  <c:v>0.57</c:v>
                </c:pt>
                <c:pt idx="4">
                  <c:v>0.32</c:v>
                </c:pt>
              </c:numCache>
            </c:numRef>
          </c:val>
        </c:ser>
        <c:ser>
          <c:idx val="3"/>
          <c:order val="3"/>
          <c:tx>
            <c:strRef>
              <c:f>Sheet1!$E$1</c:f>
              <c:strCache>
                <c:ptCount val="1"/>
                <c:pt idx="0">
                  <c:v>Tự sửa</c:v>
                </c:pt>
              </c:strCache>
            </c:strRef>
          </c:tx>
          <c:spPr>
            <a:solidFill>
              <a:srgbClr val="8A93A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SCRUM-8 · $0,91</c:v>
                  </c:pt>
                  <c:pt idx="1">
                    <c:v>SCRUM-9 · $1,35</c:v>
                  </c:pt>
                  <c:pt idx="2">
                    <c:v>SCRUM-11 · $1,38</c:v>
                  </c:pt>
                  <c:pt idx="3">
                    <c:v>SCRUM-12 · $1,32</c:v>
                  </c:pt>
                  <c:pt idx="4">
                    <c:v>SCRUM-13 · $0,81</c:v>
                  </c:pt>
                </c:lvl>
              </c:multiLvlStrCache>
            </c:multiLvlStrRef>
          </c:cat>
          <c:val>
            <c:numRef>
              <c:f>Sheet1!$E$2:$E$6</c:f>
              <c:numCache>
                <c:formatCode>General</c:formatCode>
                <c:ptCount val="5"/>
                <c:pt idx="0">
                  <c:v>0.29</c:v>
                </c:pt>
                <c:pt idx="1">
                  <c:v>0.17</c:v>
                </c:pt>
                <c:pt idx="2">
                  <c:v>0.29</c:v>
                </c:pt>
                <c:pt idx="3">
                  <c:v>0</c:v>
                </c:pt>
                <c:pt idx="4">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B3245"/>
                </a:solidFill>
                <a:latin typeface="+mn-lt"/>
              </a:defRPr>
            </a:pPr>
            <a:endParaRPr lang="en-US"/>
          </a:p>
        </c:txPr>
        <c:crossAx val="2094734552"/>
        <c:crosses val="autoZero"/>
        <c:auto val="1"/>
        <c:lblAlgn val="ctr"/>
        <c:noMultiLvlLbl val="1"/>
      </c:catAx>
      <c:valAx>
        <c:axId val="2094734552"/>
        <c:scaling>
          <c:orientation val="minMax"/>
          <c:max val="1.6"/>
        </c:scaling>
        <c:delete val="0"/>
        <c:axPos val="b"/>
        <c:majorGridlines>
          <c:spPr>
            <a:ln w="6350" cap="flat">
              <a:solidFill>
                <a:srgbClr val="D5D9E2"/>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2B3245"/>
                </a:solidFill>
                <a:latin typeface="+mn-lt"/>
              </a:defRPr>
            </a:pPr>
            <a:endParaRPr lang="en-US"/>
          </a:p>
        </c:txPr>
        <c:crossAx val="2094734554"/>
        <c:crosses val="autoZero"/>
        <c:crossBetween val="between"/>
        <c:majorUnit val="0.4"/>
      </c:valAx>
      <c:spPr>
        <a:noFill/>
        <a:ln>
          <a:noFill/>
        </a:ln>
        <a:effectLst/>
      </c:spPr>
    </c:plotArea>
    <c:legend>
      <c:legendPos val="b"/>
      <c:overlay val="0"/>
      <c:txPr>
        <a:bodyPr/>
        <a:lstStyle/>
        <a:p>
          <a:pPr>
            <a:defRPr sz="1200">
              <a:solidFill>
                <a:srgbClr val="2B3245"/>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Hôm nay mình không nói về việc AI viết test giỏi đến đâu. Mình nói về việc làm sao để tin được kết quả đó: những chốt chặn nào, chi phí bao nhiêu, và đã đo được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cũng biết AI viết được test. Câu hỏi thật là: có tin được không? Mình gom lại bốn rủi ro. Một, test xanh giả: AI sửa test cho qua. Hai, AI tự đoán khi yêu cầu mơ hồ. Ba, AI chạy mãi không dừng. Bốn, không truy vết được ai làm gì. Mỗi rủi ro có một cách kiểm soát, và cả buổi hôm nay sẽ đi qua từng cái. Rủi ro đầu không phải lý thuyết: hệ thống của mình từng báo xanh khi chưa có test nào. Mình phát hiện khi chạy trên ticket thật và đã sửa.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toàn bộ quy trình tám bước. Màu xanh tím là AI làm, màu cam là cổng người duyệt, màu xanh lá là không có AI. Để ý ba điều. Một: ba trong tám bước có cổng người. Hai: bước chạy lại trên CI hoàn toàn không có AI, kết quả pass hay fail là của công cụ chạy test. Ba: khi test đỏ, người phân loại nguyên nhân, AI không tự quyết. QA làm việc trong Jira và không cần mở repo. Bước 7 và 8 mình đang xây, nên slide ghi rõ là đã thiết kế.
Tên agent nếu bị hỏi: spec-extractor (bước 2), case-designer (bước 3), automation-writer và flow-fixer (bước 4), repair-agent (bước 7), reporter (bước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Cách hoạt động rất đơn giản. Ba AI nối nhau, mỗi AI làm một việc và bàn giao bằng file trong git, nên người đọc và sửa được. Giữa chừng có hai cổng người: trả lời chỗ mơ hồ, và duyệt rule cùng test case. Quan trọng nhất là ô màu xanh lá: công cụ chạy test quyết định pass hay fail, không phải AI. Bảng bên phải là sáu chốt chặn. Mình nói thẳng: năm cái được ép bằng code hoặc CI, còn cái cuối, 'phải xem app thật trước khi viết selector', mới ở mức chỉ dẫn cho AI, chưa có code kiểm tra.
Tên kỹ thuật, chỉ nói khi bị hỏi: bộ điều phối bin/qa-auto, bộ chạy test bin/qa, kiểm tra độ phủ bin/qa-check, khoá assertion fix_is_legit, kiểm tra spec spec-integrity, xem màn hình inspect_screen (Maestro MCP).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chi phí, mình tách ba lớp. Một: trần cứng. Nếu một AI chạy lỡ thì bị dừng ở mức này; trần cao hơn nhiều so với chi phí thật, vì nó là rào chắn chứ không phải dự toán. Hai: số đã đo trên năm ticket thật của một app demo đơn giản, khoảng 0,4 đô cho mỗi test. Đây là một điểm dữ liệu, không phải chuẩn: app thật phức tạp hơn nên có thể cao hơn một đến ba lần, và pilot sẽ đo con số thật. Ba: để dễ hình dung, 0,4 đô tương đương chừng nửa phút công của một kỹ sư, nếu lấy ví dụ 50 đô một giờ. Nghĩa là chi phí đáng kể là thời gian review, không phải tiền AI. Cuối cùng, chạy lại test hằng ngày không tốn đồng AI nào.
Ghi chú: chi phí 1 ticket ≈ $0,5 cố định (tách rule ~$0,3 + thiết kế case ~$0,2) + ~$0,17 cho mỗi test viết ra. Khoảng 1–3 lần là giả định. Pilot: 10 ticket × $0,84 ≈ $10 (cận dưới); 15 ticket × ~$3,5 ≈ $53, cộng bước 7 → ~$70 (cận trên). Đừng nói 'giảm từ $1,35 xuống $0,81': hai ticket khác số test. Chưa có trần chi tiêu theo ngày.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Mình sẽ demo hai phần. Phần một: từ một ticket Jira đến một PR, chạy thật. Phần hai: chạy lại test trên ba phiên bản của app. Hãy chú ý một điều: không phải AI sửa được test, mà là AI biết phân biệt khi nào được sửa và khi nào phải từ chối.
Chuẩn bị: hai build 'đổi ID' và 'lỗi thật' cần dựng trong repo app (hiện chỉ có build-0 và build-1).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một ticket thật trên Jira. Mình gắn label qa-auto. Hệ thống đọc ticket và tách thành các rule. Đây là comment duy nhất gửi cho QA, gồm cả rule lẫn test case. Mình gắn label duyệt. Bây giờ AI mở app thật trên simulator để viết test, mất khoảng hai phút. Trong lúc chờ, các bạn thấy trần chi phí và thời gian đang chạy. Xong rồi, đây là PR: có ghi model nào đã dùng và tổng chi phí. Còn nếu ticket mơ hồ thì hệ thống dừng và hỏi như màn hình này, thay vì tự đoán.
Chuẩn bị: khởi chạy ticket trước để bước tách rule và thiết kế case đã xong (thời gian thật: tách rule ~33 s, thiết kế case ~40 s, viết test ~139 s, tạo simulator ~86 s). Nhánh ticket mơ hồ chiếu bằng ảnh chụp màn hình comment qa-needs-info. Dự phòng: video quay lại đúng lần chạy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Bây giờ là phần chạy lại test trên CI, không có AI. Phiên bản gốc xanh. Phiên bản thứ hai, một nút bị đổi ID: test đỏ, AI xem màn hình thật, thấy nút vẫn còn, chỉ đổi ID, nên đề xuất một PR sửa selector. Chạy lại thì xanh. Phiên bản thứ ba, app tính sai một giá trị: test cũng đỏ, nhưng lần này AI từ chối sửa, vì đây là lỗi của app. Test giữ nguyên đỏ và chuyển cho người. Cuối cùng là báo cáo của lần chạy.
Chuẩn bị: chạy đủ 21 flow mất ~12 phút, nên dùng nhóm smoke (6 flow) hoặc video quay sẵn. Chỉ chạy bước 7 thật nếu bạn đo được mỗi lần dưới ~2 phút (chưa đo). Dự phòng dùng được ngay: SCRUM-7, một lỗi app thật mà test vẫn đỏ (tag known-bug kèm ticket key, CI loại 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điều mình muốn các bạn nhớ. Sửa một test cho xanh thì dễ, AI làm được ngay. Cái khó là biết khi nào không được sửa. Một công cụ tự vá mà không phân biệt được 'giao diện đã dời' với 'app đang sai' thì sẽ biến mọi lỗi thật thành test xanh. Vì vậy chúng tôi giới hạn nó chặt, và để người quyết định mọi trường hợp còn lại.
Chi tiết kỹ thuật, chỉ nói khi bị hỏi (đã thiết kế): tối đa 2 lần thử · phải chạy lại case · bản vá làm test kiểm tra ít đi thì bị từ chối tự động · đầu ra luôn là PR cho người duyệt. Có thể bỏ slide này nếu cần thêm thời gian; Demo 2 đã nói lên ý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Mình chia thẳng: cái gì đã có, mục tiêu khởi điểm, và cái gì chưa đo. Đã có: mọi rule đều có test case, vì code chặn nếu thiếu. Các mục tiêu khởi điểm là điểm xuất phát để cùng bàn với các bạn, không phải chuẩn của ngành. Tham chiếu duy nhất mình có là nghiên cứu của Meta: 57% test do AI sinh ra chạy ổn định. Đó là unit test nên khác miền, mình chỉ dùng để kiểm tra mục tiêu sáu mươi phần trăm có hợp lý không. Còn thời gian chạy và công sức bảo trì, mình không đặt con số trước, vì mình muốn pilot trả lời bằng dữ liệu của chính các bạn.
Ghi chú: cơ sở của ≥ 60%: 3/5 lần chạy không người trông và tham chiếu Meta 57%, đều là mẫu nhỏ hoặc khác miền. Meta: Alshahwan và cộng sự, arXiv 2402.09171 (FSE 2024 Industry): 75% test build đúng, 57% chạy ổn định, 25% tăng độ phủ, 73% đề xuất được chấp nhận. Đọc lại bài gốc trước khi trích dẫn. Không dùng số 'bảo trì chiếm 40–70% công sức' vì chỉ có trong blog nhà cung cấp. Không claim giảm công sức QA hay tăng khả năng phát hiện lỗi.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kiểm toán: mỗi PR ghi rõ model nào đã làm, tốn bao nhiêu, và ai duyệt nằm trong lịch sử Jira. Về dữ liệu: chúng tôi không dùng dữ liệu khách hàng thật. Có một việc chưa làm và mình muốn nói ngay: chưa review data residency và EU AI Act, cần xác nhận trước khi chạy pilot. Còn giới hạn thì như trên slide: mới một app, chỉ iOS, năm lần chạy. Mình nói thẳng điều này vì pilot được thiết kế để trả lời đúng những chỗ chưa chắc.
Chỉ nói thêm khi bị hỏi: chưa xác minh branch protection của GitHub; bin/qa-auto chưa có test riêng; flow còn hard-code tài khoản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tiếp theo là một pilot nhỏ: một app, mười đến mười lăm ticket thật, bốn đến sáu tuần. Chi phí AI mình ước tính chừng mười đến bảy mươi đô cho cả đợt, và con số này sẽ được thay bằng số đo thật. Điều chúng tôi mang đến không chỉ là 'có dùng AI', mà là kỷ luật bao quanh AI: công cụ chạy test quyết định, người giữ các cổng, giới hạn bằng code, và những con số chúng tôi công bố kể cả khi chưa đẹp.
Ghi chú: mục 3 của lộ trình chưa bắt đầu, chỉ làm sau mục 1 và 2. Không claim 'giảm công sức QA' hay 'tăng khả năng phát hiện lỗi': đó là giả thuyết pilot kiểm 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các bạn. Ba ý để mang về: AI đề xuất, người giữ các cổng, và công cụ chạy test là bên quyết định pass hay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rtlCol="0"/>
          <a:lstStyle>
            <a:lvl1pPr algn="l" indent="0" marL="0">
              <a:buNone/>
              <a:defRPr lang="en-US" sz="3600" b="1" dirty="0">
                <a:solidFill>
                  <a:schemeClr val="tx1"/>
                </a:solidFill>
                <a:latin typeface="+mj-lt" pitchFamily="34" charset="0"/>
                <a:ea typeface="+mj-lt" pitchFamily="34" charset="-122"/>
                <a:cs typeface="+mj-lt"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1672" cy="822960"/>
          </a:xfrm>
          <a:prstGeom prst="rect">
            <a:avLst/>
          </a:prstGeom>
          <a:noFill/>
          <a:ln/>
        </p:spPr>
        <p:txBody>
          <a:bodyPr wrap="square" rtlCol="0"/>
          <a:lstStyle>
            <a:lvl1pPr algn="l" indent="0" marL="0">
              <a:buNone/>
              <a:defRPr lang="en-US" sz="4000" b="1" dirty="0">
                <a:solidFill>
                  <a:schemeClr val="bg1"/>
                </a:solidFill>
                <a:latin typeface="+mj-lt" pitchFamily="34" charset="0"/>
                <a:ea typeface="+mj-lt" pitchFamily="34" charset="-122"/>
                <a:cs typeface="+mj-lt" pitchFamily="34" charset="-120"/>
              </a:defRPr>
            </a:lvl1pPr>
          </a:lstStyle>
          <a:p>
            <a:pPr algn="l" indent="0" marL="0">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949440" cy="2103120"/>
          </a:xfrm>
          <a:prstGeom prst="rect">
            <a:avLst/>
          </a:prstGeom>
          <a:noFill/>
          <a:ln/>
        </p:spPr>
        <p:txBody>
          <a:bodyPr wrap="square" rtlCol="0"/>
          <a:lstStyle>
            <a:lvl1pPr algn="l" indent="0" marL="0">
              <a:buNone/>
              <a:defRPr lang="en-US" sz="5000" b="1" dirty="0">
                <a:solidFill>
                  <a:schemeClr val="bg1"/>
                </a:solidFill>
                <a:latin typeface="+mj-lt" pitchFamily="34" charset="0"/>
                <a:ea typeface="+mj-lt" pitchFamily="34" charset="-122"/>
                <a:cs typeface="+mj-lt" pitchFamily="34" charset="-120"/>
              </a:defRPr>
            </a:lvl1pPr>
          </a:lstStyle>
          <a:p>
            <a:pPr algn="l" indent="0" marL="0">
              <a:buNone/>
            </a:pPr>
            <a:endParaRPr lang="en-US" sz="5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4.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2.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slideLayout" Target="../slideLayouts/slideLayout2.xml"/><Relationship Id="rId1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slideLayout" Target="../slideLayouts/slideLayout2.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280160"/>
            <a:ext cx="6949440" cy="320040"/>
          </a:xfrm>
          <a:prstGeom prst="rect">
            <a:avLst/>
          </a:prstGeom>
          <a:noFill/>
          <a:ln/>
        </p:spPr>
        <p:txBody>
          <a:bodyPr wrap="square" lIns="0" tIns="0" rIns="0" bIns="0" rtlCol="0" anchor="t"/>
          <a:lstStyle/>
          <a:p>
            <a:pPr algn="l" indent="0" marL="0">
              <a:buNone/>
            </a:pPr>
            <a:r>
              <a:rPr lang="en-US" sz="1400" b="1" spc="300" kern="0" dirty="0">
                <a:solidFill>
                  <a:schemeClr val="accent5"/>
                </a:solidFill>
              </a:rPr>
              <a:t>QA PIPELINE  ·  QA MOBILE CÓ AI HỖ TRỢ</a:t>
            </a:r>
            <a:endParaRPr lang="en-US" sz="1400" dirty="0"/>
          </a:p>
        </p:txBody>
      </p:sp>
      <p:sp>
        <p:nvSpPr>
          <p:cNvPr id="3" name="Text 0"/>
          <p:cNvSpPr/>
          <p:nvPr>
            <p:ph idx="100" type="title" hasCustomPrompt="1"/>
          </p:nvPr>
        </p:nvSpPr>
        <p:spPr>
          <a:xfrm>
            <a:off x="548640" y="1828800"/>
            <a:ext cx="6949440" cy="2103120"/>
          </a:xfrm>
          <a:prstGeom prst="rect">
            <a:avLst/>
          </a:prstGeom>
          <a:noFill/>
          <a:ln/>
        </p:spPr>
        <p:txBody>
          <a:bodyPr wrap="square" lIns="0" tIns="0" rIns="0" bIns="0" rtlCol="0" anchor="t"/>
          <a:lstStyle/>
          <a:p>
            <a:pPr algn="l" indent="0" marL="0">
              <a:buNone/>
            </a:pPr>
            <a:r>
              <a:rPr lang="en-US" sz="5000" b="1" dirty="0">
                <a:solidFill>
                  <a:schemeClr val="bg1"/>
                </a:solidFill>
                <a:latin typeface="+mj-lt" pitchFamily="34" charset="0"/>
                <a:ea typeface="+mj-lt" pitchFamily="34" charset="-122"/>
                <a:cs typeface="+mj-lt" pitchFamily="34" charset="-120"/>
              </a:rPr>
              <a:t>AI Proposes,</a:t>
            </a:r>
            <a:endParaRPr lang="en-US" sz="5000" dirty="0"/>
          </a:p>
          <a:p>
            <a:pPr algn="l" indent="0" marL="0">
              <a:buNone/>
            </a:pPr>
            <a:r>
              <a:rPr lang="en-US" sz="5000" b="1" dirty="0">
                <a:solidFill>
                  <a:schemeClr val="bg1"/>
                </a:solidFill>
                <a:latin typeface="+mj-lt" pitchFamily="34" charset="0"/>
                <a:ea typeface="+mj-lt" pitchFamily="34" charset="-122"/>
                <a:cs typeface="+mj-lt" pitchFamily="34" charset="-120"/>
              </a:rPr>
              <a:t>the Runner Decides</a:t>
            </a:r>
            <a:endParaRPr lang="en-US" sz="5000" dirty="0"/>
          </a:p>
        </p:txBody>
      </p:sp>
      <p:sp>
        <p:nvSpPr>
          <p:cNvPr id="4" name="Text 2"/>
          <p:cNvSpPr txBox="1"/>
          <p:nvPr/>
        </p:nvSpPr>
        <p:spPr>
          <a:xfrm>
            <a:off x="548640" y="4206240"/>
            <a:ext cx="6400800" cy="914400"/>
          </a:xfrm>
          <a:prstGeom prst="rect">
            <a:avLst/>
          </a:prstGeom>
          <a:noFill/>
          <a:ln/>
        </p:spPr>
        <p:txBody>
          <a:bodyPr wrap="square" lIns="0" tIns="0" rIns="0" bIns="0" rtlCol="0" anchor="t"/>
          <a:lstStyle/>
          <a:p>
            <a:pPr algn="l" indent="0" marL="0">
              <a:buNone/>
            </a:pPr>
            <a:r>
              <a:rPr lang="en-US" sz="2000" dirty="0">
                <a:solidFill>
                  <a:schemeClr val="bg2"/>
                </a:solidFill>
              </a:rPr>
              <a:t>Từ ticket Jira đến PR đã review đến kiểm thử hồi quy trên CI — AI luôn có giới hạn</a:t>
            </a:r>
            <a:endParaRPr lang="en-US" sz="2000" dirty="0"/>
          </a:p>
        </p:txBody>
      </p:sp>
      <p:sp>
        <p:nvSpPr>
          <p:cNvPr id="5" name="Pass ring"/>
          <p:cNvSpPr/>
          <p:nvPr/>
        </p:nvSpPr>
        <p:spPr>
          <a:xfrm>
            <a:off x="8001000" y="1463040"/>
            <a:ext cx="3657600" cy="3657600"/>
          </a:xfrm>
          <a:prstGeom prst="ellipse">
            <a:avLst/>
          </a:prstGeom>
          <a:ln w="76200">
            <a:solidFill>
              <a:schemeClr val="accent3"/>
            </a:solidFill>
            <a:prstDash val="solid"/>
          </a:ln>
        </p:spPr>
      </p:sp>
      <p:pic>
        <p:nvPicPr>
          <p:cNvPr id="6" name="Image 0" descr="Check mark">    </p:cNvPr>
          <p:cNvPicPr>
            <a:picLocks noChangeAspect="1"/>
          </p:cNvPicPr>
          <p:nvPr/>
        </p:nvPicPr>
        <p:blipFill>
          <a:blip r:embed="rId1"/>
          <a:stretch>
            <a:fillRect/>
          </a:stretch>
        </p:blipFill>
        <p:spPr>
          <a:xfrm>
            <a:off x="9098280" y="2560320"/>
            <a:ext cx="1463040" cy="1463040"/>
          </a:xfrm>
          <a:prstGeom prst="rect">
            <a:avLst/>
          </a:prstGeom>
        </p:spPr>
      </p:pic>
      <p:sp>
        <p:nvSpPr>
          <p:cNvPr id="7" name="Icon circle FaRobot"/>
          <p:cNvSpPr/>
          <p:nvPr/>
        </p:nvSpPr>
        <p:spPr>
          <a:xfrm>
            <a:off x="7635240" y="1143000"/>
            <a:ext cx="914400" cy="914400"/>
          </a:xfrm>
          <a:prstGeom prst="ellipse">
            <a:avLst/>
          </a:prstGeom>
          <a:solidFill>
            <a:schemeClr val="accent1"/>
          </a:solidFill>
          <a:ln/>
        </p:spPr>
      </p:sp>
      <p:pic>
        <p:nvPicPr>
          <p:cNvPr id="8" name="Image 1" descr="Robot icon">    </p:cNvPr>
          <p:cNvPicPr>
            <a:picLocks noChangeAspect="1"/>
          </p:cNvPicPr>
          <p:nvPr/>
        </p:nvPicPr>
        <p:blipFill>
          <a:blip r:embed="rId2"/>
          <a:stretch>
            <a:fillRect/>
          </a:stretch>
        </p:blipFill>
        <p:spPr>
          <a:xfrm>
            <a:off x="7854696" y="1362456"/>
            <a:ext cx="475488" cy="475488"/>
          </a:xfrm>
          <a:prstGeom prst="rect">
            <a:avLst/>
          </a:prstGeom>
        </p:spPr>
      </p:pic>
      <p:sp>
        <p:nvSpPr>
          <p:cNvPr id="9" name="Icon circle FaUserCheck"/>
          <p:cNvSpPr/>
          <p:nvPr/>
        </p:nvSpPr>
        <p:spPr>
          <a:xfrm>
            <a:off x="10972800" y="2743200"/>
            <a:ext cx="914400" cy="914400"/>
          </a:xfrm>
          <a:prstGeom prst="ellipse">
            <a:avLst/>
          </a:prstGeom>
          <a:solidFill>
            <a:schemeClr val="accent2"/>
          </a:solidFill>
          <a:ln/>
        </p:spPr>
      </p:sp>
      <p:pic>
        <p:nvPicPr>
          <p:cNvPr id="10" name="Image 2" descr="UserCheck icon">    </p:cNvPr>
          <p:cNvPicPr>
            <a:picLocks noChangeAspect="1"/>
          </p:cNvPicPr>
          <p:nvPr/>
        </p:nvPicPr>
        <p:blipFill>
          <a:blip r:embed="rId3"/>
          <a:stretch>
            <a:fillRect/>
          </a:stretch>
        </p:blipFill>
        <p:spPr>
          <a:xfrm>
            <a:off x="11192256" y="2962656"/>
            <a:ext cx="475488" cy="475488"/>
          </a:xfrm>
          <a:prstGeom prst="rect">
            <a:avLst/>
          </a:prstGeom>
        </p:spPr>
      </p:pic>
      <p:sp>
        <p:nvSpPr>
          <p:cNvPr id="11" name="Icon circle FaCodeBranch"/>
          <p:cNvSpPr/>
          <p:nvPr/>
        </p:nvSpPr>
        <p:spPr>
          <a:xfrm>
            <a:off x="8595360" y="4800600"/>
            <a:ext cx="914400" cy="914400"/>
          </a:xfrm>
          <a:prstGeom prst="ellipse">
            <a:avLst/>
          </a:prstGeom>
          <a:solidFill>
            <a:schemeClr val="accent5"/>
          </a:solidFill>
          <a:ln/>
        </p:spPr>
      </p:sp>
      <p:pic>
        <p:nvPicPr>
          <p:cNvPr id="12" name="Image 3" descr="CodeBranch icon">    </p:cNvPr>
          <p:cNvPicPr>
            <a:picLocks noChangeAspect="1"/>
          </p:cNvPicPr>
          <p:nvPr/>
        </p:nvPicPr>
        <p:blipFill>
          <a:blip r:embed="rId4"/>
          <a:stretch>
            <a:fillRect/>
          </a:stretch>
        </p:blipFill>
        <p:spPr>
          <a:xfrm>
            <a:off x="8814816" y="5020056"/>
            <a:ext cx="475488" cy="475488"/>
          </a:xfrm>
          <a:prstGeom prst="rect">
            <a:avLst/>
          </a:prstGeom>
        </p:spPr>
      </p:pic>
      <p:sp>
        <p:nvSpPr>
          <p:cNvPr id="13" name="Text 7"/>
          <p:cNvSpPr txBox="1"/>
          <p:nvPr/>
        </p:nvSpPr>
        <p:spPr>
          <a:xfrm>
            <a:off x="548640" y="6035040"/>
            <a:ext cx="11064240" cy="365760"/>
          </a:xfrm>
          <a:prstGeom prst="rect">
            <a:avLst/>
          </a:prstGeom>
          <a:noFill/>
          <a:ln/>
        </p:spPr>
        <p:txBody>
          <a:bodyPr wrap="square" lIns="0" tIns="0" rIns="0" bIns="0" rtlCol="0" anchor="t"/>
          <a:lstStyle/>
          <a:p>
            <a:pPr algn="l" indent="0" marL="0">
              <a:buNone/>
            </a:pPr>
            <a:r>
              <a:rPr lang="en-US" sz="1400" dirty="0">
                <a:solidFill>
                  <a:schemeClr val="accent5"/>
                </a:solidFill>
              </a:rPr>
              <a:t>AI đề xuất  ·  Người duyệt  ·  Công cụ chạy test quyết định</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latin typeface="+mj-lt" pitchFamily="34" charset="0"/>
                <a:ea typeface="+mj-lt" pitchFamily="34" charset="-122"/>
                <a:cs typeface="+mj-lt" pitchFamily="34" charset="-120"/>
              </a:rPr>
              <a:t>AI viết test: 4 rủi ro, 4 cách kiểm soát</a:t>
            </a:r>
            <a:endParaRPr lang="en-US" sz="3600" dirty="0"/>
          </a:p>
        </p:txBody>
      </p:sp>
      <p:sp>
        <p:nvSpPr>
          <p:cNvPr id="3" name="Risk card 1"/>
          <p:cNvSpPr/>
          <p:nvPr/>
        </p:nvSpPr>
        <p:spPr>
          <a:xfrm>
            <a:off x="548640" y="1325880"/>
            <a:ext cx="5440680" cy="1920240"/>
          </a:xfrm>
          <a:prstGeom prst="roundRect">
            <a:avLst>
              <a:gd name="adj" fmla="val 5714"/>
            </a:avLst>
          </a:prstGeom>
          <a:solidFill>
            <a:schemeClr val="bg2"/>
          </a:solidFill>
          <a:ln/>
        </p:spPr>
      </p:sp>
      <p:sp>
        <p:nvSpPr>
          <p:cNvPr id="4" name="Icon circle FaTimesCircle"/>
          <p:cNvSpPr/>
          <p:nvPr/>
        </p:nvSpPr>
        <p:spPr>
          <a:xfrm>
            <a:off x="822960" y="1600200"/>
            <a:ext cx="731520" cy="731520"/>
          </a:xfrm>
          <a:prstGeom prst="ellipse">
            <a:avLst/>
          </a:prstGeom>
          <a:solidFill>
            <a:schemeClr val="accent4"/>
          </a:solidFill>
          <a:ln/>
        </p:spPr>
      </p:sp>
      <p:pic>
        <p:nvPicPr>
          <p:cNvPr id="5" name="Image 0" descr="TimesCircle icon">    </p:cNvPr>
          <p:cNvPicPr>
            <a:picLocks noChangeAspect="1"/>
          </p:cNvPicPr>
          <p:nvPr/>
        </p:nvPicPr>
        <p:blipFill>
          <a:blip r:embed="rId1"/>
          <a:stretch>
            <a:fillRect/>
          </a:stretch>
        </p:blipFill>
        <p:spPr>
          <a:xfrm>
            <a:off x="998525" y="1775765"/>
            <a:ext cx="380390" cy="380390"/>
          </a:xfrm>
          <a:prstGeom prst="rect">
            <a:avLst/>
          </a:prstGeom>
        </p:spPr>
      </p:pic>
      <p:sp>
        <p:nvSpPr>
          <p:cNvPr id="6" name="Text 3"/>
          <p:cNvSpPr txBox="1"/>
          <p:nvPr/>
        </p:nvSpPr>
        <p:spPr>
          <a:xfrm>
            <a:off x="1783080" y="1554480"/>
            <a:ext cx="3977640" cy="365760"/>
          </a:xfrm>
          <a:prstGeom prst="rect">
            <a:avLst/>
          </a:prstGeom>
          <a:noFill/>
          <a:ln/>
        </p:spPr>
        <p:txBody>
          <a:bodyPr wrap="square" lIns="0" tIns="0" rIns="0" bIns="0" rtlCol="0" anchor="t"/>
          <a:lstStyle/>
          <a:p>
            <a:pPr algn="l" indent="0" marL="0">
              <a:buNone/>
            </a:pPr>
            <a:r>
              <a:rPr lang="en-US" sz="2000" b="1" dirty="0">
                <a:solidFill>
                  <a:schemeClr val="tx1"/>
                </a:solidFill>
              </a:rPr>
              <a:t>Test “xanh giả”</a:t>
            </a:r>
            <a:endParaRPr lang="en-US" sz="2000" dirty="0"/>
          </a:p>
        </p:txBody>
      </p:sp>
      <p:sp>
        <p:nvSpPr>
          <p:cNvPr id="7" name="Text 4"/>
          <p:cNvSpPr txBox="1"/>
          <p:nvPr/>
        </p:nvSpPr>
        <p:spPr>
          <a:xfrm>
            <a:off x="1783080" y="1965960"/>
            <a:ext cx="3977640" cy="502920"/>
          </a:xfrm>
          <a:prstGeom prst="rect">
            <a:avLst/>
          </a:prstGeom>
          <a:noFill/>
          <a:ln/>
        </p:spPr>
        <p:txBody>
          <a:bodyPr wrap="square" lIns="0" tIns="0" rIns="0" bIns="0" rtlCol="0" anchor="t"/>
          <a:lstStyle/>
          <a:p>
            <a:pPr algn="l" indent="0" marL="0">
              <a:buNone/>
            </a:pPr>
            <a:r>
              <a:rPr lang="en-US" sz="1400" dirty="0">
                <a:solidFill>
                  <a:schemeClr val="tx2"/>
                </a:solidFill>
              </a:rPr>
              <a:t>AI sửa test cho qua thay vì báo lỗi</a:t>
            </a:r>
            <a:endParaRPr lang="en-US" sz="1400" dirty="0"/>
          </a:p>
        </p:txBody>
      </p:sp>
      <p:sp>
        <p:nvSpPr>
          <p:cNvPr id="8" name="Icon circle FaCheck"/>
          <p:cNvSpPr/>
          <p:nvPr/>
        </p:nvSpPr>
        <p:spPr>
          <a:xfrm>
            <a:off x="914400" y="2624328"/>
            <a:ext cx="365760" cy="365760"/>
          </a:xfrm>
          <a:prstGeom prst="ellipse">
            <a:avLst/>
          </a:prstGeom>
          <a:solidFill>
            <a:schemeClr val="accent3"/>
          </a:solidFill>
          <a:ln/>
        </p:spPr>
      </p:sp>
      <p:pic>
        <p:nvPicPr>
          <p:cNvPr id="9" name="Image 1" descr="Check icon">    </p:cNvPr>
          <p:cNvPicPr>
            <a:picLocks noChangeAspect="1"/>
          </p:cNvPicPr>
          <p:nvPr/>
        </p:nvPicPr>
        <p:blipFill>
          <a:blip r:embed="rId2"/>
          <a:stretch>
            <a:fillRect/>
          </a:stretch>
        </p:blipFill>
        <p:spPr>
          <a:xfrm>
            <a:off x="1002182" y="2712110"/>
            <a:ext cx="190195" cy="190195"/>
          </a:xfrm>
          <a:prstGeom prst="rect">
            <a:avLst/>
          </a:prstGeom>
        </p:spPr>
      </p:pic>
      <p:sp>
        <p:nvSpPr>
          <p:cNvPr id="10" name="Text 6"/>
          <p:cNvSpPr txBox="1"/>
          <p:nvPr/>
        </p:nvSpPr>
        <p:spPr>
          <a:xfrm>
            <a:off x="1783080" y="2606040"/>
            <a:ext cx="3977640" cy="502920"/>
          </a:xfrm>
          <a:prstGeom prst="rect">
            <a:avLst/>
          </a:prstGeom>
          <a:noFill/>
          <a:ln/>
        </p:spPr>
        <p:txBody>
          <a:bodyPr wrap="square" lIns="0" tIns="0" rIns="0" bIns="0" rtlCol="0" anchor="ctr"/>
          <a:lstStyle/>
          <a:p>
            <a:pPr algn="l" indent="0" marL="0">
              <a:buNone/>
            </a:pPr>
            <a:r>
              <a:rPr lang="en-US" sz="1400" b="1" dirty="0">
                <a:solidFill>
                  <a:schemeClr val="tx1"/>
                </a:solidFill>
              </a:rPr>
              <a:t>Công cụ chạy test quyết định pass/fail, không phải AI</a:t>
            </a:r>
            <a:endParaRPr lang="en-US" sz="1400" dirty="0"/>
          </a:p>
        </p:txBody>
      </p:sp>
      <p:sp>
        <p:nvSpPr>
          <p:cNvPr id="11" name="Risk card 2"/>
          <p:cNvSpPr/>
          <p:nvPr/>
        </p:nvSpPr>
        <p:spPr>
          <a:xfrm>
            <a:off x="6199632" y="1325880"/>
            <a:ext cx="5440680" cy="1920240"/>
          </a:xfrm>
          <a:prstGeom prst="roundRect">
            <a:avLst>
              <a:gd name="adj" fmla="val 5714"/>
            </a:avLst>
          </a:prstGeom>
          <a:solidFill>
            <a:schemeClr val="bg2"/>
          </a:solidFill>
          <a:ln/>
        </p:spPr>
      </p:sp>
      <p:sp>
        <p:nvSpPr>
          <p:cNvPr id="12" name="Icon circle FaQuestionCircle"/>
          <p:cNvSpPr/>
          <p:nvPr/>
        </p:nvSpPr>
        <p:spPr>
          <a:xfrm>
            <a:off x="6473952" y="1600200"/>
            <a:ext cx="731520" cy="731520"/>
          </a:xfrm>
          <a:prstGeom prst="ellipse">
            <a:avLst/>
          </a:prstGeom>
          <a:solidFill>
            <a:schemeClr val="accent4"/>
          </a:solidFill>
          <a:ln/>
        </p:spPr>
      </p:sp>
      <p:pic>
        <p:nvPicPr>
          <p:cNvPr id="13" name="Image 2" descr="QuestionCircle icon">    </p:cNvPr>
          <p:cNvPicPr>
            <a:picLocks noChangeAspect="1"/>
          </p:cNvPicPr>
          <p:nvPr/>
        </p:nvPicPr>
        <p:blipFill>
          <a:blip r:embed="rId3"/>
          <a:stretch>
            <a:fillRect/>
          </a:stretch>
        </p:blipFill>
        <p:spPr>
          <a:xfrm>
            <a:off x="6649517" y="1775765"/>
            <a:ext cx="380390" cy="380390"/>
          </a:xfrm>
          <a:prstGeom prst="rect">
            <a:avLst/>
          </a:prstGeom>
        </p:spPr>
      </p:pic>
      <p:sp>
        <p:nvSpPr>
          <p:cNvPr id="14" name="Text 9"/>
          <p:cNvSpPr txBox="1"/>
          <p:nvPr/>
        </p:nvSpPr>
        <p:spPr>
          <a:xfrm>
            <a:off x="7434072" y="1554480"/>
            <a:ext cx="3977640" cy="365760"/>
          </a:xfrm>
          <a:prstGeom prst="rect">
            <a:avLst/>
          </a:prstGeom>
          <a:noFill/>
          <a:ln/>
        </p:spPr>
        <p:txBody>
          <a:bodyPr wrap="square" lIns="0" tIns="0" rIns="0" bIns="0" rtlCol="0" anchor="t"/>
          <a:lstStyle/>
          <a:p>
            <a:pPr algn="l" indent="0" marL="0">
              <a:buNone/>
            </a:pPr>
            <a:r>
              <a:rPr lang="en-US" sz="2000" b="1" dirty="0">
                <a:solidFill>
                  <a:schemeClr val="tx1"/>
                </a:solidFill>
              </a:rPr>
              <a:t>AI tự đoán</a:t>
            </a:r>
            <a:endParaRPr lang="en-US" sz="2000" dirty="0"/>
          </a:p>
        </p:txBody>
      </p:sp>
      <p:sp>
        <p:nvSpPr>
          <p:cNvPr id="15" name="Text 10"/>
          <p:cNvSpPr txBox="1"/>
          <p:nvPr/>
        </p:nvSpPr>
        <p:spPr>
          <a:xfrm>
            <a:off x="7434072" y="1965960"/>
            <a:ext cx="3977640" cy="502920"/>
          </a:xfrm>
          <a:prstGeom prst="rect">
            <a:avLst/>
          </a:prstGeom>
          <a:noFill/>
          <a:ln/>
        </p:spPr>
        <p:txBody>
          <a:bodyPr wrap="square" lIns="0" tIns="0" rIns="0" bIns="0" rtlCol="0" anchor="t"/>
          <a:lstStyle/>
          <a:p>
            <a:pPr algn="l" indent="0" marL="0">
              <a:buNone/>
            </a:pPr>
            <a:r>
              <a:rPr lang="en-US" sz="1400" dirty="0">
                <a:solidFill>
                  <a:schemeClr val="tx2"/>
                </a:solidFill>
              </a:rPr>
              <a:t>Ticket mơ hồ nhưng AI vẫn viết test theo suy đoán</a:t>
            </a:r>
            <a:endParaRPr lang="en-US" sz="1400" dirty="0"/>
          </a:p>
        </p:txBody>
      </p:sp>
      <p:sp>
        <p:nvSpPr>
          <p:cNvPr id="16" name="Icon circle FaCheck"/>
          <p:cNvSpPr/>
          <p:nvPr/>
        </p:nvSpPr>
        <p:spPr>
          <a:xfrm>
            <a:off x="6565392" y="2624328"/>
            <a:ext cx="365760" cy="365760"/>
          </a:xfrm>
          <a:prstGeom prst="ellipse">
            <a:avLst/>
          </a:prstGeom>
          <a:solidFill>
            <a:schemeClr val="accent3"/>
          </a:solidFill>
          <a:ln/>
        </p:spPr>
      </p:sp>
      <p:pic>
        <p:nvPicPr>
          <p:cNvPr id="17" name="Image 3" descr="Check icon">    </p:cNvPr>
          <p:cNvPicPr>
            <a:picLocks noChangeAspect="1"/>
          </p:cNvPicPr>
          <p:nvPr/>
        </p:nvPicPr>
        <p:blipFill>
          <a:blip r:embed="rId4"/>
          <a:stretch>
            <a:fillRect/>
          </a:stretch>
        </p:blipFill>
        <p:spPr>
          <a:xfrm>
            <a:off x="6653174" y="2712110"/>
            <a:ext cx="190195" cy="190195"/>
          </a:xfrm>
          <a:prstGeom prst="rect">
            <a:avLst/>
          </a:prstGeom>
        </p:spPr>
      </p:pic>
      <p:sp>
        <p:nvSpPr>
          <p:cNvPr id="18" name="Text 12"/>
          <p:cNvSpPr txBox="1"/>
          <p:nvPr/>
        </p:nvSpPr>
        <p:spPr>
          <a:xfrm>
            <a:off x="7434072" y="2606040"/>
            <a:ext cx="3977640" cy="502920"/>
          </a:xfrm>
          <a:prstGeom prst="rect">
            <a:avLst/>
          </a:prstGeom>
          <a:noFill/>
          <a:ln/>
        </p:spPr>
        <p:txBody>
          <a:bodyPr wrap="square" lIns="0" tIns="0" rIns="0" bIns="0" rtlCol="0" anchor="ctr"/>
          <a:lstStyle/>
          <a:p>
            <a:pPr algn="l" indent="0" marL="0">
              <a:buNone/>
            </a:pPr>
            <a:r>
              <a:rPr lang="en-US" sz="1400" b="1" dirty="0">
                <a:solidFill>
                  <a:schemeClr val="tx1"/>
                </a:solidFill>
              </a:rPr>
              <a:t>Gặp chỗ mơ hồ thì dừng và hỏi người</a:t>
            </a:r>
            <a:endParaRPr lang="en-US" sz="1400" dirty="0"/>
          </a:p>
        </p:txBody>
      </p:sp>
      <p:sp>
        <p:nvSpPr>
          <p:cNvPr id="19" name="Risk card 3"/>
          <p:cNvSpPr/>
          <p:nvPr/>
        </p:nvSpPr>
        <p:spPr>
          <a:xfrm>
            <a:off x="548640" y="3429000"/>
            <a:ext cx="5440680" cy="1920240"/>
          </a:xfrm>
          <a:prstGeom prst="roundRect">
            <a:avLst>
              <a:gd name="adj" fmla="val 5714"/>
            </a:avLst>
          </a:prstGeom>
          <a:solidFill>
            <a:schemeClr val="bg2"/>
          </a:solidFill>
          <a:ln/>
        </p:spPr>
      </p:sp>
      <p:sp>
        <p:nvSpPr>
          <p:cNvPr id="20" name="Icon circle FaClock"/>
          <p:cNvSpPr/>
          <p:nvPr/>
        </p:nvSpPr>
        <p:spPr>
          <a:xfrm>
            <a:off x="822960" y="3703320"/>
            <a:ext cx="731520" cy="731520"/>
          </a:xfrm>
          <a:prstGeom prst="ellipse">
            <a:avLst/>
          </a:prstGeom>
          <a:solidFill>
            <a:schemeClr val="accent4"/>
          </a:solidFill>
          <a:ln/>
        </p:spPr>
      </p:sp>
      <p:pic>
        <p:nvPicPr>
          <p:cNvPr id="21" name="Image 4" descr="Clock icon">    </p:cNvPr>
          <p:cNvPicPr>
            <a:picLocks noChangeAspect="1"/>
          </p:cNvPicPr>
          <p:nvPr/>
        </p:nvPicPr>
        <p:blipFill>
          <a:blip r:embed="rId5"/>
          <a:stretch>
            <a:fillRect/>
          </a:stretch>
        </p:blipFill>
        <p:spPr>
          <a:xfrm>
            <a:off x="998525" y="3878885"/>
            <a:ext cx="380390" cy="380390"/>
          </a:xfrm>
          <a:prstGeom prst="rect">
            <a:avLst/>
          </a:prstGeom>
        </p:spPr>
      </p:pic>
      <p:sp>
        <p:nvSpPr>
          <p:cNvPr id="22" name="Text 15"/>
          <p:cNvSpPr txBox="1"/>
          <p:nvPr/>
        </p:nvSpPr>
        <p:spPr>
          <a:xfrm>
            <a:off x="1783080" y="3657600"/>
            <a:ext cx="3977640" cy="365760"/>
          </a:xfrm>
          <a:prstGeom prst="rect">
            <a:avLst/>
          </a:prstGeom>
          <a:noFill/>
          <a:ln/>
        </p:spPr>
        <p:txBody>
          <a:bodyPr wrap="square" lIns="0" tIns="0" rIns="0" bIns="0" rtlCol="0" anchor="t"/>
          <a:lstStyle/>
          <a:p>
            <a:pPr algn="l" indent="0" marL="0">
              <a:buNone/>
            </a:pPr>
            <a:r>
              <a:rPr lang="en-US" sz="2000" b="1" dirty="0">
                <a:solidFill>
                  <a:schemeClr val="tx1"/>
                </a:solidFill>
              </a:rPr>
              <a:t>Chạy không dừng</a:t>
            </a:r>
            <a:endParaRPr lang="en-US" sz="2000" dirty="0"/>
          </a:p>
        </p:txBody>
      </p:sp>
      <p:sp>
        <p:nvSpPr>
          <p:cNvPr id="23" name="Text 16"/>
          <p:cNvSpPr txBox="1"/>
          <p:nvPr/>
        </p:nvSpPr>
        <p:spPr>
          <a:xfrm>
            <a:off x="1783080" y="4069080"/>
            <a:ext cx="3977640" cy="502920"/>
          </a:xfrm>
          <a:prstGeom prst="rect">
            <a:avLst/>
          </a:prstGeom>
          <a:noFill/>
          <a:ln/>
        </p:spPr>
        <p:txBody>
          <a:bodyPr wrap="square" lIns="0" tIns="0" rIns="0" bIns="0" rtlCol="0" anchor="t"/>
          <a:lstStyle/>
          <a:p>
            <a:pPr algn="l" indent="0" marL="0">
              <a:buNone/>
            </a:pPr>
            <a:r>
              <a:rPr lang="en-US" sz="1400" dirty="0">
                <a:solidFill>
                  <a:schemeClr val="tx2"/>
                </a:solidFill>
              </a:rPr>
              <a:t>AI thử đi thử lại, tốn tiền và thời gian</a:t>
            </a:r>
            <a:endParaRPr lang="en-US" sz="1400" dirty="0"/>
          </a:p>
        </p:txBody>
      </p:sp>
      <p:sp>
        <p:nvSpPr>
          <p:cNvPr id="24" name="Icon circle FaCheck"/>
          <p:cNvSpPr/>
          <p:nvPr/>
        </p:nvSpPr>
        <p:spPr>
          <a:xfrm>
            <a:off x="914400" y="4727448"/>
            <a:ext cx="365760" cy="365760"/>
          </a:xfrm>
          <a:prstGeom prst="ellipse">
            <a:avLst/>
          </a:prstGeom>
          <a:solidFill>
            <a:schemeClr val="accent3"/>
          </a:solidFill>
          <a:ln/>
        </p:spPr>
      </p:sp>
      <p:pic>
        <p:nvPicPr>
          <p:cNvPr id="25" name="Image 5" descr="Check icon">    </p:cNvPr>
          <p:cNvPicPr>
            <a:picLocks noChangeAspect="1"/>
          </p:cNvPicPr>
          <p:nvPr/>
        </p:nvPicPr>
        <p:blipFill>
          <a:blip r:embed="rId6"/>
          <a:stretch>
            <a:fillRect/>
          </a:stretch>
        </p:blipFill>
        <p:spPr>
          <a:xfrm>
            <a:off x="1002182" y="4815230"/>
            <a:ext cx="190195" cy="190195"/>
          </a:xfrm>
          <a:prstGeom prst="rect">
            <a:avLst/>
          </a:prstGeom>
        </p:spPr>
      </p:pic>
      <p:sp>
        <p:nvSpPr>
          <p:cNvPr id="26" name="Text 18"/>
          <p:cNvSpPr txBox="1"/>
          <p:nvPr/>
        </p:nvSpPr>
        <p:spPr>
          <a:xfrm>
            <a:off x="1783080" y="4709160"/>
            <a:ext cx="3977640" cy="502920"/>
          </a:xfrm>
          <a:prstGeom prst="rect">
            <a:avLst/>
          </a:prstGeom>
          <a:noFill/>
          <a:ln/>
        </p:spPr>
        <p:txBody>
          <a:bodyPr wrap="square" lIns="0" tIns="0" rIns="0" bIns="0" rtlCol="0" anchor="ctr"/>
          <a:lstStyle/>
          <a:p>
            <a:pPr algn="l" indent="0" marL="0">
              <a:buNone/>
            </a:pPr>
            <a:r>
              <a:rPr lang="en-US" sz="1400" b="1" dirty="0">
                <a:solidFill>
                  <a:schemeClr val="tx1"/>
                </a:solidFill>
              </a:rPr>
              <a:t>Mỗi bước có trần chi phí, thời gian và số lần thử</a:t>
            </a:r>
            <a:endParaRPr lang="en-US" sz="1400" dirty="0"/>
          </a:p>
        </p:txBody>
      </p:sp>
      <p:sp>
        <p:nvSpPr>
          <p:cNvPr id="27" name="Risk card 4"/>
          <p:cNvSpPr/>
          <p:nvPr/>
        </p:nvSpPr>
        <p:spPr>
          <a:xfrm>
            <a:off x="6199632" y="3429000"/>
            <a:ext cx="5440680" cy="1920240"/>
          </a:xfrm>
          <a:prstGeom prst="roundRect">
            <a:avLst>
              <a:gd name="adj" fmla="val 5714"/>
            </a:avLst>
          </a:prstGeom>
          <a:solidFill>
            <a:schemeClr val="bg2"/>
          </a:solidFill>
          <a:ln/>
        </p:spPr>
      </p:sp>
      <p:sp>
        <p:nvSpPr>
          <p:cNvPr id="28" name="Icon circle FaSearch"/>
          <p:cNvSpPr/>
          <p:nvPr/>
        </p:nvSpPr>
        <p:spPr>
          <a:xfrm>
            <a:off x="6473952" y="3703320"/>
            <a:ext cx="731520" cy="731520"/>
          </a:xfrm>
          <a:prstGeom prst="ellipse">
            <a:avLst/>
          </a:prstGeom>
          <a:solidFill>
            <a:schemeClr val="accent4"/>
          </a:solidFill>
          <a:ln/>
        </p:spPr>
      </p:sp>
      <p:pic>
        <p:nvPicPr>
          <p:cNvPr id="29" name="Image 6" descr="Search icon">    </p:cNvPr>
          <p:cNvPicPr>
            <a:picLocks noChangeAspect="1"/>
          </p:cNvPicPr>
          <p:nvPr/>
        </p:nvPicPr>
        <p:blipFill>
          <a:blip r:embed="rId7"/>
          <a:stretch>
            <a:fillRect/>
          </a:stretch>
        </p:blipFill>
        <p:spPr>
          <a:xfrm>
            <a:off x="6649517" y="3878885"/>
            <a:ext cx="380390" cy="380390"/>
          </a:xfrm>
          <a:prstGeom prst="rect">
            <a:avLst/>
          </a:prstGeom>
        </p:spPr>
      </p:pic>
      <p:sp>
        <p:nvSpPr>
          <p:cNvPr id="30" name="Text 21"/>
          <p:cNvSpPr txBox="1"/>
          <p:nvPr/>
        </p:nvSpPr>
        <p:spPr>
          <a:xfrm>
            <a:off x="7434072" y="3657600"/>
            <a:ext cx="3977640" cy="365760"/>
          </a:xfrm>
          <a:prstGeom prst="rect">
            <a:avLst/>
          </a:prstGeom>
          <a:noFill/>
          <a:ln/>
        </p:spPr>
        <p:txBody>
          <a:bodyPr wrap="square" lIns="0" tIns="0" rIns="0" bIns="0" rtlCol="0" anchor="t"/>
          <a:lstStyle/>
          <a:p>
            <a:pPr algn="l" indent="0" marL="0">
              <a:buNone/>
            </a:pPr>
            <a:r>
              <a:rPr lang="en-US" sz="2000" b="1" dirty="0">
                <a:solidFill>
                  <a:schemeClr val="tx1"/>
                </a:solidFill>
              </a:rPr>
              <a:t>Không truy vết được</a:t>
            </a:r>
            <a:endParaRPr lang="en-US" sz="2000" dirty="0"/>
          </a:p>
        </p:txBody>
      </p:sp>
      <p:sp>
        <p:nvSpPr>
          <p:cNvPr id="31" name="Text 22"/>
          <p:cNvSpPr txBox="1"/>
          <p:nvPr/>
        </p:nvSpPr>
        <p:spPr>
          <a:xfrm>
            <a:off x="7434072" y="4069080"/>
            <a:ext cx="3977640" cy="502920"/>
          </a:xfrm>
          <a:prstGeom prst="rect">
            <a:avLst/>
          </a:prstGeom>
          <a:noFill/>
          <a:ln/>
        </p:spPr>
        <p:txBody>
          <a:bodyPr wrap="square" lIns="0" tIns="0" rIns="0" bIns="0" rtlCol="0" anchor="t"/>
          <a:lstStyle/>
          <a:p>
            <a:pPr algn="l" indent="0" marL="0">
              <a:buNone/>
            </a:pPr>
            <a:r>
              <a:rPr lang="en-US" sz="1400" dirty="0">
                <a:solidFill>
                  <a:schemeClr val="tx2"/>
                </a:solidFill>
              </a:rPr>
              <a:t>Không biết model nào làm, ai duyệt, tốn bao nhiêu</a:t>
            </a:r>
            <a:endParaRPr lang="en-US" sz="1400" dirty="0"/>
          </a:p>
        </p:txBody>
      </p:sp>
      <p:sp>
        <p:nvSpPr>
          <p:cNvPr id="32" name="Icon circle FaCheck"/>
          <p:cNvSpPr/>
          <p:nvPr/>
        </p:nvSpPr>
        <p:spPr>
          <a:xfrm>
            <a:off x="6565392" y="4727448"/>
            <a:ext cx="365760" cy="365760"/>
          </a:xfrm>
          <a:prstGeom prst="ellipse">
            <a:avLst/>
          </a:prstGeom>
          <a:solidFill>
            <a:schemeClr val="accent3"/>
          </a:solidFill>
          <a:ln/>
        </p:spPr>
      </p:sp>
      <p:pic>
        <p:nvPicPr>
          <p:cNvPr id="33" name="Image 7" descr="Check icon">    </p:cNvPr>
          <p:cNvPicPr>
            <a:picLocks noChangeAspect="1"/>
          </p:cNvPicPr>
          <p:nvPr/>
        </p:nvPicPr>
        <p:blipFill>
          <a:blip r:embed="rId8"/>
          <a:stretch>
            <a:fillRect/>
          </a:stretch>
        </p:blipFill>
        <p:spPr>
          <a:xfrm>
            <a:off x="6653174" y="4815230"/>
            <a:ext cx="190195" cy="190195"/>
          </a:xfrm>
          <a:prstGeom prst="rect">
            <a:avLst/>
          </a:prstGeom>
        </p:spPr>
      </p:pic>
      <p:sp>
        <p:nvSpPr>
          <p:cNvPr id="34" name="Text 24"/>
          <p:cNvSpPr txBox="1"/>
          <p:nvPr/>
        </p:nvSpPr>
        <p:spPr>
          <a:xfrm>
            <a:off x="7434072" y="4709160"/>
            <a:ext cx="3977640" cy="502920"/>
          </a:xfrm>
          <a:prstGeom prst="rect">
            <a:avLst/>
          </a:prstGeom>
          <a:noFill/>
          <a:ln/>
        </p:spPr>
        <p:txBody>
          <a:bodyPr wrap="square" lIns="0" tIns="0" rIns="0" bIns="0" rtlCol="0" anchor="ctr"/>
          <a:lstStyle/>
          <a:p>
            <a:pPr algn="l" indent="0" marL="0">
              <a:buNone/>
            </a:pPr>
            <a:r>
              <a:rPr lang="en-US" sz="1400" b="1" dirty="0">
                <a:solidFill>
                  <a:schemeClr val="tx1"/>
                </a:solidFill>
              </a:rPr>
              <a:t>Ghi lại model, chi phí và người duyệt cho từng bước</a:t>
            </a:r>
            <a:endParaRPr lang="en-US" sz="1400" dirty="0"/>
          </a:p>
        </p:txBody>
      </p:sp>
      <p:sp>
        <p:nvSpPr>
          <p:cNvPr id="35" name="SCRUM-9 callout"/>
          <p:cNvSpPr/>
          <p:nvPr/>
        </p:nvSpPr>
        <p:spPr>
          <a:xfrm>
            <a:off x="548640" y="5577840"/>
            <a:ext cx="11091672" cy="777240"/>
          </a:xfrm>
          <a:prstGeom prst="roundRect">
            <a:avLst>
              <a:gd name="adj" fmla="val 14118"/>
            </a:avLst>
          </a:prstGeom>
          <a:solidFill>
            <a:schemeClr val="tx1"/>
          </a:solidFill>
          <a:ln/>
        </p:spPr>
      </p:sp>
      <p:sp>
        <p:nvSpPr>
          <p:cNvPr id="36" name="Icon circle FaExclamationTriangle"/>
          <p:cNvSpPr/>
          <p:nvPr/>
        </p:nvSpPr>
        <p:spPr>
          <a:xfrm>
            <a:off x="777240" y="5742432"/>
            <a:ext cx="457200" cy="457200"/>
          </a:xfrm>
          <a:prstGeom prst="ellipse">
            <a:avLst/>
          </a:prstGeom>
          <a:solidFill>
            <a:schemeClr val="accent2"/>
          </a:solidFill>
          <a:ln/>
        </p:spPr>
      </p:sp>
      <p:pic>
        <p:nvPicPr>
          <p:cNvPr id="37" name="Image 8" descr="ExclamationTriangle icon">    </p:cNvPr>
          <p:cNvPicPr>
            <a:picLocks noChangeAspect="1"/>
          </p:cNvPicPr>
          <p:nvPr/>
        </p:nvPicPr>
        <p:blipFill>
          <a:blip r:embed="rId9"/>
          <a:stretch>
            <a:fillRect/>
          </a:stretch>
        </p:blipFill>
        <p:spPr>
          <a:xfrm>
            <a:off x="886968" y="5852160"/>
            <a:ext cx="237744" cy="237744"/>
          </a:xfrm>
          <a:prstGeom prst="rect">
            <a:avLst/>
          </a:prstGeom>
        </p:spPr>
      </p:pic>
      <p:sp>
        <p:nvSpPr>
          <p:cNvPr id="38" name="Text 27"/>
          <p:cNvSpPr txBox="1"/>
          <p:nvPr/>
        </p:nvSpPr>
        <p:spPr>
          <a:xfrm>
            <a:off x="1417320" y="5577840"/>
            <a:ext cx="9966960" cy="777240"/>
          </a:xfrm>
          <a:prstGeom prst="rect">
            <a:avLst/>
          </a:prstGeom>
          <a:noFill/>
          <a:ln/>
        </p:spPr>
        <p:txBody>
          <a:bodyPr wrap="square" lIns="0" tIns="0" rIns="0" bIns="0" rtlCol="0" anchor="ctr"/>
          <a:lstStyle/>
          <a:p>
            <a:pPr algn="l" indent="0" marL="0">
              <a:buNone/>
            </a:pPr>
            <a:r>
              <a:rPr lang="en-US" sz="1400" b="1" dirty="0">
                <a:solidFill>
                  <a:schemeClr val="bg1"/>
                </a:solidFill>
              </a:rPr>
              <a:t>Ví dụ thật (SCRUM-9): </a:t>
            </a:r>
            <a:pPr algn="l" indent="0" marL="0">
              <a:buNone/>
            </a:pPr>
            <a:r>
              <a:rPr lang="en-US" sz="1400" dirty="0">
                <a:solidFill>
                  <a:schemeClr val="bg1"/>
                </a:solidFill>
              </a:rPr>
              <a:t>pipeline từng báo “xanh” khi chưa có test nào được sinh ra. Đã sửa: chỉ xanh khi mọi rule có test và test pass.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latin typeface="+mj-lt" pitchFamily="34" charset="0"/>
                <a:ea typeface="+mj-lt" pitchFamily="34" charset="-122"/>
                <a:cs typeface="+mj-lt" pitchFamily="34" charset="-120"/>
              </a:rPr>
              <a:t>Quy trình 8 bước: AI đề xuất, người giữ cổng</a:t>
            </a:r>
            <a:endParaRPr lang="en-US" sz="3600" dirty="0"/>
          </a:p>
        </p:txBody>
      </p:sp>
      <p:sp>
        <p:nvSpPr>
          <p:cNvPr id="3" name="Legend dot AI"/>
          <p:cNvSpPr/>
          <p:nvPr/>
        </p:nvSpPr>
        <p:spPr>
          <a:xfrm>
            <a:off x="548640" y="1325880"/>
            <a:ext cx="201168" cy="201168"/>
          </a:xfrm>
          <a:prstGeom prst="ellipse">
            <a:avLst/>
          </a:prstGeom>
          <a:solidFill>
            <a:schemeClr val="accent1"/>
          </a:solidFill>
          <a:ln/>
        </p:spPr>
      </p:sp>
      <p:sp>
        <p:nvSpPr>
          <p:cNvPr id="4" name="Text 2"/>
          <p:cNvSpPr txBox="1"/>
          <p:nvPr/>
        </p:nvSpPr>
        <p:spPr>
          <a:xfrm>
            <a:off x="841248" y="1280160"/>
            <a:ext cx="1828800" cy="292608"/>
          </a:xfrm>
          <a:prstGeom prst="rect">
            <a:avLst/>
          </a:prstGeom>
          <a:noFill/>
          <a:ln/>
        </p:spPr>
        <p:txBody>
          <a:bodyPr wrap="square" lIns="0" tIns="0" rIns="0" bIns="0" rtlCol="0" anchor="ctr"/>
          <a:lstStyle/>
          <a:p>
            <a:pPr algn="l" indent="0" marL="0">
              <a:buNone/>
            </a:pPr>
            <a:r>
              <a:rPr lang="en-US" sz="1400" dirty="0">
                <a:solidFill>
                  <a:schemeClr val="tx1"/>
                </a:solidFill>
              </a:rPr>
              <a:t>AI</a:t>
            </a:r>
            <a:endParaRPr lang="en-US" sz="1400" dirty="0"/>
          </a:p>
        </p:txBody>
      </p:sp>
      <p:sp>
        <p:nvSpPr>
          <p:cNvPr id="5" name="Legend dot Người giữ cổng"/>
          <p:cNvSpPr/>
          <p:nvPr/>
        </p:nvSpPr>
        <p:spPr>
          <a:xfrm>
            <a:off x="1737360" y="1325880"/>
            <a:ext cx="201168" cy="201168"/>
          </a:xfrm>
          <a:prstGeom prst="ellipse">
            <a:avLst/>
          </a:prstGeom>
          <a:solidFill>
            <a:schemeClr val="accent2"/>
          </a:solidFill>
          <a:ln/>
        </p:spPr>
      </p:sp>
      <p:sp>
        <p:nvSpPr>
          <p:cNvPr id="6" name="Text 4"/>
          <p:cNvSpPr txBox="1"/>
          <p:nvPr/>
        </p:nvSpPr>
        <p:spPr>
          <a:xfrm>
            <a:off x="2029968" y="1280160"/>
            <a:ext cx="1828800" cy="292608"/>
          </a:xfrm>
          <a:prstGeom prst="rect">
            <a:avLst/>
          </a:prstGeom>
          <a:noFill/>
          <a:ln/>
        </p:spPr>
        <p:txBody>
          <a:bodyPr wrap="square" lIns="0" tIns="0" rIns="0" bIns="0" rtlCol="0" anchor="ctr"/>
          <a:lstStyle/>
          <a:p>
            <a:pPr algn="l" indent="0" marL="0">
              <a:buNone/>
            </a:pPr>
            <a:r>
              <a:rPr lang="en-US" sz="1400" dirty="0">
                <a:solidFill>
                  <a:schemeClr val="tx1"/>
                </a:solidFill>
              </a:rPr>
              <a:t>Người giữ cổng</a:t>
            </a:r>
            <a:endParaRPr lang="en-US" sz="1400" dirty="0"/>
          </a:p>
        </p:txBody>
      </p:sp>
      <p:sp>
        <p:nvSpPr>
          <p:cNvPr id="7" name="Legend dot Không có AI"/>
          <p:cNvSpPr/>
          <p:nvPr/>
        </p:nvSpPr>
        <p:spPr>
          <a:xfrm>
            <a:off x="3931920" y="1325880"/>
            <a:ext cx="201168" cy="201168"/>
          </a:xfrm>
          <a:prstGeom prst="ellipse">
            <a:avLst/>
          </a:prstGeom>
          <a:solidFill>
            <a:schemeClr val="accent3"/>
          </a:solidFill>
          <a:ln/>
        </p:spPr>
      </p:sp>
      <p:sp>
        <p:nvSpPr>
          <p:cNvPr id="8" name="Text 6"/>
          <p:cNvSpPr txBox="1"/>
          <p:nvPr/>
        </p:nvSpPr>
        <p:spPr>
          <a:xfrm>
            <a:off x="4224528" y="1280160"/>
            <a:ext cx="1828800" cy="292608"/>
          </a:xfrm>
          <a:prstGeom prst="rect">
            <a:avLst/>
          </a:prstGeom>
          <a:noFill/>
          <a:ln/>
        </p:spPr>
        <p:txBody>
          <a:bodyPr wrap="square" lIns="0" tIns="0" rIns="0" bIns="0" rtlCol="0" anchor="ctr"/>
          <a:lstStyle/>
          <a:p>
            <a:pPr algn="l" indent="0" marL="0">
              <a:buNone/>
            </a:pPr>
            <a:r>
              <a:rPr lang="en-US" sz="1400" dirty="0">
                <a:solidFill>
                  <a:schemeClr val="tx1"/>
                </a:solidFill>
              </a:rPr>
              <a:t>Không có AI</a:t>
            </a:r>
            <a:endParaRPr lang="en-US" sz="1400" dirty="0"/>
          </a:p>
        </p:txBody>
      </p:sp>
      <p:sp>
        <p:nvSpPr>
          <p:cNvPr id="9" name="Legend dashed"/>
          <p:cNvSpPr/>
          <p:nvPr/>
        </p:nvSpPr>
        <p:spPr>
          <a:xfrm>
            <a:off x="5943600" y="1325880"/>
            <a:ext cx="365760" cy="201168"/>
          </a:xfrm>
          <a:prstGeom prst="roundRect">
            <a:avLst>
              <a:gd name="adj" fmla="val 22727"/>
            </a:avLst>
          </a:prstGeom>
          <a:ln w="19050">
            <a:solidFill>
              <a:schemeClr val="accent5"/>
            </a:solidFill>
            <a:prstDash val="dash"/>
          </a:ln>
        </p:spPr>
      </p:sp>
      <p:sp>
        <p:nvSpPr>
          <p:cNvPr id="10" name="Text 8"/>
          <p:cNvSpPr txBox="1"/>
          <p:nvPr/>
        </p:nvSpPr>
        <p:spPr>
          <a:xfrm>
            <a:off x="6400800" y="1280160"/>
            <a:ext cx="2743200" cy="292608"/>
          </a:xfrm>
          <a:prstGeom prst="rect">
            <a:avLst/>
          </a:prstGeom>
          <a:noFill/>
          <a:ln/>
        </p:spPr>
        <p:txBody>
          <a:bodyPr wrap="square" lIns="0" tIns="0" rIns="0" bIns="0" rtlCol="0" anchor="ctr"/>
          <a:lstStyle/>
          <a:p>
            <a:pPr algn="l" indent="0" marL="0">
              <a:buNone/>
            </a:pPr>
            <a:r>
              <a:rPr lang="en-US" sz="1400" dirty="0">
                <a:solidFill>
                  <a:schemeClr val="tx1"/>
                </a:solidFill>
              </a:rPr>
              <a:t>Đã thiết kế, chưa xây</a:t>
            </a:r>
            <a:endParaRPr lang="en-US" sz="1400" dirty="0"/>
          </a:p>
        </p:txBody>
      </p:sp>
      <p:sp>
        <p:nvSpPr>
          <p:cNvPr id="11" name="Flow thread"/>
          <p:cNvSpPr/>
          <p:nvPr/>
        </p:nvSpPr>
        <p:spPr>
          <a:xfrm>
            <a:off x="1005840" y="2377440"/>
            <a:ext cx="9793224" cy="0"/>
          </a:xfrm>
          <a:prstGeom prst="line">
            <a:avLst/>
          </a:prstGeom>
          <a:noFill/>
          <a:ln w="19050">
            <a:solidFill>
              <a:schemeClr val="accent5"/>
            </a:solidFill>
            <a:prstDash val="solid"/>
          </a:ln>
        </p:spPr>
      </p:sp>
      <p:sp>
        <p:nvSpPr>
          <p:cNvPr id="12" name="Step 1"/>
          <p:cNvSpPr/>
          <p:nvPr/>
        </p:nvSpPr>
        <p:spPr>
          <a:xfrm>
            <a:off x="548640" y="1783080"/>
            <a:ext cx="1261872" cy="3246120"/>
          </a:xfrm>
          <a:prstGeom prst="roundRect">
            <a:avLst>
              <a:gd name="adj" fmla="val 8696"/>
            </a:avLst>
          </a:prstGeom>
          <a:solidFill>
            <a:schemeClr val="bg2"/>
          </a:solidFill>
          <a:ln/>
        </p:spPr>
      </p:sp>
      <p:sp>
        <p:nvSpPr>
          <p:cNvPr id="13" name="Icon circle FaTicketAlt"/>
          <p:cNvSpPr/>
          <p:nvPr/>
        </p:nvSpPr>
        <p:spPr>
          <a:xfrm>
            <a:off x="685800" y="2057400"/>
            <a:ext cx="640080" cy="640080"/>
          </a:xfrm>
          <a:prstGeom prst="ellipse">
            <a:avLst/>
          </a:prstGeom>
          <a:solidFill>
            <a:schemeClr val="accent2"/>
          </a:solidFill>
          <a:ln/>
        </p:spPr>
      </p:sp>
      <p:pic>
        <p:nvPicPr>
          <p:cNvPr id="14" name="Image 0" descr="TicketAlt icon">    </p:cNvPr>
          <p:cNvPicPr>
            <a:picLocks noChangeAspect="1"/>
          </p:cNvPicPr>
          <p:nvPr/>
        </p:nvPicPr>
        <p:blipFill>
          <a:blip r:embed="rId1"/>
          <a:stretch>
            <a:fillRect/>
          </a:stretch>
        </p:blipFill>
        <p:spPr>
          <a:xfrm>
            <a:off x="839419" y="2211019"/>
            <a:ext cx="332842" cy="332842"/>
          </a:xfrm>
          <a:prstGeom prst="rect">
            <a:avLst/>
          </a:prstGeom>
        </p:spPr>
      </p:pic>
      <p:sp>
        <p:nvSpPr>
          <p:cNvPr id="15" name="Text 12"/>
          <p:cNvSpPr txBox="1"/>
          <p:nvPr/>
        </p:nvSpPr>
        <p:spPr>
          <a:xfrm>
            <a:off x="1417320" y="1892808"/>
            <a:ext cx="320040" cy="274320"/>
          </a:xfrm>
          <a:prstGeom prst="rect">
            <a:avLst/>
          </a:prstGeom>
          <a:noFill/>
          <a:ln/>
        </p:spPr>
        <p:txBody>
          <a:bodyPr wrap="square" lIns="0" tIns="0" rIns="0" bIns="0" rtlCol="0" anchor="t"/>
          <a:lstStyle/>
          <a:p>
            <a:pPr algn="r" indent="0" marL="0">
              <a:buNone/>
            </a:pPr>
            <a:r>
              <a:rPr lang="en-US" sz="1200" b="1" dirty="0">
                <a:solidFill>
                  <a:schemeClr val="tx2"/>
                </a:solidFill>
              </a:rPr>
              <a:t>1</a:t>
            </a:r>
            <a:endParaRPr lang="en-US" sz="1200" dirty="0"/>
          </a:p>
        </p:txBody>
      </p:sp>
      <p:sp>
        <p:nvSpPr>
          <p:cNvPr id="16" name="Text 13"/>
          <p:cNvSpPr txBox="1"/>
          <p:nvPr/>
        </p:nvSpPr>
        <p:spPr>
          <a:xfrm>
            <a:off x="685800" y="2788920"/>
            <a:ext cx="1033272" cy="777240"/>
          </a:xfrm>
          <a:prstGeom prst="rect">
            <a:avLst/>
          </a:prstGeom>
          <a:noFill/>
          <a:ln/>
        </p:spPr>
        <p:txBody>
          <a:bodyPr wrap="square" lIns="0" tIns="0" rIns="0" bIns="0" rtlCol="0" anchor="t"/>
          <a:lstStyle/>
          <a:p>
            <a:pPr algn="l" indent="0" marL="0">
              <a:buNone/>
            </a:pPr>
            <a:r>
              <a:rPr lang="en-US" sz="1400" b="1" dirty="0">
                <a:solidFill>
                  <a:schemeClr val="tx1"/>
                </a:solidFill>
              </a:rPr>
              <a:t>Nhận ticket</a:t>
            </a:r>
            <a:endParaRPr lang="en-US" sz="1400" dirty="0"/>
          </a:p>
        </p:txBody>
      </p:sp>
      <p:sp>
        <p:nvSpPr>
          <p:cNvPr id="17" name="Pill NGƯỜI"/>
          <p:cNvSpPr/>
          <p:nvPr/>
        </p:nvSpPr>
        <p:spPr>
          <a:xfrm>
            <a:off x="685800" y="3611880"/>
            <a:ext cx="987552" cy="256032"/>
          </a:xfrm>
          <a:prstGeom prst="roundRect">
            <a:avLst>
              <a:gd name="adj" fmla="val 50000"/>
            </a:avLst>
          </a:prstGeom>
          <a:solidFill>
            <a:schemeClr val="accent2"/>
          </a:solidFill>
          <a:ln/>
        </p:spPr>
      </p:sp>
      <p:sp>
        <p:nvSpPr>
          <p:cNvPr id="18" name="Text 15"/>
          <p:cNvSpPr txBox="1"/>
          <p:nvPr/>
        </p:nvSpPr>
        <p:spPr>
          <a:xfrm>
            <a:off x="685800" y="3611880"/>
            <a:ext cx="987552" cy="256032"/>
          </a:xfrm>
          <a:prstGeom prst="rect">
            <a:avLst/>
          </a:prstGeom>
          <a:noFill/>
          <a:ln/>
        </p:spPr>
        <p:txBody>
          <a:bodyPr wrap="square" lIns="0" tIns="0" rIns="0" bIns="0" rtlCol="0" anchor="ctr"/>
          <a:lstStyle/>
          <a:p>
            <a:pPr algn="ctr" indent="0" marL="0">
              <a:buNone/>
            </a:pPr>
            <a:r>
              <a:rPr lang="en-US" sz="1000" b="1" dirty="0">
                <a:solidFill>
                  <a:srgbClr val="14161F"/>
                </a:solidFill>
              </a:rPr>
              <a:t>NGƯỜI</a:t>
            </a:r>
            <a:endParaRPr lang="en-US" sz="1000" dirty="0"/>
          </a:p>
        </p:txBody>
      </p:sp>
      <p:sp>
        <p:nvSpPr>
          <p:cNvPr id="19" name="Text 16"/>
          <p:cNvSpPr txBox="1"/>
          <p:nvPr/>
        </p:nvSpPr>
        <p:spPr>
          <a:xfrm>
            <a:off x="685800" y="3977640"/>
            <a:ext cx="1033272" cy="777240"/>
          </a:xfrm>
          <a:prstGeom prst="rect">
            <a:avLst/>
          </a:prstGeom>
          <a:noFill/>
          <a:ln/>
        </p:spPr>
        <p:txBody>
          <a:bodyPr wrap="square" lIns="0" tIns="0" rIns="0" bIns="0" rtlCol="0" anchor="t"/>
          <a:lstStyle/>
          <a:p>
            <a:pPr algn="l" indent="0" marL="0">
              <a:buNone/>
            </a:pPr>
            <a:r>
              <a:rPr lang="en-US" sz="1200" dirty="0">
                <a:solidFill>
                  <a:schemeClr val="tx2"/>
                </a:solidFill>
              </a:rPr>
              <a:t>Yêu cầu viết trong Jira</a:t>
            </a:r>
            <a:endParaRPr lang="en-US" sz="1200" dirty="0"/>
          </a:p>
        </p:txBody>
      </p:sp>
      <p:sp>
        <p:nvSpPr>
          <p:cNvPr id="20" name="Text 17"/>
          <p:cNvSpPr txBox="1"/>
          <p:nvPr/>
        </p:nvSpPr>
        <p:spPr>
          <a:xfrm>
            <a:off x="685800" y="4709160"/>
            <a:ext cx="1033272" cy="228600"/>
          </a:xfrm>
          <a:prstGeom prst="rect">
            <a:avLst/>
          </a:prstGeom>
          <a:noFill/>
          <a:ln/>
        </p:spPr>
        <p:txBody>
          <a:bodyPr wrap="square" lIns="0" tIns="0" rIns="0" bIns="0" rtlCol="0" anchor="t"/>
          <a:lstStyle/>
          <a:p>
            <a:pPr algn="l" indent="0" marL="0">
              <a:buNone/>
            </a:pPr>
            <a:r>
              <a:rPr lang="en-US" sz="1100" b="1" dirty="0">
                <a:solidFill>
                  <a:schemeClr val="tx2"/>
                </a:solidFill>
              </a:rPr>
              <a:t>Đã làm</a:t>
            </a:r>
            <a:endParaRPr lang="en-US" sz="1100" dirty="0"/>
          </a:p>
        </p:txBody>
      </p:sp>
      <p:sp>
        <p:nvSpPr>
          <p:cNvPr id="21" name="Step 2"/>
          <p:cNvSpPr/>
          <p:nvPr/>
        </p:nvSpPr>
        <p:spPr>
          <a:xfrm>
            <a:off x="1947672" y="1783080"/>
            <a:ext cx="1261872" cy="3246120"/>
          </a:xfrm>
          <a:prstGeom prst="roundRect">
            <a:avLst>
              <a:gd name="adj" fmla="val 8696"/>
            </a:avLst>
          </a:prstGeom>
          <a:solidFill>
            <a:schemeClr val="bg2"/>
          </a:solidFill>
          <a:ln/>
        </p:spPr>
      </p:sp>
      <p:sp>
        <p:nvSpPr>
          <p:cNvPr id="22" name="Icon circle FaSearch"/>
          <p:cNvSpPr/>
          <p:nvPr/>
        </p:nvSpPr>
        <p:spPr>
          <a:xfrm>
            <a:off x="2084832" y="2057400"/>
            <a:ext cx="640080" cy="640080"/>
          </a:xfrm>
          <a:prstGeom prst="ellipse">
            <a:avLst/>
          </a:prstGeom>
          <a:solidFill>
            <a:schemeClr val="accent1"/>
          </a:solidFill>
          <a:ln/>
        </p:spPr>
      </p:sp>
      <p:pic>
        <p:nvPicPr>
          <p:cNvPr id="23" name="Image 1" descr="Search icon">    </p:cNvPr>
          <p:cNvPicPr>
            <a:picLocks noChangeAspect="1"/>
          </p:cNvPicPr>
          <p:nvPr/>
        </p:nvPicPr>
        <p:blipFill>
          <a:blip r:embed="rId2"/>
          <a:stretch>
            <a:fillRect/>
          </a:stretch>
        </p:blipFill>
        <p:spPr>
          <a:xfrm>
            <a:off x="2238451" y="2211019"/>
            <a:ext cx="332842" cy="332842"/>
          </a:xfrm>
          <a:prstGeom prst="rect">
            <a:avLst/>
          </a:prstGeom>
        </p:spPr>
      </p:pic>
      <p:sp>
        <p:nvSpPr>
          <p:cNvPr id="24" name="Text 20"/>
          <p:cNvSpPr txBox="1"/>
          <p:nvPr/>
        </p:nvSpPr>
        <p:spPr>
          <a:xfrm>
            <a:off x="2816352" y="1892808"/>
            <a:ext cx="320040" cy="274320"/>
          </a:xfrm>
          <a:prstGeom prst="rect">
            <a:avLst/>
          </a:prstGeom>
          <a:noFill/>
          <a:ln/>
        </p:spPr>
        <p:txBody>
          <a:bodyPr wrap="square" lIns="0" tIns="0" rIns="0" bIns="0" rtlCol="0" anchor="t"/>
          <a:lstStyle/>
          <a:p>
            <a:pPr algn="r" indent="0" marL="0">
              <a:buNone/>
            </a:pPr>
            <a:r>
              <a:rPr lang="en-US" sz="1200" b="1" dirty="0">
                <a:solidFill>
                  <a:schemeClr val="tx2"/>
                </a:solidFill>
              </a:rPr>
              <a:t>2</a:t>
            </a:r>
            <a:endParaRPr lang="en-US" sz="1200" dirty="0"/>
          </a:p>
        </p:txBody>
      </p:sp>
      <p:sp>
        <p:nvSpPr>
          <p:cNvPr id="25" name="Text 21"/>
          <p:cNvSpPr txBox="1"/>
          <p:nvPr/>
        </p:nvSpPr>
        <p:spPr>
          <a:xfrm>
            <a:off x="2084832" y="2788920"/>
            <a:ext cx="1033272" cy="777240"/>
          </a:xfrm>
          <a:prstGeom prst="rect">
            <a:avLst/>
          </a:prstGeom>
          <a:noFill/>
          <a:ln/>
        </p:spPr>
        <p:txBody>
          <a:bodyPr wrap="square" lIns="0" tIns="0" rIns="0" bIns="0" rtlCol="0" anchor="t"/>
          <a:lstStyle/>
          <a:p>
            <a:pPr algn="l" indent="0" marL="0">
              <a:buNone/>
            </a:pPr>
            <a:r>
              <a:rPr lang="en-US" sz="1400" b="1" dirty="0">
                <a:solidFill>
                  <a:schemeClr val="tx1"/>
                </a:solidFill>
              </a:rPr>
              <a:t>Làm rõ yêu cầu</a:t>
            </a:r>
            <a:endParaRPr lang="en-US" sz="1400" dirty="0"/>
          </a:p>
        </p:txBody>
      </p:sp>
      <p:sp>
        <p:nvSpPr>
          <p:cNvPr id="26" name="Pill AI"/>
          <p:cNvSpPr/>
          <p:nvPr/>
        </p:nvSpPr>
        <p:spPr>
          <a:xfrm>
            <a:off x="2084832" y="3611880"/>
            <a:ext cx="987552" cy="256032"/>
          </a:xfrm>
          <a:prstGeom prst="roundRect">
            <a:avLst>
              <a:gd name="adj" fmla="val 50000"/>
            </a:avLst>
          </a:prstGeom>
          <a:solidFill>
            <a:schemeClr val="accent1"/>
          </a:solidFill>
          <a:ln/>
        </p:spPr>
      </p:sp>
      <p:sp>
        <p:nvSpPr>
          <p:cNvPr id="27" name="Text 23"/>
          <p:cNvSpPr txBox="1"/>
          <p:nvPr/>
        </p:nvSpPr>
        <p:spPr>
          <a:xfrm>
            <a:off x="2084832" y="3611880"/>
            <a:ext cx="987552" cy="256032"/>
          </a:xfrm>
          <a:prstGeom prst="rect">
            <a:avLst/>
          </a:prstGeom>
          <a:noFill/>
          <a:ln/>
        </p:spPr>
        <p:txBody>
          <a:bodyPr wrap="square" lIns="0" tIns="0" rIns="0" bIns="0" rtlCol="0" anchor="ctr"/>
          <a:lstStyle/>
          <a:p>
            <a:pPr algn="ctr" indent="0" marL="0">
              <a:buNone/>
            </a:pPr>
            <a:r>
              <a:rPr lang="en-US" sz="1000" b="1" dirty="0">
                <a:solidFill>
                  <a:srgbClr val="FFFFFF"/>
                </a:solidFill>
              </a:rPr>
              <a:t>AI</a:t>
            </a:r>
            <a:endParaRPr lang="en-US" sz="1000" dirty="0"/>
          </a:p>
        </p:txBody>
      </p:sp>
      <p:sp>
        <p:nvSpPr>
          <p:cNvPr id="28" name="Text 24"/>
          <p:cNvSpPr txBox="1"/>
          <p:nvPr/>
        </p:nvSpPr>
        <p:spPr>
          <a:xfrm>
            <a:off x="2084832" y="3977640"/>
            <a:ext cx="1033272" cy="777240"/>
          </a:xfrm>
          <a:prstGeom prst="rect">
            <a:avLst/>
          </a:prstGeom>
          <a:noFill/>
          <a:ln/>
        </p:spPr>
        <p:txBody>
          <a:bodyPr wrap="square" lIns="0" tIns="0" rIns="0" bIns="0" rtlCol="0" anchor="t"/>
          <a:lstStyle/>
          <a:p>
            <a:pPr algn="l" indent="0" marL="0">
              <a:buNone/>
            </a:pPr>
            <a:r>
              <a:rPr lang="en-US" sz="1200" dirty="0">
                <a:solidFill>
                  <a:schemeClr val="tx2"/>
                </a:solidFill>
              </a:rPr>
              <a:t>Mơ hồ thì dừng, người trả lời</a:t>
            </a:r>
            <a:endParaRPr lang="en-US" sz="1200" dirty="0"/>
          </a:p>
        </p:txBody>
      </p:sp>
      <p:sp>
        <p:nvSpPr>
          <p:cNvPr id="29" name="Text 25"/>
          <p:cNvSpPr txBox="1"/>
          <p:nvPr/>
        </p:nvSpPr>
        <p:spPr>
          <a:xfrm>
            <a:off x="2084832" y="4709160"/>
            <a:ext cx="1033272" cy="228600"/>
          </a:xfrm>
          <a:prstGeom prst="rect">
            <a:avLst/>
          </a:prstGeom>
          <a:noFill/>
          <a:ln/>
        </p:spPr>
        <p:txBody>
          <a:bodyPr wrap="square" lIns="0" tIns="0" rIns="0" bIns="0" rtlCol="0" anchor="t"/>
          <a:lstStyle/>
          <a:p>
            <a:pPr algn="l" indent="0" marL="0">
              <a:buNone/>
            </a:pPr>
            <a:r>
              <a:rPr lang="en-US" sz="1100" b="1" dirty="0">
                <a:solidFill>
                  <a:schemeClr val="tx2"/>
                </a:solidFill>
              </a:rPr>
              <a:t>Đã làm</a:t>
            </a:r>
            <a:endParaRPr lang="en-US" sz="1100" dirty="0"/>
          </a:p>
        </p:txBody>
      </p:sp>
      <p:sp>
        <p:nvSpPr>
          <p:cNvPr id="30" name="Step 3"/>
          <p:cNvSpPr/>
          <p:nvPr/>
        </p:nvSpPr>
        <p:spPr>
          <a:xfrm>
            <a:off x="3346704" y="1783080"/>
            <a:ext cx="1261872" cy="3246120"/>
          </a:xfrm>
          <a:prstGeom prst="roundRect">
            <a:avLst>
              <a:gd name="adj" fmla="val 8696"/>
            </a:avLst>
          </a:prstGeom>
          <a:solidFill>
            <a:schemeClr val="bg2"/>
          </a:solidFill>
          <a:ln/>
        </p:spPr>
      </p:sp>
      <p:sp>
        <p:nvSpPr>
          <p:cNvPr id="31" name="Icon circle FaClipboardList"/>
          <p:cNvSpPr/>
          <p:nvPr/>
        </p:nvSpPr>
        <p:spPr>
          <a:xfrm>
            <a:off x="3483864" y="2057400"/>
            <a:ext cx="640080" cy="640080"/>
          </a:xfrm>
          <a:prstGeom prst="ellipse">
            <a:avLst/>
          </a:prstGeom>
          <a:solidFill>
            <a:schemeClr val="accent1"/>
          </a:solidFill>
          <a:ln/>
        </p:spPr>
      </p:sp>
      <p:pic>
        <p:nvPicPr>
          <p:cNvPr id="32" name="Image 2" descr="ClipboardList icon">    </p:cNvPr>
          <p:cNvPicPr>
            <a:picLocks noChangeAspect="1"/>
          </p:cNvPicPr>
          <p:nvPr/>
        </p:nvPicPr>
        <p:blipFill>
          <a:blip r:embed="rId3"/>
          <a:stretch>
            <a:fillRect/>
          </a:stretch>
        </p:blipFill>
        <p:spPr>
          <a:xfrm>
            <a:off x="3637483" y="2211019"/>
            <a:ext cx="332842" cy="332842"/>
          </a:xfrm>
          <a:prstGeom prst="rect">
            <a:avLst/>
          </a:prstGeom>
        </p:spPr>
      </p:pic>
      <p:sp>
        <p:nvSpPr>
          <p:cNvPr id="33" name="Text 28"/>
          <p:cNvSpPr txBox="1"/>
          <p:nvPr/>
        </p:nvSpPr>
        <p:spPr>
          <a:xfrm>
            <a:off x="4215384" y="1892808"/>
            <a:ext cx="320040" cy="274320"/>
          </a:xfrm>
          <a:prstGeom prst="rect">
            <a:avLst/>
          </a:prstGeom>
          <a:noFill/>
          <a:ln/>
        </p:spPr>
        <p:txBody>
          <a:bodyPr wrap="square" lIns="0" tIns="0" rIns="0" bIns="0" rtlCol="0" anchor="t"/>
          <a:lstStyle/>
          <a:p>
            <a:pPr algn="r" indent="0" marL="0">
              <a:buNone/>
            </a:pPr>
            <a:r>
              <a:rPr lang="en-US" sz="1200" b="1" dirty="0">
                <a:solidFill>
                  <a:schemeClr val="tx2"/>
                </a:solidFill>
              </a:rPr>
              <a:t>3</a:t>
            </a:r>
            <a:endParaRPr lang="en-US" sz="1200" dirty="0"/>
          </a:p>
        </p:txBody>
      </p:sp>
      <p:sp>
        <p:nvSpPr>
          <p:cNvPr id="34" name="Text 29"/>
          <p:cNvSpPr txBox="1"/>
          <p:nvPr/>
        </p:nvSpPr>
        <p:spPr>
          <a:xfrm>
            <a:off x="3483864" y="2788920"/>
            <a:ext cx="1033272" cy="777240"/>
          </a:xfrm>
          <a:prstGeom prst="rect">
            <a:avLst/>
          </a:prstGeom>
          <a:noFill/>
          <a:ln/>
        </p:spPr>
        <p:txBody>
          <a:bodyPr wrap="square" lIns="0" tIns="0" rIns="0" bIns="0" rtlCol="0" anchor="t"/>
          <a:lstStyle/>
          <a:p>
            <a:pPr algn="l" indent="0" marL="0">
              <a:buNone/>
            </a:pPr>
            <a:r>
              <a:rPr lang="en-US" sz="1400" b="1" dirty="0">
                <a:solidFill>
                  <a:schemeClr val="tx1"/>
                </a:solidFill>
              </a:rPr>
              <a:t>Thiết kế test case</a:t>
            </a:r>
            <a:endParaRPr lang="en-US" sz="1400" dirty="0"/>
          </a:p>
        </p:txBody>
      </p:sp>
      <p:sp>
        <p:nvSpPr>
          <p:cNvPr id="35" name="Pill AI"/>
          <p:cNvSpPr/>
          <p:nvPr/>
        </p:nvSpPr>
        <p:spPr>
          <a:xfrm>
            <a:off x="3483864" y="3611880"/>
            <a:ext cx="987552" cy="256032"/>
          </a:xfrm>
          <a:prstGeom prst="roundRect">
            <a:avLst>
              <a:gd name="adj" fmla="val 50000"/>
            </a:avLst>
          </a:prstGeom>
          <a:solidFill>
            <a:schemeClr val="accent1"/>
          </a:solidFill>
          <a:ln/>
        </p:spPr>
      </p:sp>
      <p:sp>
        <p:nvSpPr>
          <p:cNvPr id="36" name="Text 31"/>
          <p:cNvSpPr txBox="1"/>
          <p:nvPr/>
        </p:nvSpPr>
        <p:spPr>
          <a:xfrm>
            <a:off x="3483864" y="3611880"/>
            <a:ext cx="987552" cy="256032"/>
          </a:xfrm>
          <a:prstGeom prst="rect">
            <a:avLst/>
          </a:prstGeom>
          <a:noFill/>
          <a:ln/>
        </p:spPr>
        <p:txBody>
          <a:bodyPr wrap="square" lIns="0" tIns="0" rIns="0" bIns="0" rtlCol="0" anchor="ctr"/>
          <a:lstStyle/>
          <a:p>
            <a:pPr algn="ctr" indent="0" marL="0">
              <a:buNone/>
            </a:pPr>
            <a:r>
              <a:rPr lang="en-US" sz="1000" b="1" dirty="0">
                <a:solidFill>
                  <a:srgbClr val="FFFFFF"/>
                </a:solidFill>
              </a:rPr>
              <a:t>AI</a:t>
            </a:r>
            <a:endParaRPr lang="en-US" sz="1000" dirty="0"/>
          </a:p>
        </p:txBody>
      </p:sp>
      <p:sp>
        <p:nvSpPr>
          <p:cNvPr id="37" name="Text 32"/>
          <p:cNvSpPr txBox="1"/>
          <p:nvPr/>
        </p:nvSpPr>
        <p:spPr>
          <a:xfrm>
            <a:off x="3483864" y="3977640"/>
            <a:ext cx="1033272" cy="777240"/>
          </a:xfrm>
          <a:prstGeom prst="rect">
            <a:avLst/>
          </a:prstGeom>
          <a:noFill/>
          <a:ln/>
        </p:spPr>
        <p:txBody>
          <a:bodyPr wrap="square" lIns="0" tIns="0" rIns="0" bIns="0" rtlCol="0" anchor="t"/>
          <a:lstStyle/>
          <a:p>
            <a:pPr algn="l" indent="0" marL="0">
              <a:buNone/>
            </a:pPr>
            <a:r>
              <a:rPr lang="en-US" sz="1200" dirty="0">
                <a:solidFill>
                  <a:schemeClr val="tx2"/>
                </a:solidFill>
              </a:rPr>
              <a:t>Người duyệt rule + case</a:t>
            </a:r>
            <a:endParaRPr lang="en-US" sz="1200" dirty="0"/>
          </a:p>
        </p:txBody>
      </p:sp>
      <p:sp>
        <p:nvSpPr>
          <p:cNvPr id="38" name="Text 33"/>
          <p:cNvSpPr txBox="1"/>
          <p:nvPr/>
        </p:nvSpPr>
        <p:spPr>
          <a:xfrm>
            <a:off x="3483864" y="4709160"/>
            <a:ext cx="1033272" cy="228600"/>
          </a:xfrm>
          <a:prstGeom prst="rect">
            <a:avLst/>
          </a:prstGeom>
          <a:noFill/>
          <a:ln/>
        </p:spPr>
        <p:txBody>
          <a:bodyPr wrap="square" lIns="0" tIns="0" rIns="0" bIns="0" rtlCol="0" anchor="t"/>
          <a:lstStyle/>
          <a:p>
            <a:pPr algn="l" indent="0" marL="0">
              <a:buNone/>
            </a:pPr>
            <a:r>
              <a:rPr lang="en-US" sz="1100" b="1" dirty="0">
                <a:solidFill>
                  <a:schemeClr val="tx2"/>
                </a:solidFill>
              </a:rPr>
              <a:t>Đã làm</a:t>
            </a:r>
            <a:endParaRPr lang="en-US" sz="1100" dirty="0"/>
          </a:p>
        </p:txBody>
      </p:sp>
      <p:sp>
        <p:nvSpPr>
          <p:cNvPr id="39" name="Step 4"/>
          <p:cNvSpPr/>
          <p:nvPr/>
        </p:nvSpPr>
        <p:spPr>
          <a:xfrm>
            <a:off x="4745736" y="1783080"/>
            <a:ext cx="1261872" cy="3246120"/>
          </a:xfrm>
          <a:prstGeom prst="roundRect">
            <a:avLst>
              <a:gd name="adj" fmla="val 8696"/>
            </a:avLst>
          </a:prstGeom>
          <a:solidFill>
            <a:schemeClr val="bg2"/>
          </a:solidFill>
          <a:ln/>
        </p:spPr>
      </p:sp>
      <p:sp>
        <p:nvSpPr>
          <p:cNvPr id="40" name="Icon circle FaMobileAlt"/>
          <p:cNvSpPr/>
          <p:nvPr/>
        </p:nvSpPr>
        <p:spPr>
          <a:xfrm>
            <a:off x="4882896" y="2057400"/>
            <a:ext cx="640080" cy="640080"/>
          </a:xfrm>
          <a:prstGeom prst="ellipse">
            <a:avLst/>
          </a:prstGeom>
          <a:solidFill>
            <a:schemeClr val="accent1"/>
          </a:solidFill>
          <a:ln/>
        </p:spPr>
      </p:sp>
      <p:pic>
        <p:nvPicPr>
          <p:cNvPr id="41" name="Image 3" descr="MobileAlt icon">    </p:cNvPr>
          <p:cNvPicPr>
            <a:picLocks noChangeAspect="1"/>
          </p:cNvPicPr>
          <p:nvPr/>
        </p:nvPicPr>
        <p:blipFill>
          <a:blip r:embed="rId4"/>
          <a:stretch>
            <a:fillRect/>
          </a:stretch>
        </p:blipFill>
        <p:spPr>
          <a:xfrm>
            <a:off x="5036515" y="2211019"/>
            <a:ext cx="332842" cy="332842"/>
          </a:xfrm>
          <a:prstGeom prst="rect">
            <a:avLst/>
          </a:prstGeom>
        </p:spPr>
      </p:pic>
      <p:sp>
        <p:nvSpPr>
          <p:cNvPr id="42" name="Text 36"/>
          <p:cNvSpPr txBox="1"/>
          <p:nvPr/>
        </p:nvSpPr>
        <p:spPr>
          <a:xfrm>
            <a:off x="5614416" y="1892808"/>
            <a:ext cx="320040" cy="274320"/>
          </a:xfrm>
          <a:prstGeom prst="rect">
            <a:avLst/>
          </a:prstGeom>
          <a:noFill/>
          <a:ln/>
        </p:spPr>
        <p:txBody>
          <a:bodyPr wrap="square" lIns="0" tIns="0" rIns="0" bIns="0" rtlCol="0" anchor="t"/>
          <a:lstStyle/>
          <a:p>
            <a:pPr algn="r" indent="0" marL="0">
              <a:buNone/>
            </a:pPr>
            <a:r>
              <a:rPr lang="en-US" sz="1200" b="1" dirty="0">
                <a:solidFill>
                  <a:schemeClr val="tx2"/>
                </a:solidFill>
              </a:rPr>
              <a:t>4</a:t>
            </a:r>
            <a:endParaRPr lang="en-US" sz="1200" dirty="0"/>
          </a:p>
        </p:txBody>
      </p:sp>
      <p:sp>
        <p:nvSpPr>
          <p:cNvPr id="43" name="Text 37"/>
          <p:cNvSpPr txBox="1"/>
          <p:nvPr/>
        </p:nvSpPr>
        <p:spPr>
          <a:xfrm>
            <a:off x="4882896" y="2788920"/>
            <a:ext cx="1033272" cy="777240"/>
          </a:xfrm>
          <a:prstGeom prst="rect">
            <a:avLst/>
          </a:prstGeom>
          <a:noFill/>
          <a:ln/>
        </p:spPr>
        <p:txBody>
          <a:bodyPr wrap="square" lIns="0" tIns="0" rIns="0" bIns="0" rtlCol="0" anchor="t"/>
          <a:lstStyle/>
          <a:p>
            <a:pPr algn="l" indent="0" marL="0">
              <a:buNone/>
            </a:pPr>
            <a:r>
              <a:rPr lang="en-US" sz="1400" b="1" dirty="0">
                <a:solidFill>
                  <a:schemeClr val="tx1"/>
                </a:solidFill>
              </a:rPr>
              <a:t>Viết test trên app thật</a:t>
            </a:r>
            <a:endParaRPr lang="en-US" sz="1400" dirty="0"/>
          </a:p>
        </p:txBody>
      </p:sp>
      <p:sp>
        <p:nvSpPr>
          <p:cNvPr id="44" name="Pill AI"/>
          <p:cNvSpPr/>
          <p:nvPr/>
        </p:nvSpPr>
        <p:spPr>
          <a:xfrm>
            <a:off x="4882896" y="3611880"/>
            <a:ext cx="987552" cy="256032"/>
          </a:xfrm>
          <a:prstGeom prst="roundRect">
            <a:avLst>
              <a:gd name="adj" fmla="val 50000"/>
            </a:avLst>
          </a:prstGeom>
          <a:solidFill>
            <a:schemeClr val="accent1"/>
          </a:solidFill>
          <a:ln/>
        </p:spPr>
      </p:sp>
      <p:sp>
        <p:nvSpPr>
          <p:cNvPr id="45" name="Text 39"/>
          <p:cNvSpPr txBox="1"/>
          <p:nvPr/>
        </p:nvSpPr>
        <p:spPr>
          <a:xfrm>
            <a:off x="4882896" y="3611880"/>
            <a:ext cx="987552" cy="256032"/>
          </a:xfrm>
          <a:prstGeom prst="rect">
            <a:avLst/>
          </a:prstGeom>
          <a:noFill/>
          <a:ln/>
        </p:spPr>
        <p:txBody>
          <a:bodyPr wrap="square" lIns="0" tIns="0" rIns="0" bIns="0" rtlCol="0" anchor="ctr"/>
          <a:lstStyle/>
          <a:p>
            <a:pPr algn="ctr" indent="0" marL="0">
              <a:buNone/>
            </a:pPr>
            <a:r>
              <a:rPr lang="en-US" sz="1000" b="1" dirty="0">
                <a:solidFill>
                  <a:srgbClr val="FFFFFF"/>
                </a:solidFill>
              </a:rPr>
              <a:t>AI</a:t>
            </a:r>
            <a:endParaRPr lang="en-US" sz="1000" dirty="0"/>
          </a:p>
        </p:txBody>
      </p:sp>
      <p:sp>
        <p:nvSpPr>
          <p:cNvPr id="46" name="Text 40"/>
          <p:cNvSpPr txBox="1"/>
          <p:nvPr/>
        </p:nvSpPr>
        <p:spPr>
          <a:xfrm>
            <a:off x="4882896" y="3977640"/>
            <a:ext cx="1033272" cy="777240"/>
          </a:xfrm>
          <a:prstGeom prst="rect">
            <a:avLst/>
          </a:prstGeom>
          <a:noFill/>
          <a:ln/>
        </p:spPr>
        <p:txBody>
          <a:bodyPr wrap="square" lIns="0" tIns="0" rIns="0" bIns="0" rtlCol="0" anchor="t"/>
          <a:lstStyle/>
          <a:p>
            <a:pPr algn="l" indent="0" marL="0">
              <a:buNone/>
            </a:pPr>
            <a:r>
              <a:rPr lang="en-US" sz="1200" dirty="0">
                <a:solidFill>
                  <a:schemeClr val="tx2"/>
                </a:solidFill>
              </a:rPr>
              <a:t>Có trần chi phí, thời gian</a:t>
            </a:r>
            <a:endParaRPr lang="en-US" sz="1200" dirty="0"/>
          </a:p>
        </p:txBody>
      </p:sp>
      <p:sp>
        <p:nvSpPr>
          <p:cNvPr id="47" name="Text 41"/>
          <p:cNvSpPr txBox="1"/>
          <p:nvPr/>
        </p:nvSpPr>
        <p:spPr>
          <a:xfrm>
            <a:off x="4882896" y="4709160"/>
            <a:ext cx="1033272" cy="228600"/>
          </a:xfrm>
          <a:prstGeom prst="rect">
            <a:avLst/>
          </a:prstGeom>
          <a:noFill/>
          <a:ln/>
        </p:spPr>
        <p:txBody>
          <a:bodyPr wrap="square" lIns="0" tIns="0" rIns="0" bIns="0" rtlCol="0" anchor="t"/>
          <a:lstStyle/>
          <a:p>
            <a:pPr algn="l" indent="0" marL="0">
              <a:buNone/>
            </a:pPr>
            <a:r>
              <a:rPr lang="en-US" sz="1100" b="1" dirty="0">
                <a:solidFill>
                  <a:schemeClr val="tx2"/>
                </a:solidFill>
              </a:rPr>
              <a:t>Đã làm</a:t>
            </a:r>
            <a:endParaRPr lang="en-US" sz="1100" dirty="0"/>
          </a:p>
        </p:txBody>
      </p:sp>
      <p:sp>
        <p:nvSpPr>
          <p:cNvPr id="48" name="Step 5"/>
          <p:cNvSpPr/>
          <p:nvPr/>
        </p:nvSpPr>
        <p:spPr>
          <a:xfrm>
            <a:off x="6144768" y="1783080"/>
            <a:ext cx="1261872" cy="3246120"/>
          </a:xfrm>
          <a:prstGeom prst="roundRect">
            <a:avLst>
              <a:gd name="adj" fmla="val 8696"/>
            </a:avLst>
          </a:prstGeom>
          <a:solidFill>
            <a:schemeClr val="bg2"/>
          </a:solidFill>
          <a:ln/>
        </p:spPr>
      </p:sp>
      <p:sp>
        <p:nvSpPr>
          <p:cNvPr id="49" name="Icon circle FaCodeBranch"/>
          <p:cNvSpPr/>
          <p:nvPr/>
        </p:nvSpPr>
        <p:spPr>
          <a:xfrm>
            <a:off x="6281928" y="2057400"/>
            <a:ext cx="640080" cy="640080"/>
          </a:xfrm>
          <a:prstGeom prst="ellipse">
            <a:avLst/>
          </a:prstGeom>
          <a:solidFill>
            <a:schemeClr val="accent2"/>
          </a:solidFill>
          <a:ln/>
        </p:spPr>
      </p:sp>
      <p:pic>
        <p:nvPicPr>
          <p:cNvPr id="50" name="Image 4" descr="CodeBranch icon">    </p:cNvPr>
          <p:cNvPicPr>
            <a:picLocks noChangeAspect="1"/>
          </p:cNvPicPr>
          <p:nvPr/>
        </p:nvPicPr>
        <p:blipFill>
          <a:blip r:embed="rId5"/>
          <a:stretch>
            <a:fillRect/>
          </a:stretch>
        </p:blipFill>
        <p:spPr>
          <a:xfrm>
            <a:off x="6435547" y="2211019"/>
            <a:ext cx="332842" cy="332842"/>
          </a:xfrm>
          <a:prstGeom prst="rect">
            <a:avLst/>
          </a:prstGeom>
        </p:spPr>
      </p:pic>
      <p:sp>
        <p:nvSpPr>
          <p:cNvPr id="51" name="Text 44"/>
          <p:cNvSpPr txBox="1"/>
          <p:nvPr/>
        </p:nvSpPr>
        <p:spPr>
          <a:xfrm>
            <a:off x="7013448" y="1892808"/>
            <a:ext cx="320040" cy="274320"/>
          </a:xfrm>
          <a:prstGeom prst="rect">
            <a:avLst/>
          </a:prstGeom>
          <a:noFill/>
          <a:ln/>
        </p:spPr>
        <p:txBody>
          <a:bodyPr wrap="square" lIns="0" tIns="0" rIns="0" bIns="0" rtlCol="0" anchor="t"/>
          <a:lstStyle/>
          <a:p>
            <a:pPr algn="r" indent="0" marL="0">
              <a:buNone/>
            </a:pPr>
            <a:r>
              <a:rPr lang="en-US" sz="1200" b="1" dirty="0">
                <a:solidFill>
                  <a:schemeClr val="tx2"/>
                </a:solidFill>
              </a:rPr>
              <a:t>5</a:t>
            </a:r>
            <a:endParaRPr lang="en-US" sz="1200" dirty="0"/>
          </a:p>
        </p:txBody>
      </p:sp>
      <p:sp>
        <p:nvSpPr>
          <p:cNvPr id="52" name="Text 45"/>
          <p:cNvSpPr txBox="1"/>
          <p:nvPr/>
        </p:nvSpPr>
        <p:spPr>
          <a:xfrm>
            <a:off x="6281928" y="2788920"/>
            <a:ext cx="1033272" cy="777240"/>
          </a:xfrm>
          <a:prstGeom prst="rect">
            <a:avLst/>
          </a:prstGeom>
          <a:noFill/>
          <a:ln/>
        </p:spPr>
        <p:txBody>
          <a:bodyPr wrap="square" lIns="0" tIns="0" rIns="0" bIns="0" rtlCol="0" anchor="t"/>
          <a:lstStyle/>
          <a:p>
            <a:pPr algn="l" indent="0" marL="0">
              <a:buNone/>
            </a:pPr>
            <a:r>
              <a:rPr lang="en-US" sz="1400" b="1" dirty="0">
                <a:solidFill>
                  <a:schemeClr val="tx1"/>
                </a:solidFill>
              </a:rPr>
              <a:t>Review &amp; merge</a:t>
            </a:r>
            <a:endParaRPr lang="en-US" sz="1400" dirty="0"/>
          </a:p>
        </p:txBody>
      </p:sp>
      <p:sp>
        <p:nvSpPr>
          <p:cNvPr id="53" name="Pill NGƯỜI"/>
          <p:cNvSpPr/>
          <p:nvPr/>
        </p:nvSpPr>
        <p:spPr>
          <a:xfrm>
            <a:off x="6281928" y="3611880"/>
            <a:ext cx="987552" cy="256032"/>
          </a:xfrm>
          <a:prstGeom prst="roundRect">
            <a:avLst>
              <a:gd name="adj" fmla="val 50000"/>
            </a:avLst>
          </a:prstGeom>
          <a:solidFill>
            <a:schemeClr val="accent2"/>
          </a:solidFill>
          <a:ln/>
        </p:spPr>
      </p:sp>
      <p:sp>
        <p:nvSpPr>
          <p:cNvPr id="54" name="Text 47"/>
          <p:cNvSpPr txBox="1"/>
          <p:nvPr/>
        </p:nvSpPr>
        <p:spPr>
          <a:xfrm>
            <a:off x="6281928" y="3611880"/>
            <a:ext cx="987552" cy="256032"/>
          </a:xfrm>
          <a:prstGeom prst="rect">
            <a:avLst/>
          </a:prstGeom>
          <a:noFill/>
          <a:ln/>
        </p:spPr>
        <p:txBody>
          <a:bodyPr wrap="square" lIns="0" tIns="0" rIns="0" bIns="0" rtlCol="0" anchor="ctr"/>
          <a:lstStyle/>
          <a:p>
            <a:pPr algn="ctr" indent="0" marL="0">
              <a:buNone/>
            </a:pPr>
            <a:r>
              <a:rPr lang="en-US" sz="1000" b="1" dirty="0">
                <a:solidFill>
                  <a:srgbClr val="14161F"/>
                </a:solidFill>
              </a:rPr>
              <a:t>NGƯỜI</a:t>
            </a:r>
            <a:endParaRPr lang="en-US" sz="1000" dirty="0"/>
          </a:p>
        </p:txBody>
      </p:sp>
      <p:sp>
        <p:nvSpPr>
          <p:cNvPr id="55" name="Text 48"/>
          <p:cNvSpPr txBox="1"/>
          <p:nvPr/>
        </p:nvSpPr>
        <p:spPr>
          <a:xfrm>
            <a:off x="6281928" y="3977640"/>
            <a:ext cx="1033272" cy="777240"/>
          </a:xfrm>
          <a:prstGeom prst="rect">
            <a:avLst/>
          </a:prstGeom>
          <a:noFill/>
          <a:ln/>
        </p:spPr>
        <p:txBody>
          <a:bodyPr wrap="square" lIns="0" tIns="0" rIns="0" bIns="0" rtlCol="0" anchor="t"/>
          <a:lstStyle/>
          <a:p>
            <a:pPr algn="l" indent="0" marL="0">
              <a:buNone/>
            </a:pPr>
            <a:r>
              <a:rPr lang="en-US" sz="1200" dirty="0">
                <a:solidFill>
                  <a:schemeClr val="tx2"/>
                </a:solidFill>
              </a:rPr>
              <a:t>Người duyệt PR</a:t>
            </a:r>
            <a:endParaRPr lang="en-US" sz="1200" dirty="0"/>
          </a:p>
        </p:txBody>
      </p:sp>
      <p:sp>
        <p:nvSpPr>
          <p:cNvPr id="56" name="Text 49"/>
          <p:cNvSpPr txBox="1"/>
          <p:nvPr/>
        </p:nvSpPr>
        <p:spPr>
          <a:xfrm>
            <a:off x="6281928" y="4709160"/>
            <a:ext cx="1033272" cy="228600"/>
          </a:xfrm>
          <a:prstGeom prst="rect">
            <a:avLst/>
          </a:prstGeom>
          <a:noFill/>
          <a:ln/>
        </p:spPr>
        <p:txBody>
          <a:bodyPr wrap="square" lIns="0" tIns="0" rIns="0" bIns="0" rtlCol="0" anchor="t"/>
          <a:lstStyle/>
          <a:p>
            <a:pPr algn="l" indent="0" marL="0">
              <a:buNone/>
            </a:pPr>
            <a:r>
              <a:rPr lang="en-US" sz="1100" b="1" dirty="0">
                <a:solidFill>
                  <a:schemeClr val="tx2"/>
                </a:solidFill>
              </a:rPr>
              <a:t>Đã làm</a:t>
            </a:r>
            <a:endParaRPr lang="en-US" sz="1100" dirty="0"/>
          </a:p>
        </p:txBody>
      </p:sp>
      <p:sp>
        <p:nvSpPr>
          <p:cNvPr id="57" name="Step 6"/>
          <p:cNvSpPr/>
          <p:nvPr/>
        </p:nvSpPr>
        <p:spPr>
          <a:xfrm>
            <a:off x="7543800" y="1783080"/>
            <a:ext cx="1261872" cy="3246120"/>
          </a:xfrm>
          <a:prstGeom prst="roundRect">
            <a:avLst>
              <a:gd name="adj" fmla="val 8696"/>
            </a:avLst>
          </a:prstGeom>
          <a:solidFill>
            <a:schemeClr val="bg2"/>
          </a:solidFill>
          <a:ln/>
        </p:spPr>
      </p:sp>
      <p:sp>
        <p:nvSpPr>
          <p:cNvPr id="58" name="Icon circle FaCheckCircle"/>
          <p:cNvSpPr/>
          <p:nvPr/>
        </p:nvSpPr>
        <p:spPr>
          <a:xfrm>
            <a:off x="7680960" y="2057400"/>
            <a:ext cx="640080" cy="640080"/>
          </a:xfrm>
          <a:prstGeom prst="ellipse">
            <a:avLst/>
          </a:prstGeom>
          <a:solidFill>
            <a:schemeClr val="accent3"/>
          </a:solidFill>
          <a:ln/>
        </p:spPr>
      </p:sp>
      <p:pic>
        <p:nvPicPr>
          <p:cNvPr id="59" name="Image 5" descr="CheckCircle icon">    </p:cNvPr>
          <p:cNvPicPr>
            <a:picLocks noChangeAspect="1"/>
          </p:cNvPicPr>
          <p:nvPr/>
        </p:nvPicPr>
        <p:blipFill>
          <a:blip r:embed="rId6"/>
          <a:stretch>
            <a:fillRect/>
          </a:stretch>
        </p:blipFill>
        <p:spPr>
          <a:xfrm>
            <a:off x="7834579" y="2211019"/>
            <a:ext cx="332842" cy="332842"/>
          </a:xfrm>
          <a:prstGeom prst="rect">
            <a:avLst/>
          </a:prstGeom>
        </p:spPr>
      </p:pic>
      <p:sp>
        <p:nvSpPr>
          <p:cNvPr id="60" name="Text 52"/>
          <p:cNvSpPr txBox="1"/>
          <p:nvPr/>
        </p:nvSpPr>
        <p:spPr>
          <a:xfrm>
            <a:off x="8412480" y="1892808"/>
            <a:ext cx="320040" cy="274320"/>
          </a:xfrm>
          <a:prstGeom prst="rect">
            <a:avLst/>
          </a:prstGeom>
          <a:noFill/>
          <a:ln/>
        </p:spPr>
        <p:txBody>
          <a:bodyPr wrap="square" lIns="0" tIns="0" rIns="0" bIns="0" rtlCol="0" anchor="t"/>
          <a:lstStyle/>
          <a:p>
            <a:pPr algn="r" indent="0" marL="0">
              <a:buNone/>
            </a:pPr>
            <a:r>
              <a:rPr lang="en-US" sz="1200" b="1" dirty="0">
                <a:solidFill>
                  <a:schemeClr val="tx2"/>
                </a:solidFill>
              </a:rPr>
              <a:t>6</a:t>
            </a:r>
            <a:endParaRPr lang="en-US" sz="1200" dirty="0"/>
          </a:p>
        </p:txBody>
      </p:sp>
      <p:sp>
        <p:nvSpPr>
          <p:cNvPr id="61" name="Text 53"/>
          <p:cNvSpPr txBox="1"/>
          <p:nvPr/>
        </p:nvSpPr>
        <p:spPr>
          <a:xfrm>
            <a:off x="7680960" y="2788920"/>
            <a:ext cx="1033272" cy="777240"/>
          </a:xfrm>
          <a:prstGeom prst="rect">
            <a:avLst/>
          </a:prstGeom>
          <a:noFill/>
          <a:ln/>
        </p:spPr>
        <p:txBody>
          <a:bodyPr wrap="square" lIns="0" tIns="0" rIns="0" bIns="0" rtlCol="0" anchor="t"/>
          <a:lstStyle/>
          <a:p>
            <a:pPr algn="l" indent="0" marL="0">
              <a:buNone/>
            </a:pPr>
            <a:r>
              <a:rPr lang="en-US" sz="1400" b="1" dirty="0">
                <a:solidFill>
                  <a:schemeClr val="tx1"/>
                </a:solidFill>
              </a:rPr>
              <a:t>Chạy lại trên CI</a:t>
            </a:r>
            <a:endParaRPr lang="en-US" sz="1400" dirty="0"/>
          </a:p>
        </p:txBody>
      </p:sp>
      <p:sp>
        <p:nvSpPr>
          <p:cNvPr id="62" name="Pill KHÔNG AI"/>
          <p:cNvSpPr/>
          <p:nvPr/>
        </p:nvSpPr>
        <p:spPr>
          <a:xfrm>
            <a:off x="7680960" y="3611880"/>
            <a:ext cx="987552" cy="256032"/>
          </a:xfrm>
          <a:prstGeom prst="roundRect">
            <a:avLst>
              <a:gd name="adj" fmla="val 50000"/>
            </a:avLst>
          </a:prstGeom>
          <a:solidFill>
            <a:schemeClr val="accent3"/>
          </a:solidFill>
          <a:ln/>
        </p:spPr>
      </p:sp>
      <p:sp>
        <p:nvSpPr>
          <p:cNvPr id="63" name="Text 55"/>
          <p:cNvSpPr txBox="1"/>
          <p:nvPr/>
        </p:nvSpPr>
        <p:spPr>
          <a:xfrm>
            <a:off x="7680960" y="3611880"/>
            <a:ext cx="987552" cy="256032"/>
          </a:xfrm>
          <a:prstGeom prst="rect">
            <a:avLst/>
          </a:prstGeom>
          <a:noFill/>
          <a:ln/>
        </p:spPr>
        <p:txBody>
          <a:bodyPr wrap="square" lIns="0" tIns="0" rIns="0" bIns="0" rtlCol="0" anchor="ctr"/>
          <a:lstStyle/>
          <a:p>
            <a:pPr algn="ctr" indent="0" marL="0">
              <a:buNone/>
            </a:pPr>
            <a:r>
              <a:rPr lang="en-US" sz="1000" b="1" dirty="0">
                <a:solidFill>
                  <a:srgbClr val="FFFFFF"/>
                </a:solidFill>
              </a:rPr>
              <a:t>KHÔNG AI</a:t>
            </a:r>
            <a:endParaRPr lang="en-US" sz="1000" dirty="0"/>
          </a:p>
        </p:txBody>
      </p:sp>
      <p:sp>
        <p:nvSpPr>
          <p:cNvPr id="64" name="Text 56"/>
          <p:cNvSpPr txBox="1"/>
          <p:nvPr/>
        </p:nvSpPr>
        <p:spPr>
          <a:xfrm>
            <a:off x="7680960" y="3977640"/>
            <a:ext cx="1033272" cy="777240"/>
          </a:xfrm>
          <a:prstGeom prst="rect">
            <a:avLst/>
          </a:prstGeom>
          <a:noFill/>
          <a:ln/>
        </p:spPr>
        <p:txBody>
          <a:bodyPr wrap="square" lIns="0" tIns="0" rIns="0" bIns="0" rtlCol="0" anchor="t"/>
          <a:lstStyle/>
          <a:p>
            <a:pPr algn="l" indent="0" marL="0">
              <a:buNone/>
            </a:pPr>
            <a:r>
              <a:rPr lang="en-US" sz="1200" dirty="0">
                <a:solidFill>
                  <a:schemeClr val="tx2"/>
                </a:solidFill>
              </a:rPr>
              <a:t>Maestro quyết định pass/fail</a:t>
            </a:r>
            <a:endParaRPr lang="en-US" sz="1200" dirty="0"/>
          </a:p>
        </p:txBody>
      </p:sp>
      <p:sp>
        <p:nvSpPr>
          <p:cNvPr id="65" name="Text 57"/>
          <p:cNvSpPr txBox="1"/>
          <p:nvPr/>
        </p:nvSpPr>
        <p:spPr>
          <a:xfrm>
            <a:off x="7680960" y="4709160"/>
            <a:ext cx="1033272" cy="228600"/>
          </a:xfrm>
          <a:prstGeom prst="rect">
            <a:avLst/>
          </a:prstGeom>
          <a:noFill/>
          <a:ln/>
        </p:spPr>
        <p:txBody>
          <a:bodyPr wrap="square" lIns="0" tIns="0" rIns="0" bIns="0" rtlCol="0" anchor="t"/>
          <a:lstStyle/>
          <a:p>
            <a:pPr algn="l" indent="0" marL="0">
              <a:buNone/>
            </a:pPr>
            <a:r>
              <a:rPr lang="en-US" sz="1100" b="1" dirty="0">
                <a:solidFill>
                  <a:schemeClr val="tx2"/>
                </a:solidFill>
              </a:rPr>
              <a:t>Đã làm</a:t>
            </a:r>
            <a:endParaRPr lang="en-US" sz="1100" dirty="0"/>
          </a:p>
        </p:txBody>
      </p:sp>
      <p:sp>
        <p:nvSpPr>
          <p:cNvPr id="66" name="Step 7 (designed)"/>
          <p:cNvSpPr/>
          <p:nvPr/>
        </p:nvSpPr>
        <p:spPr>
          <a:xfrm>
            <a:off x="8942832" y="1783080"/>
            <a:ext cx="1261872" cy="3246120"/>
          </a:xfrm>
          <a:prstGeom prst="roundRect">
            <a:avLst>
              <a:gd name="adj" fmla="val 8696"/>
            </a:avLst>
          </a:prstGeom>
          <a:solidFill>
            <a:schemeClr val="bg1"/>
          </a:solidFill>
          <a:ln w="19050">
            <a:solidFill>
              <a:schemeClr val="accent5"/>
            </a:solidFill>
            <a:prstDash val="dash"/>
          </a:ln>
        </p:spPr>
      </p:sp>
      <p:sp>
        <p:nvSpPr>
          <p:cNvPr id="67" name="Icon circle FaWrench"/>
          <p:cNvSpPr/>
          <p:nvPr/>
        </p:nvSpPr>
        <p:spPr>
          <a:xfrm>
            <a:off x="9079992" y="2057400"/>
            <a:ext cx="640080" cy="640080"/>
          </a:xfrm>
          <a:prstGeom prst="ellipse">
            <a:avLst/>
          </a:prstGeom>
          <a:solidFill>
            <a:schemeClr val="accent1"/>
          </a:solidFill>
          <a:ln/>
        </p:spPr>
      </p:sp>
      <p:pic>
        <p:nvPicPr>
          <p:cNvPr id="68" name="Image 6" descr="Wrench icon">    </p:cNvPr>
          <p:cNvPicPr>
            <a:picLocks noChangeAspect="1"/>
          </p:cNvPicPr>
          <p:nvPr/>
        </p:nvPicPr>
        <p:blipFill>
          <a:blip r:embed="rId7"/>
          <a:stretch>
            <a:fillRect/>
          </a:stretch>
        </p:blipFill>
        <p:spPr>
          <a:xfrm>
            <a:off x="9233611" y="2211019"/>
            <a:ext cx="332842" cy="332842"/>
          </a:xfrm>
          <a:prstGeom prst="rect">
            <a:avLst/>
          </a:prstGeom>
        </p:spPr>
      </p:pic>
      <p:sp>
        <p:nvSpPr>
          <p:cNvPr id="69" name="Text 60"/>
          <p:cNvSpPr txBox="1"/>
          <p:nvPr/>
        </p:nvSpPr>
        <p:spPr>
          <a:xfrm>
            <a:off x="9811512" y="1892808"/>
            <a:ext cx="320040" cy="274320"/>
          </a:xfrm>
          <a:prstGeom prst="rect">
            <a:avLst/>
          </a:prstGeom>
          <a:noFill/>
          <a:ln/>
        </p:spPr>
        <p:txBody>
          <a:bodyPr wrap="square" lIns="0" tIns="0" rIns="0" bIns="0" rtlCol="0" anchor="t"/>
          <a:lstStyle/>
          <a:p>
            <a:pPr algn="r" indent="0" marL="0">
              <a:buNone/>
            </a:pPr>
            <a:r>
              <a:rPr lang="en-US" sz="1200" b="1" dirty="0">
                <a:solidFill>
                  <a:schemeClr val="tx2"/>
                </a:solidFill>
              </a:rPr>
              <a:t>7</a:t>
            </a:r>
            <a:endParaRPr lang="en-US" sz="1200" dirty="0"/>
          </a:p>
        </p:txBody>
      </p:sp>
      <p:sp>
        <p:nvSpPr>
          <p:cNvPr id="70" name="Text 61"/>
          <p:cNvSpPr txBox="1"/>
          <p:nvPr/>
        </p:nvSpPr>
        <p:spPr>
          <a:xfrm>
            <a:off x="9079992" y="2788920"/>
            <a:ext cx="1033272" cy="777240"/>
          </a:xfrm>
          <a:prstGeom prst="rect">
            <a:avLst/>
          </a:prstGeom>
          <a:noFill/>
          <a:ln/>
        </p:spPr>
        <p:txBody>
          <a:bodyPr wrap="square" lIns="0" tIns="0" rIns="0" bIns="0" rtlCol="0" anchor="t"/>
          <a:lstStyle/>
          <a:p>
            <a:pPr algn="l" indent="0" marL="0">
              <a:buNone/>
            </a:pPr>
            <a:r>
              <a:rPr lang="en-US" sz="1400" b="1" dirty="0">
                <a:solidFill>
                  <a:schemeClr val="tx1"/>
                </a:solidFill>
              </a:rPr>
              <a:t>Chẩn đoán khi lỗi</a:t>
            </a:r>
            <a:endParaRPr lang="en-US" sz="1400" dirty="0"/>
          </a:p>
        </p:txBody>
      </p:sp>
      <p:sp>
        <p:nvSpPr>
          <p:cNvPr id="71" name="Pill AI"/>
          <p:cNvSpPr/>
          <p:nvPr/>
        </p:nvSpPr>
        <p:spPr>
          <a:xfrm>
            <a:off x="9079992" y="3611880"/>
            <a:ext cx="987552" cy="256032"/>
          </a:xfrm>
          <a:prstGeom prst="roundRect">
            <a:avLst>
              <a:gd name="adj" fmla="val 50000"/>
            </a:avLst>
          </a:prstGeom>
          <a:solidFill>
            <a:schemeClr val="accent1"/>
          </a:solidFill>
          <a:ln/>
        </p:spPr>
      </p:sp>
      <p:sp>
        <p:nvSpPr>
          <p:cNvPr id="72" name="Text 63"/>
          <p:cNvSpPr txBox="1"/>
          <p:nvPr/>
        </p:nvSpPr>
        <p:spPr>
          <a:xfrm>
            <a:off x="9079992" y="3611880"/>
            <a:ext cx="987552" cy="256032"/>
          </a:xfrm>
          <a:prstGeom prst="rect">
            <a:avLst/>
          </a:prstGeom>
          <a:noFill/>
          <a:ln/>
        </p:spPr>
        <p:txBody>
          <a:bodyPr wrap="square" lIns="0" tIns="0" rIns="0" bIns="0" rtlCol="0" anchor="ctr"/>
          <a:lstStyle/>
          <a:p>
            <a:pPr algn="ctr" indent="0" marL="0">
              <a:buNone/>
            </a:pPr>
            <a:r>
              <a:rPr lang="en-US" sz="1000" b="1" dirty="0">
                <a:solidFill>
                  <a:srgbClr val="FFFFFF"/>
                </a:solidFill>
              </a:rPr>
              <a:t>AI</a:t>
            </a:r>
            <a:endParaRPr lang="en-US" sz="1000" dirty="0"/>
          </a:p>
        </p:txBody>
      </p:sp>
      <p:sp>
        <p:nvSpPr>
          <p:cNvPr id="73" name="Text 64"/>
          <p:cNvSpPr txBox="1"/>
          <p:nvPr/>
        </p:nvSpPr>
        <p:spPr>
          <a:xfrm>
            <a:off x="9079992" y="3977640"/>
            <a:ext cx="1033272" cy="777240"/>
          </a:xfrm>
          <a:prstGeom prst="rect">
            <a:avLst/>
          </a:prstGeom>
          <a:noFill/>
          <a:ln/>
        </p:spPr>
        <p:txBody>
          <a:bodyPr wrap="square" lIns="0" tIns="0" rIns="0" bIns="0" rtlCol="0" anchor="t"/>
          <a:lstStyle/>
          <a:p>
            <a:pPr algn="l" indent="0" marL="0">
              <a:buNone/>
            </a:pPr>
            <a:r>
              <a:rPr lang="en-US" sz="1200" dirty="0">
                <a:solidFill>
                  <a:schemeClr val="tx2"/>
                </a:solidFill>
              </a:rPr>
              <a:t>Người merge mọi bản vá</a:t>
            </a:r>
            <a:endParaRPr lang="en-US" sz="1200" dirty="0"/>
          </a:p>
        </p:txBody>
      </p:sp>
      <p:sp>
        <p:nvSpPr>
          <p:cNvPr id="74" name="Text 65"/>
          <p:cNvSpPr txBox="1"/>
          <p:nvPr/>
        </p:nvSpPr>
        <p:spPr>
          <a:xfrm>
            <a:off x="9079992" y="4709160"/>
            <a:ext cx="1033272" cy="228600"/>
          </a:xfrm>
          <a:prstGeom prst="rect">
            <a:avLst/>
          </a:prstGeom>
          <a:noFill/>
          <a:ln/>
        </p:spPr>
        <p:txBody>
          <a:bodyPr wrap="square" lIns="0" tIns="0" rIns="0" bIns="0" rtlCol="0" anchor="t"/>
          <a:lstStyle/>
          <a:p>
            <a:pPr algn="l" indent="0" marL="0">
              <a:buNone/>
            </a:pPr>
            <a:r>
              <a:rPr lang="en-US" sz="1100" b="1" dirty="0">
                <a:solidFill>
                  <a:schemeClr val="accent5"/>
                </a:solidFill>
              </a:rPr>
              <a:t>Đã thiết kế</a:t>
            </a:r>
            <a:endParaRPr lang="en-US" sz="1100" dirty="0"/>
          </a:p>
        </p:txBody>
      </p:sp>
      <p:sp>
        <p:nvSpPr>
          <p:cNvPr id="75" name="Step 8 (designed)"/>
          <p:cNvSpPr/>
          <p:nvPr/>
        </p:nvSpPr>
        <p:spPr>
          <a:xfrm>
            <a:off x="10341864" y="1783080"/>
            <a:ext cx="1261872" cy="3246120"/>
          </a:xfrm>
          <a:prstGeom prst="roundRect">
            <a:avLst>
              <a:gd name="adj" fmla="val 8696"/>
            </a:avLst>
          </a:prstGeom>
          <a:solidFill>
            <a:schemeClr val="bg1"/>
          </a:solidFill>
          <a:ln w="19050">
            <a:solidFill>
              <a:schemeClr val="accent5"/>
            </a:solidFill>
            <a:prstDash val="dash"/>
          </a:ln>
        </p:spPr>
      </p:sp>
      <p:sp>
        <p:nvSpPr>
          <p:cNvPr id="76" name="Icon circle FaFileAlt"/>
          <p:cNvSpPr/>
          <p:nvPr/>
        </p:nvSpPr>
        <p:spPr>
          <a:xfrm>
            <a:off x="10479024" y="2057400"/>
            <a:ext cx="640080" cy="640080"/>
          </a:xfrm>
          <a:prstGeom prst="ellipse">
            <a:avLst/>
          </a:prstGeom>
          <a:solidFill>
            <a:schemeClr val="accent1"/>
          </a:solidFill>
          <a:ln/>
        </p:spPr>
      </p:sp>
      <p:pic>
        <p:nvPicPr>
          <p:cNvPr id="77" name="Image 7" descr="FileAlt icon">    </p:cNvPr>
          <p:cNvPicPr>
            <a:picLocks noChangeAspect="1"/>
          </p:cNvPicPr>
          <p:nvPr/>
        </p:nvPicPr>
        <p:blipFill>
          <a:blip r:embed="rId8"/>
          <a:stretch>
            <a:fillRect/>
          </a:stretch>
        </p:blipFill>
        <p:spPr>
          <a:xfrm>
            <a:off x="10632643" y="2211019"/>
            <a:ext cx="332842" cy="332842"/>
          </a:xfrm>
          <a:prstGeom prst="rect">
            <a:avLst/>
          </a:prstGeom>
        </p:spPr>
      </p:pic>
      <p:sp>
        <p:nvSpPr>
          <p:cNvPr id="78" name="Text 68"/>
          <p:cNvSpPr txBox="1"/>
          <p:nvPr/>
        </p:nvSpPr>
        <p:spPr>
          <a:xfrm>
            <a:off x="11210544" y="1892808"/>
            <a:ext cx="320040" cy="274320"/>
          </a:xfrm>
          <a:prstGeom prst="rect">
            <a:avLst/>
          </a:prstGeom>
          <a:noFill/>
          <a:ln/>
        </p:spPr>
        <p:txBody>
          <a:bodyPr wrap="square" lIns="0" tIns="0" rIns="0" bIns="0" rtlCol="0" anchor="t"/>
          <a:lstStyle/>
          <a:p>
            <a:pPr algn="r" indent="0" marL="0">
              <a:buNone/>
            </a:pPr>
            <a:r>
              <a:rPr lang="en-US" sz="1200" b="1" dirty="0">
                <a:solidFill>
                  <a:schemeClr val="tx2"/>
                </a:solidFill>
              </a:rPr>
              <a:t>8</a:t>
            </a:r>
            <a:endParaRPr lang="en-US" sz="1200" dirty="0"/>
          </a:p>
        </p:txBody>
      </p:sp>
      <p:sp>
        <p:nvSpPr>
          <p:cNvPr id="79" name="Text 69"/>
          <p:cNvSpPr txBox="1"/>
          <p:nvPr/>
        </p:nvSpPr>
        <p:spPr>
          <a:xfrm>
            <a:off x="10479024" y="2788920"/>
            <a:ext cx="1033272" cy="777240"/>
          </a:xfrm>
          <a:prstGeom prst="rect">
            <a:avLst/>
          </a:prstGeom>
          <a:noFill/>
          <a:ln/>
        </p:spPr>
        <p:txBody>
          <a:bodyPr wrap="square" lIns="0" tIns="0" rIns="0" bIns="0" rtlCol="0" anchor="t"/>
          <a:lstStyle/>
          <a:p>
            <a:pPr algn="l" indent="0" marL="0">
              <a:buNone/>
            </a:pPr>
            <a:r>
              <a:rPr lang="en-US" sz="1400" b="1" dirty="0">
                <a:solidFill>
                  <a:schemeClr val="tx1"/>
                </a:solidFill>
              </a:rPr>
              <a:t>Báo cáo</a:t>
            </a:r>
            <a:endParaRPr lang="en-US" sz="1400" dirty="0"/>
          </a:p>
        </p:txBody>
      </p:sp>
      <p:sp>
        <p:nvSpPr>
          <p:cNvPr id="80" name="Pill AI"/>
          <p:cNvSpPr/>
          <p:nvPr/>
        </p:nvSpPr>
        <p:spPr>
          <a:xfrm>
            <a:off x="10479024" y="3611880"/>
            <a:ext cx="987552" cy="256032"/>
          </a:xfrm>
          <a:prstGeom prst="roundRect">
            <a:avLst>
              <a:gd name="adj" fmla="val 50000"/>
            </a:avLst>
          </a:prstGeom>
          <a:solidFill>
            <a:schemeClr val="accent1"/>
          </a:solidFill>
          <a:ln/>
        </p:spPr>
      </p:sp>
      <p:sp>
        <p:nvSpPr>
          <p:cNvPr id="81" name="Text 71"/>
          <p:cNvSpPr txBox="1"/>
          <p:nvPr/>
        </p:nvSpPr>
        <p:spPr>
          <a:xfrm>
            <a:off x="10479024" y="3611880"/>
            <a:ext cx="987552" cy="256032"/>
          </a:xfrm>
          <a:prstGeom prst="rect">
            <a:avLst/>
          </a:prstGeom>
          <a:noFill/>
          <a:ln/>
        </p:spPr>
        <p:txBody>
          <a:bodyPr wrap="square" lIns="0" tIns="0" rIns="0" bIns="0" rtlCol="0" anchor="ctr"/>
          <a:lstStyle/>
          <a:p>
            <a:pPr algn="ctr" indent="0" marL="0">
              <a:buNone/>
            </a:pPr>
            <a:r>
              <a:rPr lang="en-US" sz="1000" b="1" dirty="0">
                <a:solidFill>
                  <a:srgbClr val="FFFFFF"/>
                </a:solidFill>
              </a:rPr>
              <a:t>AI</a:t>
            </a:r>
            <a:endParaRPr lang="en-US" sz="1000" dirty="0"/>
          </a:p>
        </p:txBody>
      </p:sp>
      <p:sp>
        <p:nvSpPr>
          <p:cNvPr id="82" name="Text 72"/>
          <p:cNvSpPr txBox="1"/>
          <p:nvPr/>
        </p:nvSpPr>
        <p:spPr>
          <a:xfrm>
            <a:off x="10479024" y="3977640"/>
            <a:ext cx="1033272" cy="777240"/>
          </a:xfrm>
          <a:prstGeom prst="rect">
            <a:avLst/>
          </a:prstGeom>
          <a:noFill/>
          <a:ln/>
        </p:spPr>
        <p:txBody>
          <a:bodyPr wrap="square" lIns="0" tIns="0" rIns="0" bIns="0" rtlCol="0" anchor="t"/>
          <a:lstStyle/>
          <a:p>
            <a:pPr algn="l" indent="0" marL="0">
              <a:buNone/>
            </a:pPr>
            <a:r>
              <a:rPr lang="en-US" sz="1200" dirty="0">
                <a:solidFill>
                  <a:schemeClr val="tx2"/>
                </a:solidFill>
              </a:rPr>
              <a:t>Phần lớn là code</a:t>
            </a:r>
            <a:endParaRPr lang="en-US" sz="1200" dirty="0"/>
          </a:p>
        </p:txBody>
      </p:sp>
      <p:sp>
        <p:nvSpPr>
          <p:cNvPr id="83" name="Text 73"/>
          <p:cNvSpPr txBox="1"/>
          <p:nvPr/>
        </p:nvSpPr>
        <p:spPr>
          <a:xfrm>
            <a:off x="10479024" y="4709160"/>
            <a:ext cx="1033272" cy="228600"/>
          </a:xfrm>
          <a:prstGeom prst="rect">
            <a:avLst/>
          </a:prstGeom>
          <a:noFill/>
          <a:ln/>
        </p:spPr>
        <p:txBody>
          <a:bodyPr wrap="square" lIns="0" tIns="0" rIns="0" bIns="0" rtlCol="0" anchor="t"/>
          <a:lstStyle/>
          <a:p>
            <a:pPr algn="l" indent="0" marL="0">
              <a:buNone/>
            </a:pPr>
            <a:r>
              <a:rPr lang="en-US" sz="1100" b="1" dirty="0">
                <a:solidFill>
                  <a:schemeClr val="accent5"/>
                </a:solidFill>
              </a:rPr>
              <a:t>Đã thiết kế</a:t>
            </a:r>
            <a:endParaRPr lang="en-US" sz="1100" dirty="0"/>
          </a:p>
        </p:txBody>
      </p:sp>
      <p:sp>
        <p:nvSpPr>
          <p:cNvPr id="84" name="Text 74"/>
          <p:cNvSpPr txBox="1"/>
          <p:nvPr/>
        </p:nvSpPr>
        <p:spPr>
          <a:xfrm>
            <a:off x="548640" y="5257800"/>
            <a:ext cx="11064240" cy="274320"/>
          </a:xfrm>
          <a:prstGeom prst="rect">
            <a:avLst/>
          </a:prstGeom>
          <a:noFill/>
          <a:ln/>
        </p:spPr>
        <p:txBody>
          <a:bodyPr wrap="square" lIns="0" tIns="0" rIns="0" bIns="0" rtlCol="0" anchor="t"/>
          <a:lstStyle/>
          <a:p>
            <a:pPr algn="l" indent="0" marL="0">
              <a:buNone/>
            </a:pPr>
            <a:r>
              <a:rPr lang="en-US" sz="1600" b="1" dirty="0">
                <a:solidFill>
                  <a:schemeClr val="tx1"/>
                </a:solidFill>
              </a:rPr>
              <a:t>Khi test đỏ, người phân loại nguyên nhân (AI không tự quyết):</a:t>
            </a:r>
            <a:endParaRPr lang="en-US" sz="1600" dirty="0"/>
          </a:p>
        </p:txBody>
      </p:sp>
      <p:sp>
        <p:nvSpPr>
          <p:cNvPr id="85" name="Triage A"/>
          <p:cNvSpPr/>
          <p:nvPr/>
        </p:nvSpPr>
        <p:spPr>
          <a:xfrm>
            <a:off x="548640" y="5623560"/>
            <a:ext cx="2651760" cy="685800"/>
          </a:xfrm>
          <a:prstGeom prst="roundRect">
            <a:avLst>
              <a:gd name="adj" fmla="val 16000"/>
            </a:avLst>
          </a:prstGeom>
          <a:solidFill>
            <a:schemeClr val="bg2"/>
          </a:solidFill>
          <a:ln/>
        </p:spPr>
      </p:sp>
      <p:sp>
        <p:nvSpPr>
          <p:cNvPr id="86" name="Triage letter A"/>
          <p:cNvSpPr/>
          <p:nvPr/>
        </p:nvSpPr>
        <p:spPr>
          <a:xfrm>
            <a:off x="685800" y="5733288"/>
            <a:ext cx="457200" cy="457200"/>
          </a:xfrm>
          <a:prstGeom prst="ellipse">
            <a:avLst/>
          </a:prstGeom>
          <a:solidFill>
            <a:schemeClr val="tx2"/>
          </a:solidFill>
          <a:ln/>
        </p:spPr>
      </p:sp>
      <p:sp>
        <p:nvSpPr>
          <p:cNvPr id="87" name="Text 77"/>
          <p:cNvSpPr txBox="1"/>
          <p:nvPr/>
        </p:nvSpPr>
        <p:spPr>
          <a:xfrm>
            <a:off x="685800" y="573328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88" name="Text 78"/>
          <p:cNvSpPr txBox="1"/>
          <p:nvPr/>
        </p:nvSpPr>
        <p:spPr>
          <a:xfrm>
            <a:off x="1280160" y="5623560"/>
            <a:ext cx="1828800" cy="685800"/>
          </a:xfrm>
          <a:prstGeom prst="rect">
            <a:avLst/>
          </a:prstGeom>
          <a:noFill/>
          <a:ln/>
        </p:spPr>
        <p:txBody>
          <a:bodyPr wrap="square" lIns="0" tIns="0" rIns="0" bIns="0" rtlCol="0" anchor="ctr"/>
          <a:lstStyle/>
          <a:p>
            <a:pPr algn="l" indent="0" marL="0">
              <a:buNone/>
            </a:pPr>
            <a:r>
              <a:rPr lang="en-US" sz="1600" b="1" dirty="0">
                <a:solidFill>
                  <a:schemeClr val="tx1"/>
                </a:solidFill>
              </a:rPr>
              <a:t>Lỗi app</a:t>
            </a:r>
            <a:endParaRPr lang="en-US" sz="1600" dirty="0"/>
          </a:p>
        </p:txBody>
      </p:sp>
      <p:sp>
        <p:nvSpPr>
          <p:cNvPr id="89" name="Triage B"/>
          <p:cNvSpPr/>
          <p:nvPr/>
        </p:nvSpPr>
        <p:spPr>
          <a:xfrm>
            <a:off x="3362249" y="5623560"/>
            <a:ext cx="2651760" cy="685800"/>
          </a:xfrm>
          <a:prstGeom prst="roundRect">
            <a:avLst>
              <a:gd name="adj" fmla="val 16000"/>
            </a:avLst>
          </a:prstGeom>
          <a:solidFill>
            <a:schemeClr val="bg2"/>
          </a:solidFill>
          <a:ln/>
        </p:spPr>
      </p:sp>
      <p:sp>
        <p:nvSpPr>
          <p:cNvPr id="90" name="Triage letter B"/>
          <p:cNvSpPr/>
          <p:nvPr/>
        </p:nvSpPr>
        <p:spPr>
          <a:xfrm>
            <a:off x="3499409" y="5733288"/>
            <a:ext cx="457200" cy="457200"/>
          </a:xfrm>
          <a:prstGeom prst="ellipse">
            <a:avLst/>
          </a:prstGeom>
          <a:solidFill>
            <a:schemeClr val="tx2"/>
          </a:solidFill>
          <a:ln/>
        </p:spPr>
      </p:sp>
      <p:sp>
        <p:nvSpPr>
          <p:cNvPr id="91" name="Text 81"/>
          <p:cNvSpPr txBox="1"/>
          <p:nvPr/>
        </p:nvSpPr>
        <p:spPr>
          <a:xfrm>
            <a:off x="3499409" y="573328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92" name="Text 82"/>
          <p:cNvSpPr txBox="1"/>
          <p:nvPr/>
        </p:nvSpPr>
        <p:spPr>
          <a:xfrm>
            <a:off x="4093769" y="5623560"/>
            <a:ext cx="1828800" cy="685800"/>
          </a:xfrm>
          <a:prstGeom prst="rect">
            <a:avLst/>
          </a:prstGeom>
          <a:noFill/>
          <a:ln/>
        </p:spPr>
        <p:txBody>
          <a:bodyPr wrap="square" lIns="0" tIns="0" rIns="0" bIns="0" rtlCol="0" anchor="ctr"/>
          <a:lstStyle/>
          <a:p>
            <a:pPr algn="l" indent="0" marL="0">
              <a:buNone/>
            </a:pPr>
            <a:r>
              <a:rPr lang="en-US" sz="1600" b="1" dirty="0">
                <a:solidFill>
                  <a:schemeClr val="tx1"/>
                </a:solidFill>
              </a:rPr>
              <a:t>Ticket sai</a:t>
            </a:r>
            <a:endParaRPr lang="en-US" sz="1600" dirty="0"/>
          </a:p>
        </p:txBody>
      </p:sp>
      <p:sp>
        <p:nvSpPr>
          <p:cNvPr id="93" name="Triage C"/>
          <p:cNvSpPr/>
          <p:nvPr/>
        </p:nvSpPr>
        <p:spPr>
          <a:xfrm>
            <a:off x="6175858" y="5623560"/>
            <a:ext cx="2651760" cy="685800"/>
          </a:xfrm>
          <a:prstGeom prst="roundRect">
            <a:avLst>
              <a:gd name="adj" fmla="val 16000"/>
            </a:avLst>
          </a:prstGeom>
          <a:solidFill>
            <a:schemeClr val="bg2"/>
          </a:solidFill>
          <a:ln/>
        </p:spPr>
      </p:sp>
      <p:sp>
        <p:nvSpPr>
          <p:cNvPr id="94" name="Triage letter C"/>
          <p:cNvSpPr/>
          <p:nvPr/>
        </p:nvSpPr>
        <p:spPr>
          <a:xfrm>
            <a:off x="6313018" y="5733288"/>
            <a:ext cx="457200" cy="457200"/>
          </a:xfrm>
          <a:prstGeom prst="ellipse">
            <a:avLst/>
          </a:prstGeom>
          <a:solidFill>
            <a:schemeClr val="tx2"/>
          </a:solidFill>
          <a:ln/>
        </p:spPr>
      </p:sp>
      <p:sp>
        <p:nvSpPr>
          <p:cNvPr id="95" name="Text 85"/>
          <p:cNvSpPr txBox="1"/>
          <p:nvPr/>
        </p:nvSpPr>
        <p:spPr>
          <a:xfrm>
            <a:off x="6313018" y="573328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96" name="Text 86"/>
          <p:cNvSpPr txBox="1"/>
          <p:nvPr/>
        </p:nvSpPr>
        <p:spPr>
          <a:xfrm>
            <a:off x="6907378" y="5623560"/>
            <a:ext cx="1828800" cy="685800"/>
          </a:xfrm>
          <a:prstGeom prst="rect">
            <a:avLst/>
          </a:prstGeom>
          <a:noFill/>
          <a:ln/>
        </p:spPr>
        <p:txBody>
          <a:bodyPr wrap="square" lIns="0" tIns="0" rIns="0" bIns="0" rtlCol="0" anchor="ctr"/>
          <a:lstStyle/>
          <a:p>
            <a:pPr algn="l" indent="0" marL="0">
              <a:buNone/>
            </a:pPr>
            <a:r>
              <a:rPr lang="en-US" sz="1600" b="1" dirty="0">
                <a:solidFill>
                  <a:schemeClr val="tx1"/>
                </a:solidFill>
              </a:rPr>
              <a:t>AI hiểu sai</a:t>
            </a:r>
            <a:endParaRPr lang="en-US" sz="1600" dirty="0"/>
          </a:p>
        </p:txBody>
      </p:sp>
      <p:sp>
        <p:nvSpPr>
          <p:cNvPr id="97" name="Triage D"/>
          <p:cNvSpPr/>
          <p:nvPr/>
        </p:nvSpPr>
        <p:spPr>
          <a:xfrm>
            <a:off x="8989466" y="5623560"/>
            <a:ext cx="2651760" cy="685800"/>
          </a:xfrm>
          <a:prstGeom prst="roundRect">
            <a:avLst>
              <a:gd name="adj" fmla="val 16000"/>
            </a:avLst>
          </a:prstGeom>
          <a:solidFill>
            <a:schemeClr val="bg2"/>
          </a:solidFill>
          <a:ln/>
        </p:spPr>
      </p:sp>
      <p:sp>
        <p:nvSpPr>
          <p:cNvPr id="98" name="Triage letter D"/>
          <p:cNvSpPr/>
          <p:nvPr/>
        </p:nvSpPr>
        <p:spPr>
          <a:xfrm>
            <a:off x="9126626" y="5733288"/>
            <a:ext cx="457200" cy="457200"/>
          </a:xfrm>
          <a:prstGeom prst="ellipse">
            <a:avLst/>
          </a:prstGeom>
          <a:solidFill>
            <a:schemeClr val="tx2"/>
          </a:solidFill>
          <a:ln/>
        </p:spPr>
      </p:sp>
      <p:sp>
        <p:nvSpPr>
          <p:cNvPr id="99" name="Text 89"/>
          <p:cNvSpPr txBox="1"/>
          <p:nvPr/>
        </p:nvSpPr>
        <p:spPr>
          <a:xfrm>
            <a:off x="9126626" y="573328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100" name="Text 90"/>
          <p:cNvSpPr txBox="1"/>
          <p:nvPr/>
        </p:nvSpPr>
        <p:spPr>
          <a:xfrm>
            <a:off x="9720986" y="5623560"/>
            <a:ext cx="1828800" cy="685800"/>
          </a:xfrm>
          <a:prstGeom prst="rect">
            <a:avLst/>
          </a:prstGeom>
          <a:noFill/>
          <a:ln/>
        </p:spPr>
        <p:txBody>
          <a:bodyPr wrap="square" lIns="0" tIns="0" rIns="0" bIns="0" rtlCol="0" anchor="ctr"/>
          <a:lstStyle/>
          <a:p>
            <a:pPr algn="l" indent="0" marL="0">
              <a:buNone/>
            </a:pPr>
            <a:r>
              <a:rPr lang="en-US" sz="1600" b="1" dirty="0">
                <a:solidFill>
                  <a:schemeClr val="tx1"/>
                </a:solidFill>
              </a:rPr>
              <a:t>Yêu cầu thay đổi</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latin typeface="+mj-lt" pitchFamily="34" charset="0"/>
                <a:ea typeface="+mj-lt" pitchFamily="34" charset="-122"/>
                <a:cs typeface="+mj-lt" pitchFamily="34" charset="-120"/>
              </a:rPr>
              <a:t>Ba AI nối nhau, một công cụ quyết định</a:t>
            </a:r>
            <a:endParaRPr lang="en-US" sz="3600" dirty="0"/>
          </a:p>
        </p:txBody>
      </p:sp>
      <p:sp>
        <p:nvSpPr>
          <p:cNvPr id="3" name="Flow box 1"/>
          <p:cNvSpPr/>
          <p:nvPr/>
        </p:nvSpPr>
        <p:spPr>
          <a:xfrm>
            <a:off x="548640" y="1371600"/>
            <a:ext cx="4846320" cy="566928"/>
          </a:xfrm>
          <a:prstGeom prst="roundRect">
            <a:avLst>
              <a:gd name="adj" fmla="val 16129"/>
            </a:avLst>
          </a:prstGeom>
          <a:solidFill>
            <a:schemeClr val="accent2"/>
          </a:solidFill>
          <a:ln/>
        </p:spPr>
      </p:sp>
      <p:pic>
        <p:nvPicPr>
          <p:cNvPr id="4" name="Image 0" descr="TicketAlt icon">    </p:cNvPr>
          <p:cNvPicPr>
            <a:picLocks noChangeAspect="1"/>
          </p:cNvPicPr>
          <p:nvPr/>
        </p:nvPicPr>
        <p:blipFill>
          <a:blip r:embed="rId1"/>
          <a:stretch>
            <a:fillRect/>
          </a:stretch>
        </p:blipFill>
        <p:spPr>
          <a:xfrm>
            <a:off x="713232" y="1490472"/>
            <a:ext cx="329184" cy="329184"/>
          </a:xfrm>
          <a:prstGeom prst="rect">
            <a:avLst/>
          </a:prstGeom>
        </p:spPr>
      </p:pic>
      <p:sp>
        <p:nvSpPr>
          <p:cNvPr id="5" name="Text 2"/>
          <p:cNvSpPr txBox="1"/>
          <p:nvPr/>
        </p:nvSpPr>
        <p:spPr>
          <a:xfrm>
            <a:off x="1234440" y="1371600"/>
            <a:ext cx="4023360" cy="566928"/>
          </a:xfrm>
          <a:prstGeom prst="rect">
            <a:avLst/>
          </a:prstGeom>
          <a:noFill/>
          <a:ln/>
        </p:spPr>
        <p:txBody>
          <a:bodyPr wrap="square" lIns="0" tIns="0" rIns="0" bIns="0" rtlCol="0" anchor="ctr"/>
          <a:lstStyle/>
          <a:p>
            <a:pPr algn="l" indent="0" marL="0">
              <a:buNone/>
            </a:pPr>
            <a:r>
              <a:rPr lang="en-US" sz="1400" b="1" dirty="0">
                <a:solidFill>
                  <a:schemeClr val="tx1"/>
                </a:solidFill>
              </a:rPr>
              <a:t>Ticket Jira</a:t>
            </a:r>
            <a:endParaRPr lang="en-US" sz="1400" dirty="0"/>
          </a:p>
        </p:txBody>
      </p:sp>
      <p:sp>
        <p:nvSpPr>
          <p:cNvPr id="6" name="Flow arrow 1"/>
          <p:cNvSpPr/>
          <p:nvPr/>
        </p:nvSpPr>
        <p:spPr>
          <a:xfrm>
            <a:off x="2971800" y="1938528"/>
            <a:ext cx="0" cy="146304"/>
          </a:xfrm>
          <a:prstGeom prst="line">
            <a:avLst/>
          </a:prstGeom>
          <a:noFill/>
          <a:ln w="19050">
            <a:solidFill>
              <a:schemeClr val="tx2"/>
            </a:solidFill>
            <a:prstDash val="solid"/>
            <a:tailEnd type="triangle"/>
          </a:ln>
        </p:spPr>
      </p:sp>
      <p:sp>
        <p:nvSpPr>
          <p:cNvPr id="7" name="Flow box 2"/>
          <p:cNvSpPr/>
          <p:nvPr/>
        </p:nvSpPr>
        <p:spPr>
          <a:xfrm>
            <a:off x="548640" y="2084832"/>
            <a:ext cx="4846320" cy="566928"/>
          </a:xfrm>
          <a:prstGeom prst="roundRect">
            <a:avLst>
              <a:gd name="adj" fmla="val 16129"/>
            </a:avLst>
          </a:prstGeom>
          <a:solidFill>
            <a:schemeClr val="accent1"/>
          </a:solidFill>
          <a:ln/>
        </p:spPr>
      </p:sp>
      <p:pic>
        <p:nvPicPr>
          <p:cNvPr id="8" name="Image 1" descr="Search icon">    </p:cNvPr>
          <p:cNvPicPr>
            <a:picLocks noChangeAspect="1"/>
          </p:cNvPicPr>
          <p:nvPr/>
        </p:nvPicPr>
        <p:blipFill>
          <a:blip r:embed="rId2"/>
          <a:stretch>
            <a:fillRect/>
          </a:stretch>
        </p:blipFill>
        <p:spPr>
          <a:xfrm>
            <a:off x="713232" y="2203704"/>
            <a:ext cx="329184" cy="329184"/>
          </a:xfrm>
          <a:prstGeom prst="rect">
            <a:avLst/>
          </a:prstGeom>
        </p:spPr>
      </p:pic>
      <p:sp>
        <p:nvSpPr>
          <p:cNvPr id="9" name="Text 5"/>
          <p:cNvSpPr txBox="1"/>
          <p:nvPr/>
        </p:nvSpPr>
        <p:spPr>
          <a:xfrm>
            <a:off x="1234440" y="2084832"/>
            <a:ext cx="4023360" cy="566928"/>
          </a:xfrm>
          <a:prstGeom prst="rect">
            <a:avLst/>
          </a:prstGeom>
          <a:noFill/>
          <a:ln/>
        </p:spPr>
        <p:txBody>
          <a:bodyPr wrap="square" lIns="0" tIns="0" rIns="0" bIns="0" rtlCol="0" anchor="ctr"/>
          <a:lstStyle/>
          <a:p>
            <a:pPr algn="l" indent="0" marL="0">
              <a:buNone/>
            </a:pPr>
            <a:r>
              <a:rPr lang="en-US" sz="1400" b="1" dirty="0">
                <a:solidFill>
                  <a:schemeClr val="bg1"/>
                </a:solidFill>
              </a:rPr>
              <a:t>AI #1 · Tách rule (mơ hồ → dừng)</a:t>
            </a:r>
            <a:endParaRPr lang="en-US" sz="1400" dirty="0"/>
          </a:p>
        </p:txBody>
      </p:sp>
      <p:sp>
        <p:nvSpPr>
          <p:cNvPr id="10" name="Flow arrow 2"/>
          <p:cNvSpPr/>
          <p:nvPr/>
        </p:nvSpPr>
        <p:spPr>
          <a:xfrm>
            <a:off x="2971800" y="2651760"/>
            <a:ext cx="0" cy="146304"/>
          </a:xfrm>
          <a:prstGeom prst="line">
            <a:avLst/>
          </a:prstGeom>
          <a:noFill/>
          <a:ln w="19050">
            <a:solidFill>
              <a:schemeClr val="tx2"/>
            </a:solidFill>
            <a:prstDash val="solid"/>
            <a:tailEnd type="triangle"/>
          </a:ln>
        </p:spPr>
      </p:sp>
      <p:sp>
        <p:nvSpPr>
          <p:cNvPr id="11" name="Flow box 3"/>
          <p:cNvSpPr/>
          <p:nvPr/>
        </p:nvSpPr>
        <p:spPr>
          <a:xfrm>
            <a:off x="548640" y="2798064"/>
            <a:ext cx="4846320" cy="566928"/>
          </a:xfrm>
          <a:prstGeom prst="roundRect">
            <a:avLst>
              <a:gd name="adj" fmla="val 16129"/>
            </a:avLst>
          </a:prstGeom>
          <a:solidFill>
            <a:schemeClr val="accent1"/>
          </a:solidFill>
          <a:ln/>
        </p:spPr>
      </p:sp>
      <p:pic>
        <p:nvPicPr>
          <p:cNvPr id="12" name="Image 2" descr="ClipboardList icon">    </p:cNvPr>
          <p:cNvPicPr>
            <a:picLocks noChangeAspect="1"/>
          </p:cNvPicPr>
          <p:nvPr/>
        </p:nvPicPr>
        <p:blipFill>
          <a:blip r:embed="rId3"/>
          <a:stretch>
            <a:fillRect/>
          </a:stretch>
        </p:blipFill>
        <p:spPr>
          <a:xfrm>
            <a:off x="713232" y="2916936"/>
            <a:ext cx="329184" cy="329184"/>
          </a:xfrm>
          <a:prstGeom prst="rect">
            <a:avLst/>
          </a:prstGeom>
        </p:spPr>
      </p:pic>
      <p:sp>
        <p:nvSpPr>
          <p:cNvPr id="13" name="Text 8"/>
          <p:cNvSpPr txBox="1"/>
          <p:nvPr/>
        </p:nvSpPr>
        <p:spPr>
          <a:xfrm>
            <a:off x="1234440" y="2798064"/>
            <a:ext cx="4023360" cy="566928"/>
          </a:xfrm>
          <a:prstGeom prst="rect">
            <a:avLst/>
          </a:prstGeom>
          <a:noFill/>
          <a:ln/>
        </p:spPr>
        <p:txBody>
          <a:bodyPr wrap="square" lIns="0" tIns="0" rIns="0" bIns="0" rtlCol="0" anchor="ctr"/>
          <a:lstStyle/>
          <a:p>
            <a:pPr algn="l" indent="0" marL="0">
              <a:buNone/>
            </a:pPr>
            <a:r>
              <a:rPr lang="en-US" sz="1400" b="1" dirty="0">
                <a:solidFill>
                  <a:schemeClr val="bg1"/>
                </a:solidFill>
              </a:rPr>
              <a:t>AI #2 · Thiết kế test case</a:t>
            </a:r>
            <a:endParaRPr lang="en-US" sz="1400" dirty="0"/>
          </a:p>
        </p:txBody>
      </p:sp>
      <p:sp>
        <p:nvSpPr>
          <p:cNvPr id="14" name="Flow arrow 3"/>
          <p:cNvSpPr/>
          <p:nvPr/>
        </p:nvSpPr>
        <p:spPr>
          <a:xfrm>
            <a:off x="2971800" y="3364992"/>
            <a:ext cx="0" cy="146304"/>
          </a:xfrm>
          <a:prstGeom prst="line">
            <a:avLst/>
          </a:prstGeom>
          <a:noFill/>
          <a:ln w="19050">
            <a:solidFill>
              <a:schemeClr val="tx2"/>
            </a:solidFill>
            <a:prstDash val="solid"/>
            <a:tailEnd type="triangle"/>
          </a:ln>
        </p:spPr>
      </p:sp>
      <p:sp>
        <p:nvSpPr>
          <p:cNvPr id="15" name="Flow box 4"/>
          <p:cNvSpPr/>
          <p:nvPr/>
        </p:nvSpPr>
        <p:spPr>
          <a:xfrm>
            <a:off x="548640" y="3511296"/>
            <a:ext cx="4846320" cy="566928"/>
          </a:xfrm>
          <a:prstGeom prst="roundRect">
            <a:avLst>
              <a:gd name="adj" fmla="val 16129"/>
            </a:avLst>
          </a:prstGeom>
          <a:solidFill>
            <a:schemeClr val="accent2"/>
          </a:solidFill>
          <a:ln/>
        </p:spPr>
      </p:sp>
      <p:pic>
        <p:nvPicPr>
          <p:cNvPr id="16" name="Image 3" descr="UserCheck icon">    </p:cNvPr>
          <p:cNvPicPr>
            <a:picLocks noChangeAspect="1"/>
          </p:cNvPicPr>
          <p:nvPr/>
        </p:nvPicPr>
        <p:blipFill>
          <a:blip r:embed="rId4"/>
          <a:stretch>
            <a:fillRect/>
          </a:stretch>
        </p:blipFill>
        <p:spPr>
          <a:xfrm>
            <a:off x="713232" y="3630168"/>
            <a:ext cx="329184" cy="329184"/>
          </a:xfrm>
          <a:prstGeom prst="rect">
            <a:avLst/>
          </a:prstGeom>
        </p:spPr>
      </p:pic>
      <p:sp>
        <p:nvSpPr>
          <p:cNvPr id="17" name="Text 11"/>
          <p:cNvSpPr txBox="1"/>
          <p:nvPr/>
        </p:nvSpPr>
        <p:spPr>
          <a:xfrm>
            <a:off x="1234440" y="3511296"/>
            <a:ext cx="4023360" cy="566928"/>
          </a:xfrm>
          <a:prstGeom prst="rect">
            <a:avLst/>
          </a:prstGeom>
          <a:noFill/>
          <a:ln/>
        </p:spPr>
        <p:txBody>
          <a:bodyPr wrap="square" lIns="0" tIns="0" rIns="0" bIns="0" rtlCol="0" anchor="ctr"/>
          <a:lstStyle/>
          <a:p>
            <a:pPr algn="l" indent="0" marL="0">
              <a:buNone/>
            </a:pPr>
            <a:r>
              <a:rPr lang="en-US" sz="1400" b="1" dirty="0">
                <a:solidFill>
                  <a:schemeClr val="tx1"/>
                </a:solidFill>
              </a:rPr>
              <a:t>Người duyệt rule + case</a:t>
            </a:r>
            <a:endParaRPr lang="en-US" sz="1400" dirty="0"/>
          </a:p>
        </p:txBody>
      </p:sp>
      <p:sp>
        <p:nvSpPr>
          <p:cNvPr id="18" name="Flow arrow 4"/>
          <p:cNvSpPr/>
          <p:nvPr/>
        </p:nvSpPr>
        <p:spPr>
          <a:xfrm>
            <a:off x="2971800" y="4078224"/>
            <a:ext cx="0" cy="146304"/>
          </a:xfrm>
          <a:prstGeom prst="line">
            <a:avLst/>
          </a:prstGeom>
          <a:noFill/>
          <a:ln w="19050">
            <a:solidFill>
              <a:schemeClr val="tx2"/>
            </a:solidFill>
            <a:prstDash val="solid"/>
            <a:tailEnd type="triangle"/>
          </a:ln>
        </p:spPr>
      </p:sp>
      <p:sp>
        <p:nvSpPr>
          <p:cNvPr id="19" name="Flow box 5"/>
          <p:cNvSpPr/>
          <p:nvPr/>
        </p:nvSpPr>
        <p:spPr>
          <a:xfrm>
            <a:off x="548640" y="4224528"/>
            <a:ext cx="4846320" cy="566928"/>
          </a:xfrm>
          <a:prstGeom prst="roundRect">
            <a:avLst>
              <a:gd name="adj" fmla="val 16129"/>
            </a:avLst>
          </a:prstGeom>
          <a:solidFill>
            <a:schemeClr val="accent1"/>
          </a:solidFill>
          <a:ln/>
        </p:spPr>
      </p:sp>
      <p:pic>
        <p:nvPicPr>
          <p:cNvPr id="20" name="Image 4" descr="MobileAlt icon">    </p:cNvPr>
          <p:cNvPicPr>
            <a:picLocks noChangeAspect="1"/>
          </p:cNvPicPr>
          <p:nvPr/>
        </p:nvPicPr>
        <p:blipFill>
          <a:blip r:embed="rId5"/>
          <a:stretch>
            <a:fillRect/>
          </a:stretch>
        </p:blipFill>
        <p:spPr>
          <a:xfrm>
            <a:off x="713232" y="4343400"/>
            <a:ext cx="329184" cy="329184"/>
          </a:xfrm>
          <a:prstGeom prst="rect">
            <a:avLst/>
          </a:prstGeom>
        </p:spPr>
      </p:pic>
      <p:sp>
        <p:nvSpPr>
          <p:cNvPr id="21" name="Text 14"/>
          <p:cNvSpPr txBox="1"/>
          <p:nvPr/>
        </p:nvSpPr>
        <p:spPr>
          <a:xfrm>
            <a:off x="1234440" y="4224528"/>
            <a:ext cx="4023360" cy="566928"/>
          </a:xfrm>
          <a:prstGeom prst="rect">
            <a:avLst/>
          </a:prstGeom>
          <a:noFill/>
          <a:ln/>
        </p:spPr>
        <p:txBody>
          <a:bodyPr wrap="square" lIns="0" tIns="0" rIns="0" bIns="0" rtlCol="0" anchor="ctr"/>
          <a:lstStyle/>
          <a:p>
            <a:pPr algn="l" indent="0" marL="0">
              <a:buNone/>
            </a:pPr>
            <a:r>
              <a:rPr lang="en-US" sz="1400" b="1" dirty="0">
                <a:solidFill>
                  <a:schemeClr val="bg1"/>
                </a:solidFill>
              </a:rPr>
              <a:t>AI #3 · Viết test trên app thật</a:t>
            </a:r>
            <a:endParaRPr lang="en-US" sz="1400" dirty="0"/>
          </a:p>
        </p:txBody>
      </p:sp>
      <p:sp>
        <p:nvSpPr>
          <p:cNvPr id="22" name="Flow arrow 5"/>
          <p:cNvSpPr/>
          <p:nvPr/>
        </p:nvSpPr>
        <p:spPr>
          <a:xfrm>
            <a:off x="2971800" y="4791456"/>
            <a:ext cx="0" cy="146304"/>
          </a:xfrm>
          <a:prstGeom prst="line">
            <a:avLst/>
          </a:prstGeom>
          <a:noFill/>
          <a:ln w="19050">
            <a:solidFill>
              <a:schemeClr val="tx2"/>
            </a:solidFill>
            <a:prstDash val="solid"/>
            <a:tailEnd type="triangle"/>
          </a:ln>
        </p:spPr>
      </p:sp>
      <p:sp>
        <p:nvSpPr>
          <p:cNvPr id="23" name="Flow box 6"/>
          <p:cNvSpPr/>
          <p:nvPr/>
        </p:nvSpPr>
        <p:spPr>
          <a:xfrm>
            <a:off x="548640" y="4937760"/>
            <a:ext cx="4846320" cy="566928"/>
          </a:xfrm>
          <a:prstGeom prst="roundRect">
            <a:avLst>
              <a:gd name="adj" fmla="val 16129"/>
            </a:avLst>
          </a:prstGeom>
          <a:solidFill>
            <a:schemeClr val="accent3"/>
          </a:solidFill>
          <a:ln/>
        </p:spPr>
      </p:sp>
      <p:pic>
        <p:nvPicPr>
          <p:cNvPr id="24" name="Image 5" descr="CheckCircle icon">    </p:cNvPr>
          <p:cNvPicPr>
            <a:picLocks noChangeAspect="1"/>
          </p:cNvPicPr>
          <p:nvPr/>
        </p:nvPicPr>
        <p:blipFill>
          <a:blip r:embed="rId6"/>
          <a:stretch>
            <a:fillRect/>
          </a:stretch>
        </p:blipFill>
        <p:spPr>
          <a:xfrm>
            <a:off x="713232" y="5056632"/>
            <a:ext cx="329184" cy="329184"/>
          </a:xfrm>
          <a:prstGeom prst="rect">
            <a:avLst/>
          </a:prstGeom>
        </p:spPr>
      </p:pic>
      <p:sp>
        <p:nvSpPr>
          <p:cNvPr id="25" name="Text 17"/>
          <p:cNvSpPr txBox="1"/>
          <p:nvPr/>
        </p:nvSpPr>
        <p:spPr>
          <a:xfrm>
            <a:off x="1234440" y="4937760"/>
            <a:ext cx="4023360" cy="566928"/>
          </a:xfrm>
          <a:prstGeom prst="rect">
            <a:avLst/>
          </a:prstGeom>
          <a:noFill/>
          <a:ln/>
        </p:spPr>
        <p:txBody>
          <a:bodyPr wrap="square" lIns="0" tIns="0" rIns="0" bIns="0" rtlCol="0" anchor="ctr"/>
          <a:lstStyle/>
          <a:p>
            <a:pPr algn="l" indent="0" marL="0">
              <a:buNone/>
            </a:pPr>
            <a:r>
              <a:rPr lang="en-US" sz="1400" b="1" dirty="0">
                <a:solidFill>
                  <a:schemeClr val="bg1"/>
                </a:solidFill>
              </a:rPr>
              <a:t>Maestro chạy test = phán quyết (không AI)</a:t>
            </a:r>
            <a:endParaRPr lang="en-US" sz="1400" dirty="0"/>
          </a:p>
        </p:txBody>
      </p:sp>
      <p:sp>
        <p:nvSpPr>
          <p:cNvPr id="26" name="Flow arrow 6"/>
          <p:cNvSpPr/>
          <p:nvPr/>
        </p:nvSpPr>
        <p:spPr>
          <a:xfrm>
            <a:off x="2971800" y="5504688"/>
            <a:ext cx="0" cy="146304"/>
          </a:xfrm>
          <a:prstGeom prst="line">
            <a:avLst/>
          </a:prstGeom>
          <a:noFill/>
          <a:ln w="19050">
            <a:solidFill>
              <a:schemeClr val="tx2"/>
            </a:solidFill>
            <a:prstDash val="solid"/>
            <a:tailEnd type="triangle"/>
          </a:ln>
        </p:spPr>
      </p:sp>
      <p:sp>
        <p:nvSpPr>
          <p:cNvPr id="27" name="Flow box 7"/>
          <p:cNvSpPr/>
          <p:nvPr/>
        </p:nvSpPr>
        <p:spPr>
          <a:xfrm>
            <a:off x="548640" y="5650992"/>
            <a:ext cx="4846320" cy="566928"/>
          </a:xfrm>
          <a:prstGeom prst="roundRect">
            <a:avLst>
              <a:gd name="adj" fmla="val 16129"/>
            </a:avLst>
          </a:prstGeom>
          <a:solidFill>
            <a:schemeClr val="accent2"/>
          </a:solidFill>
          <a:ln/>
        </p:spPr>
      </p:sp>
      <p:pic>
        <p:nvPicPr>
          <p:cNvPr id="28" name="Image 6" descr="CodeBranch icon">    </p:cNvPr>
          <p:cNvPicPr>
            <a:picLocks noChangeAspect="1"/>
          </p:cNvPicPr>
          <p:nvPr/>
        </p:nvPicPr>
        <p:blipFill>
          <a:blip r:embed="rId7"/>
          <a:stretch>
            <a:fillRect/>
          </a:stretch>
        </p:blipFill>
        <p:spPr>
          <a:xfrm>
            <a:off x="713232" y="5769864"/>
            <a:ext cx="329184" cy="329184"/>
          </a:xfrm>
          <a:prstGeom prst="rect">
            <a:avLst/>
          </a:prstGeom>
        </p:spPr>
      </p:pic>
      <p:sp>
        <p:nvSpPr>
          <p:cNvPr id="29" name="Text 20"/>
          <p:cNvSpPr txBox="1"/>
          <p:nvPr/>
        </p:nvSpPr>
        <p:spPr>
          <a:xfrm>
            <a:off x="1234440" y="5650992"/>
            <a:ext cx="4023360" cy="566928"/>
          </a:xfrm>
          <a:prstGeom prst="rect">
            <a:avLst/>
          </a:prstGeom>
          <a:noFill/>
          <a:ln/>
        </p:spPr>
        <p:txBody>
          <a:bodyPr wrap="square" lIns="0" tIns="0" rIns="0" bIns="0" rtlCol="0" anchor="ctr"/>
          <a:lstStyle/>
          <a:p>
            <a:pPr algn="l" indent="0" marL="0">
              <a:buNone/>
            </a:pPr>
            <a:r>
              <a:rPr lang="en-US" sz="1400" b="1" dirty="0">
                <a:solidFill>
                  <a:schemeClr val="tx1"/>
                </a:solidFill>
              </a:rPr>
              <a:t>Pull request → người merge</a:t>
            </a:r>
            <a:endParaRPr lang="en-US" sz="1400" dirty="0"/>
          </a:p>
        </p:txBody>
      </p:sp>
      <p:sp>
        <p:nvSpPr>
          <p:cNvPr id="30" name="Text 21"/>
          <p:cNvSpPr txBox="1"/>
          <p:nvPr/>
        </p:nvSpPr>
        <p:spPr>
          <a:xfrm>
            <a:off x="5852160" y="1280160"/>
            <a:ext cx="5760720" cy="320040"/>
          </a:xfrm>
          <a:prstGeom prst="rect">
            <a:avLst/>
          </a:prstGeom>
          <a:noFill/>
          <a:ln/>
        </p:spPr>
        <p:txBody>
          <a:bodyPr wrap="square" lIns="0" tIns="0" rIns="0" bIns="0" rtlCol="0" anchor="t"/>
          <a:lstStyle/>
          <a:p>
            <a:pPr algn="l" indent="0" marL="0">
              <a:buNone/>
            </a:pPr>
            <a:r>
              <a:rPr lang="en-US" sz="2000" b="1" dirty="0">
                <a:solidFill>
                  <a:schemeClr val="tx1"/>
                </a:solidFill>
              </a:rPr>
              <a:t>6 chốt chặn</a:t>
            </a:r>
            <a:endParaRPr lang="en-US" sz="2000" dirty="0"/>
          </a:p>
        </p:txBody>
      </p:sp>
      <p:sp>
        <p:nvSpPr>
          <p:cNvPr id="31" name="Text 22"/>
          <p:cNvSpPr txBox="1"/>
          <p:nvPr/>
        </p:nvSpPr>
        <p:spPr>
          <a:xfrm>
            <a:off x="5852160" y="1627632"/>
            <a:ext cx="5760720" cy="256032"/>
          </a:xfrm>
          <a:prstGeom prst="rect">
            <a:avLst/>
          </a:prstGeom>
          <a:noFill/>
          <a:ln/>
        </p:spPr>
        <p:txBody>
          <a:bodyPr wrap="square" lIns="0" tIns="0" rIns="0" bIns="0" rtlCol="0" anchor="t"/>
          <a:lstStyle/>
          <a:p>
            <a:pPr algn="l" indent="0" marL="0">
              <a:buNone/>
            </a:pPr>
            <a:r>
              <a:rPr lang="en-US" sz="1200" dirty="0">
                <a:solidFill>
                  <a:schemeClr val="tx2"/>
                </a:solidFill>
              </a:rPr>
              <a:t>CODE / CI: máy ép · PROMPT: mới là chỉ dẫn cho AI</a:t>
            </a:r>
            <a:endParaRPr lang="en-US" sz="1200" dirty="0"/>
          </a:p>
        </p:txBody>
      </p:sp>
      <p:sp>
        <p:nvSpPr>
          <p:cNvPr id="32" name="Control 1"/>
          <p:cNvSpPr/>
          <p:nvPr/>
        </p:nvSpPr>
        <p:spPr>
          <a:xfrm>
            <a:off x="5852160" y="1965960"/>
            <a:ext cx="5788152" cy="621792"/>
          </a:xfrm>
          <a:prstGeom prst="roundRect">
            <a:avLst>
              <a:gd name="adj" fmla="val 17647"/>
            </a:avLst>
          </a:prstGeom>
          <a:solidFill>
            <a:schemeClr val="bg2"/>
          </a:solidFill>
          <a:ln/>
        </p:spPr>
      </p:sp>
      <p:sp>
        <p:nvSpPr>
          <p:cNvPr id="33" name="Icon circle FaCheckCircle"/>
          <p:cNvSpPr/>
          <p:nvPr/>
        </p:nvSpPr>
        <p:spPr>
          <a:xfrm>
            <a:off x="5961888" y="2075688"/>
            <a:ext cx="402336" cy="402336"/>
          </a:xfrm>
          <a:prstGeom prst="ellipse">
            <a:avLst/>
          </a:prstGeom>
          <a:solidFill>
            <a:schemeClr val="tx2"/>
          </a:solidFill>
          <a:ln/>
        </p:spPr>
      </p:sp>
      <p:pic>
        <p:nvPicPr>
          <p:cNvPr id="34" name="Image 7" descr="CheckCircle icon">    </p:cNvPr>
          <p:cNvPicPr>
            <a:picLocks noChangeAspect="1"/>
          </p:cNvPicPr>
          <p:nvPr/>
        </p:nvPicPr>
        <p:blipFill>
          <a:blip r:embed="rId8"/>
          <a:stretch>
            <a:fillRect/>
          </a:stretch>
        </p:blipFill>
        <p:spPr>
          <a:xfrm>
            <a:off x="6058449" y="2172249"/>
            <a:ext cx="209215" cy="209215"/>
          </a:xfrm>
          <a:prstGeom prst="rect">
            <a:avLst/>
          </a:prstGeom>
        </p:spPr>
      </p:pic>
      <p:sp>
        <p:nvSpPr>
          <p:cNvPr id="35" name="Text 25"/>
          <p:cNvSpPr txBox="1"/>
          <p:nvPr/>
        </p:nvSpPr>
        <p:spPr>
          <a:xfrm>
            <a:off x="6492240" y="2002536"/>
            <a:ext cx="3840480" cy="548640"/>
          </a:xfrm>
          <a:prstGeom prst="rect">
            <a:avLst/>
          </a:prstGeom>
          <a:noFill/>
          <a:ln/>
        </p:spPr>
        <p:txBody>
          <a:bodyPr wrap="square" lIns="0" tIns="0" rIns="0" bIns="0" rtlCol="0" anchor="ctr"/>
          <a:lstStyle/>
          <a:p>
            <a:pPr algn="l" indent="0" marL="0">
              <a:buNone/>
            </a:pPr>
            <a:r>
              <a:rPr lang="en-US" sz="1400" b="1" dirty="0">
                <a:solidFill>
                  <a:schemeClr val="tx1"/>
                </a:solidFill>
              </a:rPr>
              <a:t>Pass/fail</a:t>
            </a:r>
            <a:endParaRPr lang="en-US" sz="1400" dirty="0"/>
          </a:p>
          <a:p>
            <a:pPr algn="l" indent="0" marL="0">
              <a:buNone/>
            </a:pPr>
            <a:r>
              <a:rPr lang="en-US" sz="1200" dirty="0">
                <a:solidFill>
                  <a:schemeClr val="tx2"/>
                </a:solidFill>
              </a:rPr>
              <a:t>Do kết quả của Maestro; CI không có bước AI</a:t>
            </a:r>
            <a:endParaRPr lang="en-US" sz="1400" dirty="0"/>
          </a:p>
        </p:txBody>
      </p:sp>
      <p:sp>
        <p:nvSpPr>
          <p:cNvPr id="36" name="Pill CODE / CI"/>
          <p:cNvSpPr/>
          <p:nvPr/>
        </p:nvSpPr>
        <p:spPr>
          <a:xfrm>
            <a:off x="10515600" y="2148840"/>
            <a:ext cx="1005840" cy="256032"/>
          </a:xfrm>
          <a:prstGeom prst="roundRect">
            <a:avLst>
              <a:gd name="adj" fmla="val 50000"/>
            </a:avLst>
          </a:prstGeom>
          <a:solidFill>
            <a:schemeClr val="tx2"/>
          </a:solidFill>
          <a:ln/>
        </p:spPr>
      </p:sp>
      <p:sp>
        <p:nvSpPr>
          <p:cNvPr id="37" name="Text 27"/>
          <p:cNvSpPr txBox="1"/>
          <p:nvPr/>
        </p:nvSpPr>
        <p:spPr>
          <a:xfrm>
            <a:off x="10515600" y="2148840"/>
            <a:ext cx="1005840" cy="256032"/>
          </a:xfrm>
          <a:prstGeom prst="rect">
            <a:avLst/>
          </a:prstGeom>
          <a:noFill/>
          <a:ln/>
        </p:spPr>
        <p:txBody>
          <a:bodyPr wrap="square" lIns="0" tIns="0" rIns="0" bIns="0" rtlCol="0" anchor="ctr"/>
          <a:lstStyle/>
          <a:p>
            <a:pPr algn="ctr" indent="0" marL="0">
              <a:buNone/>
            </a:pPr>
            <a:r>
              <a:rPr lang="en-US" sz="1000" b="1" dirty="0">
                <a:solidFill>
                  <a:srgbClr val="FFFFFF"/>
                </a:solidFill>
              </a:rPr>
              <a:t>CODE / CI</a:t>
            </a:r>
            <a:endParaRPr lang="en-US" sz="1000" dirty="0"/>
          </a:p>
        </p:txBody>
      </p:sp>
      <p:sp>
        <p:nvSpPr>
          <p:cNvPr id="38" name="Control 2"/>
          <p:cNvSpPr/>
          <p:nvPr/>
        </p:nvSpPr>
        <p:spPr>
          <a:xfrm>
            <a:off x="5852160" y="2660904"/>
            <a:ext cx="5788152" cy="621792"/>
          </a:xfrm>
          <a:prstGeom prst="roundRect">
            <a:avLst>
              <a:gd name="adj" fmla="val 17647"/>
            </a:avLst>
          </a:prstGeom>
          <a:solidFill>
            <a:schemeClr val="bg2"/>
          </a:solidFill>
          <a:ln/>
        </p:spPr>
      </p:sp>
      <p:sp>
        <p:nvSpPr>
          <p:cNvPr id="39" name="Icon circle FaClipboardList"/>
          <p:cNvSpPr/>
          <p:nvPr/>
        </p:nvSpPr>
        <p:spPr>
          <a:xfrm>
            <a:off x="5961888" y="2770632"/>
            <a:ext cx="402336" cy="402336"/>
          </a:xfrm>
          <a:prstGeom prst="ellipse">
            <a:avLst/>
          </a:prstGeom>
          <a:solidFill>
            <a:schemeClr val="tx2"/>
          </a:solidFill>
          <a:ln/>
        </p:spPr>
      </p:sp>
      <p:pic>
        <p:nvPicPr>
          <p:cNvPr id="40" name="Image 8" descr="ClipboardList icon">    </p:cNvPr>
          <p:cNvPicPr>
            <a:picLocks noChangeAspect="1"/>
          </p:cNvPicPr>
          <p:nvPr/>
        </p:nvPicPr>
        <p:blipFill>
          <a:blip r:embed="rId9"/>
          <a:stretch>
            <a:fillRect/>
          </a:stretch>
        </p:blipFill>
        <p:spPr>
          <a:xfrm>
            <a:off x="6058449" y="2867193"/>
            <a:ext cx="209215" cy="209215"/>
          </a:xfrm>
          <a:prstGeom prst="rect">
            <a:avLst/>
          </a:prstGeom>
        </p:spPr>
      </p:pic>
      <p:sp>
        <p:nvSpPr>
          <p:cNvPr id="41" name="Text 30"/>
          <p:cNvSpPr txBox="1"/>
          <p:nvPr/>
        </p:nvSpPr>
        <p:spPr>
          <a:xfrm>
            <a:off x="6492240" y="2697480"/>
            <a:ext cx="3840480" cy="548640"/>
          </a:xfrm>
          <a:prstGeom prst="rect">
            <a:avLst/>
          </a:prstGeom>
          <a:noFill/>
          <a:ln/>
        </p:spPr>
        <p:txBody>
          <a:bodyPr wrap="square" lIns="0" tIns="0" rIns="0" bIns="0" rtlCol="0" anchor="ctr"/>
          <a:lstStyle/>
          <a:p>
            <a:pPr algn="l" indent="0" marL="0">
              <a:buNone/>
            </a:pPr>
            <a:r>
              <a:rPr lang="en-US" sz="1400" b="1" dirty="0">
                <a:solidFill>
                  <a:schemeClr val="tx1"/>
                </a:solidFill>
              </a:rPr>
              <a:t>Đủ yêu cầu</a:t>
            </a:r>
            <a:endParaRPr lang="en-US" sz="1400" dirty="0"/>
          </a:p>
          <a:p>
            <a:pPr algn="l" indent="0" marL="0">
              <a:buNone/>
            </a:pPr>
            <a:r>
              <a:rPr lang="en-US" sz="1200" dirty="0">
                <a:solidFill>
                  <a:schemeClr val="tx2"/>
                </a:solidFill>
              </a:rPr>
              <a:t>Mỗi rule trong spec phải có test case</a:t>
            </a:r>
            <a:endParaRPr lang="en-US" sz="1400" dirty="0"/>
          </a:p>
        </p:txBody>
      </p:sp>
      <p:sp>
        <p:nvSpPr>
          <p:cNvPr id="42" name="Pill CODE"/>
          <p:cNvSpPr/>
          <p:nvPr/>
        </p:nvSpPr>
        <p:spPr>
          <a:xfrm>
            <a:off x="10515600" y="2843784"/>
            <a:ext cx="1005840" cy="256032"/>
          </a:xfrm>
          <a:prstGeom prst="roundRect">
            <a:avLst>
              <a:gd name="adj" fmla="val 50000"/>
            </a:avLst>
          </a:prstGeom>
          <a:solidFill>
            <a:schemeClr val="tx2"/>
          </a:solidFill>
          <a:ln/>
        </p:spPr>
      </p:sp>
      <p:sp>
        <p:nvSpPr>
          <p:cNvPr id="43" name="Text 32"/>
          <p:cNvSpPr txBox="1"/>
          <p:nvPr/>
        </p:nvSpPr>
        <p:spPr>
          <a:xfrm>
            <a:off x="10515600" y="2843784"/>
            <a:ext cx="1005840" cy="256032"/>
          </a:xfrm>
          <a:prstGeom prst="rect">
            <a:avLst/>
          </a:prstGeom>
          <a:noFill/>
          <a:ln/>
        </p:spPr>
        <p:txBody>
          <a:bodyPr wrap="square" lIns="0" tIns="0" rIns="0" bIns="0" rtlCol="0" anchor="ctr"/>
          <a:lstStyle/>
          <a:p>
            <a:pPr algn="ctr" indent="0" marL="0">
              <a:buNone/>
            </a:pPr>
            <a:r>
              <a:rPr lang="en-US" sz="1000" b="1" dirty="0">
                <a:solidFill>
                  <a:srgbClr val="FFFFFF"/>
                </a:solidFill>
              </a:rPr>
              <a:t>CODE</a:t>
            </a:r>
            <a:endParaRPr lang="en-US" sz="1000" dirty="0"/>
          </a:p>
        </p:txBody>
      </p:sp>
      <p:sp>
        <p:nvSpPr>
          <p:cNvPr id="44" name="Control 3"/>
          <p:cNvSpPr/>
          <p:nvPr/>
        </p:nvSpPr>
        <p:spPr>
          <a:xfrm>
            <a:off x="5852160" y="3355848"/>
            <a:ext cx="5788152" cy="621792"/>
          </a:xfrm>
          <a:prstGeom prst="roundRect">
            <a:avLst>
              <a:gd name="adj" fmla="val 17647"/>
            </a:avLst>
          </a:prstGeom>
          <a:solidFill>
            <a:schemeClr val="bg2"/>
          </a:solidFill>
          <a:ln/>
        </p:spPr>
      </p:sp>
      <p:sp>
        <p:nvSpPr>
          <p:cNvPr id="45" name="Icon circle FaShieldAlt"/>
          <p:cNvSpPr/>
          <p:nvPr/>
        </p:nvSpPr>
        <p:spPr>
          <a:xfrm>
            <a:off x="5961888" y="3465576"/>
            <a:ext cx="402336" cy="402336"/>
          </a:xfrm>
          <a:prstGeom prst="ellipse">
            <a:avLst/>
          </a:prstGeom>
          <a:solidFill>
            <a:schemeClr val="tx2"/>
          </a:solidFill>
          <a:ln/>
        </p:spPr>
      </p:sp>
      <p:pic>
        <p:nvPicPr>
          <p:cNvPr id="46" name="Image 9" descr="ShieldAlt icon">    </p:cNvPr>
          <p:cNvPicPr>
            <a:picLocks noChangeAspect="1"/>
          </p:cNvPicPr>
          <p:nvPr/>
        </p:nvPicPr>
        <p:blipFill>
          <a:blip r:embed="rId10"/>
          <a:stretch>
            <a:fillRect/>
          </a:stretch>
        </p:blipFill>
        <p:spPr>
          <a:xfrm>
            <a:off x="6058449" y="3562137"/>
            <a:ext cx="209215" cy="209215"/>
          </a:xfrm>
          <a:prstGeom prst="rect">
            <a:avLst/>
          </a:prstGeom>
        </p:spPr>
      </p:pic>
      <p:sp>
        <p:nvSpPr>
          <p:cNvPr id="47" name="Text 35"/>
          <p:cNvSpPr txBox="1"/>
          <p:nvPr/>
        </p:nvSpPr>
        <p:spPr>
          <a:xfrm>
            <a:off x="6492240" y="3392424"/>
            <a:ext cx="3840480" cy="548640"/>
          </a:xfrm>
          <a:prstGeom prst="rect">
            <a:avLst/>
          </a:prstGeom>
          <a:noFill/>
          <a:ln/>
        </p:spPr>
        <p:txBody>
          <a:bodyPr wrap="square" lIns="0" tIns="0" rIns="0" bIns="0" rtlCol="0" anchor="ctr"/>
          <a:lstStyle/>
          <a:p>
            <a:pPr algn="l" indent="0" marL="0">
              <a:buNone/>
            </a:pPr>
            <a:r>
              <a:rPr lang="en-US" sz="1400" b="1" dirty="0">
                <a:solidFill>
                  <a:schemeClr val="tx1"/>
                </a:solidFill>
              </a:rPr>
              <a:t>“Xanh” trung thực</a:t>
            </a:r>
            <a:endParaRPr lang="en-US" sz="1400" dirty="0"/>
          </a:p>
          <a:p>
            <a:pPr algn="l" indent="0" marL="0">
              <a:buNone/>
            </a:pPr>
            <a:r>
              <a:rPr lang="en-US" sz="1200" dirty="0">
                <a:solidFill>
                  <a:schemeClr val="tx2"/>
                </a:solidFill>
              </a:rPr>
              <a:t>Chỉ xanh khi mọi rule có test và test pass</a:t>
            </a:r>
            <a:endParaRPr lang="en-US" sz="1400" dirty="0"/>
          </a:p>
        </p:txBody>
      </p:sp>
      <p:sp>
        <p:nvSpPr>
          <p:cNvPr id="48" name="Pill CODE"/>
          <p:cNvSpPr/>
          <p:nvPr/>
        </p:nvSpPr>
        <p:spPr>
          <a:xfrm>
            <a:off x="10515600" y="3538728"/>
            <a:ext cx="1005840" cy="256032"/>
          </a:xfrm>
          <a:prstGeom prst="roundRect">
            <a:avLst>
              <a:gd name="adj" fmla="val 50000"/>
            </a:avLst>
          </a:prstGeom>
          <a:solidFill>
            <a:schemeClr val="tx2"/>
          </a:solidFill>
          <a:ln/>
        </p:spPr>
      </p:sp>
      <p:sp>
        <p:nvSpPr>
          <p:cNvPr id="49" name="Text 37"/>
          <p:cNvSpPr txBox="1"/>
          <p:nvPr/>
        </p:nvSpPr>
        <p:spPr>
          <a:xfrm>
            <a:off x="10515600" y="3538728"/>
            <a:ext cx="1005840" cy="256032"/>
          </a:xfrm>
          <a:prstGeom prst="rect">
            <a:avLst/>
          </a:prstGeom>
          <a:noFill/>
          <a:ln/>
        </p:spPr>
        <p:txBody>
          <a:bodyPr wrap="square" lIns="0" tIns="0" rIns="0" bIns="0" rtlCol="0" anchor="ctr"/>
          <a:lstStyle/>
          <a:p>
            <a:pPr algn="ctr" indent="0" marL="0">
              <a:buNone/>
            </a:pPr>
            <a:r>
              <a:rPr lang="en-US" sz="1000" b="1" dirty="0">
                <a:solidFill>
                  <a:srgbClr val="FFFFFF"/>
                </a:solidFill>
              </a:rPr>
              <a:t>CODE</a:t>
            </a:r>
            <a:endParaRPr lang="en-US" sz="1000" dirty="0"/>
          </a:p>
        </p:txBody>
      </p:sp>
      <p:sp>
        <p:nvSpPr>
          <p:cNvPr id="50" name="Control 4"/>
          <p:cNvSpPr/>
          <p:nvPr/>
        </p:nvSpPr>
        <p:spPr>
          <a:xfrm>
            <a:off x="5852160" y="4050792"/>
            <a:ext cx="5788152" cy="621792"/>
          </a:xfrm>
          <a:prstGeom prst="roundRect">
            <a:avLst>
              <a:gd name="adj" fmla="val 17647"/>
            </a:avLst>
          </a:prstGeom>
          <a:solidFill>
            <a:schemeClr val="bg2"/>
          </a:solidFill>
          <a:ln/>
        </p:spPr>
      </p:sp>
      <p:sp>
        <p:nvSpPr>
          <p:cNvPr id="51" name="Icon circle FaLock"/>
          <p:cNvSpPr/>
          <p:nvPr/>
        </p:nvSpPr>
        <p:spPr>
          <a:xfrm>
            <a:off x="5961888" y="4160520"/>
            <a:ext cx="402336" cy="402336"/>
          </a:xfrm>
          <a:prstGeom prst="ellipse">
            <a:avLst/>
          </a:prstGeom>
          <a:solidFill>
            <a:schemeClr val="tx2"/>
          </a:solidFill>
          <a:ln/>
        </p:spPr>
      </p:sp>
      <p:pic>
        <p:nvPicPr>
          <p:cNvPr id="52" name="Image 10" descr="Lock icon">    </p:cNvPr>
          <p:cNvPicPr>
            <a:picLocks noChangeAspect="1"/>
          </p:cNvPicPr>
          <p:nvPr/>
        </p:nvPicPr>
        <p:blipFill>
          <a:blip r:embed="rId11"/>
          <a:stretch>
            <a:fillRect/>
          </a:stretch>
        </p:blipFill>
        <p:spPr>
          <a:xfrm>
            <a:off x="6058449" y="4257081"/>
            <a:ext cx="209215" cy="209215"/>
          </a:xfrm>
          <a:prstGeom prst="rect">
            <a:avLst/>
          </a:prstGeom>
        </p:spPr>
      </p:pic>
      <p:sp>
        <p:nvSpPr>
          <p:cNvPr id="53" name="Text 40"/>
          <p:cNvSpPr txBox="1"/>
          <p:nvPr/>
        </p:nvSpPr>
        <p:spPr>
          <a:xfrm>
            <a:off x="6492240" y="4087368"/>
            <a:ext cx="3840480" cy="548640"/>
          </a:xfrm>
          <a:prstGeom prst="rect">
            <a:avLst/>
          </a:prstGeom>
          <a:noFill/>
          <a:ln/>
        </p:spPr>
        <p:txBody>
          <a:bodyPr wrap="square" lIns="0" tIns="0" rIns="0" bIns="0" rtlCol="0" anchor="ctr"/>
          <a:lstStyle/>
          <a:p>
            <a:pPr algn="l" indent="0" marL="0">
              <a:buNone/>
            </a:pPr>
            <a:r>
              <a:rPr lang="en-US" sz="1400" b="1" dirty="0">
                <a:solidFill>
                  <a:schemeClr val="tx1"/>
                </a:solidFill>
              </a:rPr>
              <a:t>Không sửa yêu cầu để test qua</a:t>
            </a:r>
            <a:endParaRPr lang="en-US" sz="1400" dirty="0"/>
          </a:p>
          <a:p>
            <a:pPr algn="l" indent="0" marL="0">
              <a:buNone/>
            </a:pPr>
            <a:r>
              <a:rPr lang="en-US" sz="1200" dirty="0">
                <a:solidFill>
                  <a:schemeClr val="tx2"/>
                </a:solidFill>
              </a:rPr>
              <a:t>CI chặn PR sửa spec và test cùng lúc nếu chưa có người duyệt</a:t>
            </a:r>
            <a:endParaRPr lang="en-US" sz="1400" dirty="0"/>
          </a:p>
        </p:txBody>
      </p:sp>
      <p:sp>
        <p:nvSpPr>
          <p:cNvPr id="54" name="Pill CI"/>
          <p:cNvSpPr/>
          <p:nvPr/>
        </p:nvSpPr>
        <p:spPr>
          <a:xfrm>
            <a:off x="10515600" y="4233672"/>
            <a:ext cx="1005840" cy="256032"/>
          </a:xfrm>
          <a:prstGeom prst="roundRect">
            <a:avLst>
              <a:gd name="adj" fmla="val 50000"/>
            </a:avLst>
          </a:prstGeom>
          <a:solidFill>
            <a:schemeClr val="tx2"/>
          </a:solidFill>
          <a:ln/>
        </p:spPr>
      </p:sp>
      <p:sp>
        <p:nvSpPr>
          <p:cNvPr id="55" name="Text 42"/>
          <p:cNvSpPr txBox="1"/>
          <p:nvPr/>
        </p:nvSpPr>
        <p:spPr>
          <a:xfrm>
            <a:off x="10515600" y="4233672"/>
            <a:ext cx="1005840" cy="256032"/>
          </a:xfrm>
          <a:prstGeom prst="rect">
            <a:avLst/>
          </a:prstGeom>
          <a:noFill/>
          <a:ln/>
        </p:spPr>
        <p:txBody>
          <a:bodyPr wrap="square" lIns="0" tIns="0" rIns="0" bIns="0" rtlCol="0" anchor="ctr"/>
          <a:lstStyle/>
          <a:p>
            <a:pPr algn="ctr" indent="0" marL="0">
              <a:buNone/>
            </a:pPr>
            <a:r>
              <a:rPr lang="en-US" sz="1000" b="1" dirty="0">
                <a:solidFill>
                  <a:srgbClr val="FFFFFF"/>
                </a:solidFill>
              </a:rPr>
              <a:t>CI</a:t>
            </a:r>
            <a:endParaRPr lang="en-US" sz="1000" dirty="0"/>
          </a:p>
        </p:txBody>
      </p:sp>
      <p:sp>
        <p:nvSpPr>
          <p:cNvPr id="56" name="Control 5"/>
          <p:cNvSpPr/>
          <p:nvPr/>
        </p:nvSpPr>
        <p:spPr>
          <a:xfrm>
            <a:off x="5852160" y="4745736"/>
            <a:ext cx="5788152" cy="621792"/>
          </a:xfrm>
          <a:prstGeom prst="roundRect">
            <a:avLst>
              <a:gd name="adj" fmla="val 17647"/>
            </a:avLst>
          </a:prstGeom>
          <a:solidFill>
            <a:schemeClr val="bg2"/>
          </a:solidFill>
          <a:ln/>
        </p:spPr>
      </p:sp>
      <p:sp>
        <p:nvSpPr>
          <p:cNvPr id="57" name="Icon circle FaWrench"/>
          <p:cNvSpPr/>
          <p:nvPr/>
        </p:nvSpPr>
        <p:spPr>
          <a:xfrm>
            <a:off x="5961888" y="4855464"/>
            <a:ext cx="402336" cy="402336"/>
          </a:xfrm>
          <a:prstGeom prst="ellipse">
            <a:avLst/>
          </a:prstGeom>
          <a:solidFill>
            <a:schemeClr val="tx2"/>
          </a:solidFill>
          <a:ln/>
        </p:spPr>
      </p:sp>
      <p:pic>
        <p:nvPicPr>
          <p:cNvPr id="58" name="Image 11" descr="Wrench icon">    </p:cNvPr>
          <p:cNvPicPr>
            <a:picLocks noChangeAspect="1"/>
          </p:cNvPicPr>
          <p:nvPr/>
        </p:nvPicPr>
        <p:blipFill>
          <a:blip r:embed="rId12"/>
          <a:stretch>
            <a:fillRect/>
          </a:stretch>
        </p:blipFill>
        <p:spPr>
          <a:xfrm>
            <a:off x="6058449" y="4952025"/>
            <a:ext cx="209215" cy="209215"/>
          </a:xfrm>
          <a:prstGeom prst="rect">
            <a:avLst/>
          </a:prstGeom>
        </p:spPr>
      </p:pic>
      <p:sp>
        <p:nvSpPr>
          <p:cNvPr id="59" name="Text 45"/>
          <p:cNvSpPr txBox="1"/>
          <p:nvPr/>
        </p:nvSpPr>
        <p:spPr>
          <a:xfrm>
            <a:off x="6492240" y="4782312"/>
            <a:ext cx="3840480" cy="548640"/>
          </a:xfrm>
          <a:prstGeom prst="rect">
            <a:avLst/>
          </a:prstGeom>
          <a:noFill/>
          <a:ln/>
        </p:spPr>
        <p:txBody>
          <a:bodyPr wrap="square" lIns="0" tIns="0" rIns="0" bIns="0" rtlCol="0" anchor="ctr"/>
          <a:lstStyle/>
          <a:p>
            <a:pPr algn="l" indent="0" marL="0">
              <a:buNone/>
            </a:pPr>
            <a:r>
              <a:rPr lang="en-US" sz="1400" b="1" dirty="0">
                <a:solidFill>
                  <a:schemeClr val="tx1"/>
                </a:solidFill>
              </a:rPr>
              <a:t>Tự sửa không đụng assertion</a:t>
            </a:r>
            <a:endParaRPr lang="en-US" sz="1400" dirty="0"/>
          </a:p>
          <a:p>
            <a:pPr algn="l" indent="0" marL="0">
              <a:buNone/>
            </a:pPr>
            <a:r>
              <a:rPr lang="en-US" sz="1200" dirty="0">
                <a:solidFill>
                  <a:schemeClr val="tx2"/>
                </a:solidFill>
              </a:rPr>
              <a:t>Chỉ được đổi selector hoặc thời gian chờ</a:t>
            </a:r>
            <a:endParaRPr lang="en-US" sz="1400" dirty="0"/>
          </a:p>
        </p:txBody>
      </p:sp>
      <p:sp>
        <p:nvSpPr>
          <p:cNvPr id="60" name="Pill CODE"/>
          <p:cNvSpPr/>
          <p:nvPr/>
        </p:nvSpPr>
        <p:spPr>
          <a:xfrm>
            <a:off x="10515600" y="4928616"/>
            <a:ext cx="1005840" cy="256032"/>
          </a:xfrm>
          <a:prstGeom prst="roundRect">
            <a:avLst>
              <a:gd name="adj" fmla="val 50000"/>
            </a:avLst>
          </a:prstGeom>
          <a:solidFill>
            <a:schemeClr val="tx2"/>
          </a:solidFill>
          <a:ln/>
        </p:spPr>
      </p:sp>
      <p:sp>
        <p:nvSpPr>
          <p:cNvPr id="61" name="Text 47"/>
          <p:cNvSpPr txBox="1"/>
          <p:nvPr/>
        </p:nvSpPr>
        <p:spPr>
          <a:xfrm>
            <a:off x="10515600" y="4928616"/>
            <a:ext cx="1005840" cy="256032"/>
          </a:xfrm>
          <a:prstGeom prst="rect">
            <a:avLst/>
          </a:prstGeom>
          <a:noFill/>
          <a:ln/>
        </p:spPr>
        <p:txBody>
          <a:bodyPr wrap="square" lIns="0" tIns="0" rIns="0" bIns="0" rtlCol="0" anchor="ctr"/>
          <a:lstStyle/>
          <a:p>
            <a:pPr algn="ctr" indent="0" marL="0">
              <a:buNone/>
            </a:pPr>
            <a:r>
              <a:rPr lang="en-US" sz="1000" b="1" dirty="0">
                <a:solidFill>
                  <a:srgbClr val="FFFFFF"/>
                </a:solidFill>
              </a:rPr>
              <a:t>CODE</a:t>
            </a:r>
            <a:endParaRPr lang="en-US" sz="1000" dirty="0"/>
          </a:p>
        </p:txBody>
      </p:sp>
      <p:sp>
        <p:nvSpPr>
          <p:cNvPr id="62" name="Control 6"/>
          <p:cNvSpPr/>
          <p:nvPr/>
        </p:nvSpPr>
        <p:spPr>
          <a:xfrm>
            <a:off x="5852160" y="5440680"/>
            <a:ext cx="5788152" cy="621792"/>
          </a:xfrm>
          <a:prstGeom prst="roundRect">
            <a:avLst>
              <a:gd name="adj" fmla="val 17647"/>
            </a:avLst>
          </a:prstGeom>
          <a:solidFill>
            <a:schemeClr val="bg2"/>
          </a:solidFill>
          <a:ln/>
        </p:spPr>
      </p:sp>
      <p:sp>
        <p:nvSpPr>
          <p:cNvPr id="63" name="Icon circle FaEye"/>
          <p:cNvSpPr/>
          <p:nvPr/>
        </p:nvSpPr>
        <p:spPr>
          <a:xfrm>
            <a:off x="5961888" y="5550408"/>
            <a:ext cx="402336" cy="402336"/>
          </a:xfrm>
          <a:prstGeom prst="ellipse">
            <a:avLst/>
          </a:prstGeom>
          <a:solidFill>
            <a:schemeClr val="tx2"/>
          </a:solidFill>
          <a:ln/>
        </p:spPr>
      </p:sp>
      <p:pic>
        <p:nvPicPr>
          <p:cNvPr id="64" name="Image 12" descr="Eye icon">    </p:cNvPr>
          <p:cNvPicPr>
            <a:picLocks noChangeAspect="1"/>
          </p:cNvPicPr>
          <p:nvPr/>
        </p:nvPicPr>
        <p:blipFill>
          <a:blip r:embed="rId13"/>
          <a:stretch>
            <a:fillRect/>
          </a:stretch>
        </p:blipFill>
        <p:spPr>
          <a:xfrm>
            <a:off x="6058449" y="5646969"/>
            <a:ext cx="209215" cy="209215"/>
          </a:xfrm>
          <a:prstGeom prst="rect">
            <a:avLst/>
          </a:prstGeom>
        </p:spPr>
      </p:pic>
      <p:sp>
        <p:nvSpPr>
          <p:cNvPr id="65" name="Text 50"/>
          <p:cNvSpPr txBox="1"/>
          <p:nvPr/>
        </p:nvSpPr>
        <p:spPr>
          <a:xfrm>
            <a:off x="6492240" y="5477256"/>
            <a:ext cx="3840480" cy="548640"/>
          </a:xfrm>
          <a:prstGeom prst="rect">
            <a:avLst/>
          </a:prstGeom>
          <a:noFill/>
          <a:ln/>
        </p:spPr>
        <p:txBody>
          <a:bodyPr wrap="square" lIns="0" tIns="0" rIns="0" bIns="0" rtlCol="0" anchor="ctr"/>
          <a:lstStyle/>
          <a:p>
            <a:pPr algn="l" indent="0" marL="0">
              <a:buNone/>
            </a:pPr>
            <a:r>
              <a:rPr lang="en-US" sz="1400" b="1" dirty="0">
                <a:solidFill>
                  <a:schemeClr val="tx1"/>
                </a:solidFill>
              </a:rPr>
              <a:t>Lấy phần tử từ app thật</a:t>
            </a:r>
            <a:endParaRPr lang="en-US" sz="1400" dirty="0"/>
          </a:p>
          <a:p>
            <a:pPr algn="l" indent="0" marL="0">
              <a:buNone/>
            </a:pPr>
            <a:r>
              <a:rPr lang="en-US" sz="1200" dirty="0">
                <a:solidFill>
                  <a:schemeClr val="tx2"/>
                </a:solidFill>
              </a:rPr>
              <a:t>AI phải xem màn hình thật trước khi viết selector</a:t>
            </a:r>
            <a:endParaRPr lang="en-US" sz="1400" dirty="0"/>
          </a:p>
        </p:txBody>
      </p:sp>
      <p:sp>
        <p:nvSpPr>
          <p:cNvPr id="66" name="Pill PROMPT"/>
          <p:cNvSpPr/>
          <p:nvPr/>
        </p:nvSpPr>
        <p:spPr>
          <a:xfrm>
            <a:off x="10515600" y="5623560"/>
            <a:ext cx="1005840" cy="256032"/>
          </a:xfrm>
          <a:prstGeom prst="roundRect">
            <a:avLst>
              <a:gd name="adj" fmla="val 50000"/>
            </a:avLst>
          </a:prstGeom>
          <a:solidFill>
            <a:schemeClr val="accent2"/>
          </a:solidFill>
          <a:ln/>
        </p:spPr>
      </p:sp>
      <p:sp>
        <p:nvSpPr>
          <p:cNvPr id="67" name="Text 52"/>
          <p:cNvSpPr txBox="1"/>
          <p:nvPr/>
        </p:nvSpPr>
        <p:spPr>
          <a:xfrm>
            <a:off x="10515600" y="5623560"/>
            <a:ext cx="1005840" cy="256032"/>
          </a:xfrm>
          <a:prstGeom prst="rect">
            <a:avLst/>
          </a:prstGeom>
          <a:noFill/>
          <a:ln/>
        </p:spPr>
        <p:txBody>
          <a:bodyPr wrap="square" lIns="0" tIns="0" rIns="0" bIns="0" rtlCol="0" anchor="ctr"/>
          <a:lstStyle/>
          <a:p>
            <a:pPr algn="ctr" indent="0" marL="0">
              <a:buNone/>
            </a:pPr>
            <a:r>
              <a:rPr lang="en-US" sz="1000" b="1" dirty="0">
                <a:solidFill>
                  <a:srgbClr val="14161F"/>
                </a:solidFill>
              </a:rPr>
              <a:t>PROMPT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latin typeface="+mj-lt" pitchFamily="34" charset="0"/>
                <a:ea typeface="+mj-lt" pitchFamily="34" charset="-122"/>
                <a:cs typeface="+mj-lt" pitchFamily="34" charset="-120"/>
              </a:rPr>
              <a:t>Chi phí: nhỏ, đo được, có trần</a:t>
            </a:r>
            <a:endParaRPr lang="en-US" sz="3600" dirty="0"/>
          </a:p>
        </p:txBody>
      </p:sp>
      <p:graphicFrame>
        <p:nvGraphicFramePr>
          <p:cNvPr id="3" name="Chart 0" descr=""/>
          <p:cNvGraphicFramePr/>
          <p:nvPr/>
        </p:nvGraphicFramePr>
        <p:xfrm>
          <a:off x="548640" y="1325880"/>
          <a:ext cx="6858000" cy="4206240"/>
        </p:xfrm>
        <a:graphic xmlns:a="http://schemas.openxmlformats.org/drawingml/2006/main">
          <a:graphicData uri="http://schemas.openxmlformats.org/drawingml/2006/chart">
            <c:chart xmlns:c="http://schemas.openxmlformats.org/drawingml/2006/chart" r:id="rId1"/>
          </a:graphicData>
        </a:graphic>
      </p:graphicFrame>
      <p:sp>
        <p:nvSpPr>
          <p:cNvPr id="4" name="Stat 1"/>
          <p:cNvSpPr/>
          <p:nvPr/>
        </p:nvSpPr>
        <p:spPr>
          <a:xfrm>
            <a:off x="7680960" y="1325880"/>
            <a:ext cx="3959352" cy="1325880"/>
          </a:xfrm>
          <a:prstGeom prst="roundRect">
            <a:avLst>
              <a:gd name="adj" fmla="val 8276"/>
            </a:avLst>
          </a:prstGeom>
          <a:solidFill>
            <a:schemeClr val="bg2"/>
          </a:solidFill>
          <a:ln/>
        </p:spPr>
      </p:sp>
      <p:sp>
        <p:nvSpPr>
          <p:cNvPr id="5" name="Text 2"/>
          <p:cNvSpPr txBox="1"/>
          <p:nvPr/>
        </p:nvSpPr>
        <p:spPr>
          <a:xfrm>
            <a:off x="7909560" y="1417320"/>
            <a:ext cx="3566160" cy="685800"/>
          </a:xfrm>
          <a:prstGeom prst="rect">
            <a:avLst/>
          </a:prstGeom>
          <a:noFill/>
          <a:ln/>
        </p:spPr>
        <p:txBody>
          <a:bodyPr wrap="square" lIns="0" tIns="0" rIns="0" bIns="0" rtlCol="0" anchor="ctr"/>
          <a:lstStyle/>
          <a:p>
            <a:pPr algn="l" indent="0" marL="0">
              <a:buNone/>
            </a:pPr>
            <a:r>
              <a:rPr lang="en-US" sz="4000" b="1" dirty="0">
                <a:solidFill>
                  <a:schemeClr val="tx1"/>
                </a:solidFill>
                <a:latin typeface="+mj-lt" pitchFamily="34" charset="0"/>
                <a:ea typeface="+mj-lt" pitchFamily="34" charset="-122"/>
                <a:cs typeface="+mj-lt" pitchFamily="34" charset="-120"/>
              </a:rPr>
              <a:t>~$0,4</a:t>
            </a:r>
            <a:endParaRPr lang="en-US" sz="4000" dirty="0"/>
          </a:p>
        </p:txBody>
      </p:sp>
      <p:sp>
        <p:nvSpPr>
          <p:cNvPr id="6" name="Text 3"/>
          <p:cNvSpPr txBox="1"/>
          <p:nvPr/>
        </p:nvSpPr>
        <p:spPr>
          <a:xfrm>
            <a:off x="7909560" y="2130552"/>
            <a:ext cx="3566160" cy="457200"/>
          </a:xfrm>
          <a:prstGeom prst="rect">
            <a:avLst/>
          </a:prstGeom>
          <a:noFill/>
          <a:ln/>
        </p:spPr>
        <p:txBody>
          <a:bodyPr wrap="square" lIns="0" tIns="0" rIns="0" bIns="0" rtlCol="0" anchor="t"/>
          <a:lstStyle/>
          <a:p>
            <a:pPr algn="l" indent="0" marL="0">
              <a:buNone/>
            </a:pPr>
            <a:r>
              <a:rPr lang="en-US" sz="1400" dirty="0">
                <a:solidFill>
                  <a:schemeClr val="tx2"/>
                </a:solidFill>
              </a:rPr>
              <a:t>mỗi test sinh ra (ShopDemo, 5 lần chạy)</a:t>
            </a:r>
            <a:endParaRPr lang="en-US" sz="1400" dirty="0"/>
          </a:p>
        </p:txBody>
      </p:sp>
      <p:sp>
        <p:nvSpPr>
          <p:cNvPr id="7" name="Stat 2"/>
          <p:cNvSpPr/>
          <p:nvPr/>
        </p:nvSpPr>
        <p:spPr>
          <a:xfrm>
            <a:off x="7680960" y="2743200"/>
            <a:ext cx="3959352" cy="1325880"/>
          </a:xfrm>
          <a:prstGeom prst="roundRect">
            <a:avLst>
              <a:gd name="adj" fmla="val 8276"/>
            </a:avLst>
          </a:prstGeom>
          <a:solidFill>
            <a:schemeClr val="bg2"/>
          </a:solidFill>
          <a:ln/>
        </p:spPr>
      </p:sp>
      <p:sp>
        <p:nvSpPr>
          <p:cNvPr id="8" name="Text 5"/>
          <p:cNvSpPr txBox="1"/>
          <p:nvPr/>
        </p:nvSpPr>
        <p:spPr>
          <a:xfrm>
            <a:off x="7909560" y="2834640"/>
            <a:ext cx="3566160" cy="685800"/>
          </a:xfrm>
          <a:prstGeom prst="rect">
            <a:avLst/>
          </a:prstGeom>
          <a:noFill/>
          <a:ln/>
        </p:spPr>
        <p:txBody>
          <a:bodyPr wrap="square" lIns="0" tIns="0" rIns="0" bIns="0" rtlCol="0" anchor="ctr"/>
          <a:lstStyle/>
          <a:p>
            <a:pPr algn="l" indent="0" marL="0">
              <a:buNone/>
            </a:pPr>
            <a:r>
              <a:rPr lang="en-US" sz="4000" b="1" dirty="0">
                <a:solidFill>
                  <a:schemeClr val="tx1"/>
                </a:solidFill>
                <a:latin typeface="+mj-lt" pitchFamily="34" charset="0"/>
                <a:ea typeface="+mj-lt" pitchFamily="34" charset="-122"/>
                <a:cs typeface="+mj-lt" pitchFamily="34" charset="-120"/>
              </a:rPr>
              <a:t>$0</a:t>
            </a:r>
            <a:endParaRPr lang="en-US" sz="4000" dirty="0"/>
          </a:p>
        </p:txBody>
      </p:sp>
      <p:sp>
        <p:nvSpPr>
          <p:cNvPr id="9" name="Text 6"/>
          <p:cNvSpPr txBox="1"/>
          <p:nvPr/>
        </p:nvSpPr>
        <p:spPr>
          <a:xfrm>
            <a:off x="7909560" y="3547872"/>
            <a:ext cx="3566160" cy="457200"/>
          </a:xfrm>
          <a:prstGeom prst="rect">
            <a:avLst/>
          </a:prstGeom>
          <a:noFill/>
          <a:ln/>
        </p:spPr>
        <p:txBody>
          <a:bodyPr wrap="square" lIns="0" tIns="0" rIns="0" bIns="0" rtlCol="0" anchor="t"/>
          <a:lstStyle/>
          <a:p>
            <a:pPr algn="l" indent="0" marL="0">
              <a:buNone/>
            </a:pPr>
            <a:r>
              <a:rPr lang="en-US" sz="1400" dirty="0">
                <a:solidFill>
                  <a:schemeClr val="tx2"/>
                </a:solidFill>
              </a:rPr>
              <a:t>chi phí AI khi chạy lại test trên CI</a:t>
            </a:r>
            <a:endParaRPr lang="en-US" sz="1400" dirty="0"/>
          </a:p>
        </p:txBody>
      </p:sp>
      <p:sp>
        <p:nvSpPr>
          <p:cNvPr id="10" name="Stat 3"/>
          <p:cNvSpPr/>
          <p:nvPr/>
        </p:nvSpPr>
        <p:spPr>
          <a:xfrm>
            <a:off x="7680960" y="4160520"/>
            <a:ext cx="3959352" cy="1325880"/>
          </a:xfrm>
          <a:prstGeom prst="roundRect">
            <a:avLst>
              <a:gd name="adj" fmla="val 8276"/>
            </a:avLst>
          </a:prstGeom>
          <a:solidFill>
            <a:schemeClr val="bg2"/>
          </a:solidFill>
          <a:ln/>
        </p:spPr>
      </p:sp>
      <p:sp>
        <p:nvSpPr>
          <p:cNvPr id="11" name="Text 8"/>
          <p:cNvSpPr txBox="1"/>
          <p:nvPr/>
        </p:nvSpPr>
        <p:spPr>
          <a:xfrm>
            <a:off x="7909560" y="4251960"/>
            <a:ext cx="3566160" cy="685800"/>
          </a:xfrm>
          <a:prstGeom prst="rect">
            <a:avLst/>
          </a:prstGeom>
          <a:noFill/>
          <a:ln/>
        </p:spPr>
        <p:txBody>
          <a:bodyPr wrap="square" lIns="0" tIns="0" rIns="0" bIns="0" rtlCol="0" anchor="ctr"/>
          <a:lstStyle/>
          <a:p>
            <a:pPr algn="l" indent="0" marL="0">
              <a:buNone/>
            </a:pPr>
            <a:r>
              <a:rPr lang="en-US" sz="4000" b="1" dirty="0">
                <a:solidFill>
                  <a:schemeClr val="tx1"/>
                </a:solidFill>
                <a:latin typeface="+mj-lt" pitchFamily="34" charset="0"/>
                <a:ea typeface="+mj-lt" pitchFamily="34" charset="-122"/>
                <a:cs typeface="+mj-lt" pitchFamily="34" charset="-120"/>
              </a:rPr>
              <a:t>~$10–70</a:t>
            </a:r>
            <a:endParaRPr lang="en-US" sz="4000" dirty="0"/>
          </a:p>
        </p:txBody>
      </p:sp>
      <p:sp>
        <p:nvSpPr>
          <p:cNvPr id="12" name="Text 9"/>
          <p:cNvSpPr txBox="1"/>
          <p:nvPr/>
        </p:nvSpPr>
        <p:spPr>
          <a:xfrm>
            <a:off x="7909560" y="4965192"/>
            <a:ext cx="3566160" cy="457200"/>
          </a:xfrm>
          <a:prstGeom prst="rect">
            <a:avLst/>
          </a:prstGeom>
          <a:noFill/>
          <a:ln/>
        </p:spPr>
        <p:txBody>
          <a:bodyPr wrap="square" lIns="0" tIns="0" rIns="0" bIns="0" rtlCol="0" anchor="t"/>
          <a:lstStyle/>
          <a:p>
            <a:pPr algn="l" indent="0" marL="0">
              <a:buNone/>
            </a:pPr>
            <a:r>
              <a:rPr lang="en-US" sz="1400" dirty="0">
                <a:solidFill>
                  <a:schemeClr val="tx2"/>
                </a:solidFill>
              </a:rPr>
              <a:t>AI cho cả pilot 10–15 ticket (ước tính)</a:t>
            </a:r>
            <a:endParaRPr lang="en-US" sz="1400" dirty="0"/>
          </a:p>
        </p:txBody>
      </p:sp>
      <p:sp>
        <p:nvSpPr>
          <p:cNvPr id="13" name="Caveat"/>
          <p:cNvSpPr/>
          <p:nvPr/>
        </p:nvSpPr>
        <p:spPr>
          <a:xfrm>
            <a:off x="548640" y="5669280"/>
            <a:ext cx="11091672" cy="685800"/>
          </a:xfrm>
          <a:prstGeom prst="roundRect">
            <a:avLst>
              <a:gd name="adj" fmla="val 16000"/>
            </a:avLst>
          </a:prstGeom>
          <a:solidFill>
            <a:schemeClr val="tx1"/>
          </a:solidFill>
          <a:ln/>
        </p:spPr>
      </p:sp>
      <p:sp>
        <p:nvSpPr>
          <p:cNvPr id="14" name="Text 11"/>
          <p:cNvSpPr txBox="1"/>
          <p:nvPr/>
        </p:nvSpPr>
        <p:spPr>
          <a:xfrm>
            <a:off x="822960" y="5669280"/>
            <a:ext cx="10515600" cy="685800"/>
          </a:xfrm>
          <a:prstGeom prst="rect">
            <a:avLst/>
          </a:prstGeom>
          <a:noFill/>
          <a:ln/>
        </p:spPr>
        <p:txBody>
          <a:bodyPr wrap="square" lIns="0" tIns="0" rIns="0" bIns="0" rtlCol="0" anchor="ctr"/>
          <a:lstStyle/>
          <a:p>
            <a:pPr algn="l" indent="0" marL="0">
              <a:buNone/>
            </a:pPr>
            <a:r>
              <a:rPr lang="en-US" sz="1400" b="1" dirty="0">
                <a:solidFill>
                  <a:schemeClr val="bg1"/>
                </a:solidFill>
              </a:rPr>
              <a:t>Một điểm dữ liệu, không phải chuẩn. </a:t>
            </a:r>
            <a:pPr algn="l" indent="0" marL="0">
              <a:buNone/>
            </a:pPr>
            <a:r>
              <a:rPr lang="en-US" sz="1400" dirty="0">
                <a:solidFill>
                  <a:schemeClr val="bg1"/>
                </a:solidFill>
              </a:rPr>
              <a:t>ShopDemo là app đơn giản; app thật có thể cao hơn 1–3 lần (giả định). Trần cứng mỗi bước: $1,5 · $2 · $12 · $4 — rào chắn, không phải dự toán.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latin typeface="+mj-lt" pitchFamily="34" charset="0"/>
                <a:ea typeface="+mj-lt" pitchFamily="34" charset="-122"/>
                <a:cs typeface="+mj-lt" pitchFamily="34" charset="-120"/>
              </a:rPr>
              <a:t>Demo: cùng một app, ba phiên bản</a:t>
            </a:r>
            <a:endParaRPr lang="en-US" sz="3600" dirty="0"/>
          </a:p>
        </p:txBody>
      </p:sp>
      <p:sp>
        <p:nvSpPr>
          <p:cNvPr id="3" name="Build 1"/>
          <p:cNvSpPr/>
          <p:nvPr/>
        </p:nvSpPr>
        <p:spPr>
          <a:xfrm>
            <a:off x="548640" y="1417320"/>
            <a:ext cx="3511296" cy="3520440"/>
          </a:xfrm>
          <a:prstGeom prst="roundRect">
            <a:avLst>
              <a:gd name="adj" fmla="val 3125"/>
            </a:avLst>
          </a:prstGeom>
          <a:solidFill>
            <a:schemeClr val="bg2"/>
          </a:solidFill>
          <a:ln/>
        </p:spPr>
      </p:sp>
      <p:sp>
        <p:nvSpPr>
          <p:cNvPr id="4" name="Icon circle FaMobileAlt"/>
          <p:cNvSpPr/>
          <p:nvPr/>
        </p:nvSpPr>
        <p:spPr>
          <a:xfrm>
            <a:off x="822960" y="1691640"/>
            <a:ext cx="822960" cy="822960"/>
          </a:xfrm>
          <a:prstGeom prst="ellipse">
            <a:avLst/>
          </a:prstGeom>
          <a:solidFill>
            <a:schemeClr val="accent3"/>
          </a:solidFill>
          <a:ln/>
        </p:spPr>
      </p:sp>
      <p:pic>
        <p:nvPicPr>
          <p:cNvPr id="5" name="Image 0" descr="MobileAlt icon">    </p:cNvPr>
          <p:cNvPicPr>
            <a:picLocks noChangeAspect="1"/>
          </p:cNvPicPr>
          <p:nvPr/>
        </p:nvPicPr>
        <p:blipFill>
          <a:blip r:embed="rId1"/>
          <a:stretch>
            <a:fillRect/>
          </a:stretch>
        </p:blipFill>
        <p:spPr>
          <a:xfrm>
            <a:off x="1020470" y="1889150"/>
            <a:ext cx="427939" cy="427939"/>
          </a:xfrm>
          <a:prstGeom prst="rect">
            <a:avLst/>
          </a:prstGeom>
        </p:spPr>
      </p:pic>
      <p:sp>
        <p:nvSpPr>
          <p:cNvPr id="6" name="Pill Đã có"/>
          <p:cNvSpPr/>
          <p:nvPr/>
        </p:nvSpPr>
        <p:spPr>
          <a:xfrm>
            <a:off x="2459736" y="1828800"/>
            <a:ext cx="1371600" cy="274320"/>
          </a:xfrm>
          <a:prstGeom prst="roundRect">
            <a:avLst>
              <a:gd name="adj" fmla="val 50000"/>
            </a:avLst>
          </a:prstGeom>
          <a:solidFill>
            <a:schemeClr val="tx2"/>
          </a:solidFill>
          <a:ln/>
        </p:spPr>
      </p:sp>
      <p:sp>
        <p:nvSpPr>
          <p:cNvPr id="7" name="Text 4"/>
          <p:cNvSpPr txBox="1"/>
          <p:nvPr/>
        </p:nvSpPr>
        <p:spPr>
          <a:xfrm>
            <a:off x="2459736" y="1828800"/>
            <a:ext cx="1371600" cy="274320"/>
          </a:xfrm>
          <a:prstGeom prst="rect">
            <a:avLst/>
          </a:prstGeom>
          <a:noFill/>
          <a:ln/>
        </p:spPr>
        <p:txBody>
          <a:bodyPr wrap="square" lIns="0" tIns="0" rIns="0" bIns="0" rtlCol="0" anchor="ctr"/>
          <a:lstStyle/>
          <a:p>
            <a:pPr algn="ctr" indent="0" marL="0">
              <a:buNone/>
            </a:pPr>
            <a:r>
              <a:rPr lang="en-US" sz="1100" b="1" dirty="0">
                <a:solidFill>
                  <a:srgbClr val="FFFFFF"/>
                </a:solidFill>
              </a:rPr>
              <a:t>Đã có</a:t>
            </a:r>
            <a:endParaRPr lang="en-US" sz="1100" dirty="0"/>
          </a:p>
        </p:txBody>
      </p:sp>
      <p:sp>
        <p:nvSpPr>
          <p:cNvPr id="8" name="Text 5"/>
          <p:cNvSpPr txBox="1"/>
          <p:nvPr/>
        </p:nvSpPr>
        <p:spPr>
          <a:xfrm>
            <a:off x="822960" y="2697480"/>
            <a:ext cx="2962656" cy="411480"/>
          </a:xfrm>
          <a:prstGeom prst="rect">
            <a:avLst/>
          </a:prstGeom>
          <a:noFill/>
          <a:ln/>
        </p:spPr>
        <p:txBody>
          <a:bodyPr wrap="square" lIns="0" tIns="0" rIns="0" bIns="0" rtlCol="0" anchor="t"/>
          <a:lstStyle/>
          <a:p>
            <a:pPr algn="l" indent="0" marL="0">
              <a:buNone/>
            </a:pPr>
            <a:r>
              <a:rPr lang="en-US" sz="2400" b="1" dirty="0">
                <a:solidFill>
                  <a:schemeClr val="tx1"/>
                </a:solidFill>
                <a:latin typeface="+mj-lt" pitchFamily="34" charset="0"/>
                <a:ea typeface="+mj-lt" pitchFamily="34" charset="-122"/>
                <a:cs typeface="+mj-lt" pitchFamily="34" charset="-120"/>
              </a:rPr>
              <a:t>Bản gốc</a:t>
            </a:r>
            <a:endParaRPr lang="en-US" sz="2400" dirty="0"/>
          </a:p>
        </p:txBody>
      </p:sp>
      <p:sp>
        <p:nvSpPr>
          <p:cNvPr id="9" name="Text 6"/>
          <p:cNvSpPr txBox="1"/>
          <p:nvPr/>
        </p:nvSpPr>
        <p:spPr>
          <a:xfrm>
            <a:off x="822960" y="3154680"/>
            <a:ext cx="2962656" cy="320040"/>
          </a:xfrm>
          <a:prstGeom prst="rect">
            <a:avLst/>
          </a:prstGeom>
          <a:noFill/>
          <a:ln/>
        </p:spPr>
        <p:txBody>
          <a:bodyPr wrap="square" lIns="0" tIns="0" rIns="0" bIns="0" rtlCol="0" anchor="t"/>
          <a:lstStyle/>
          <a:p>
            <a:pPr algn="l" indent="0" marL="0">
              <a:buNone/>
            </a:pPr>
            <a:r>
              <a:rPr lang="en-US" sz="1400" dirty="0">
                <a:solidFill>
                  <a:schemeClr val="tx2"/>
                </a:solidFill>
              </a:rPr>
              <a:t>build-1 · không thay đổi</a:t>
            </a:r>
            <a:endParaRPr lang="en-US" sz="1400" dirty="0"/>
          </a:p>
        </p:txBody>
      </p:sp>
      <p:sp>
        <p:nvSpPr>
          <p:cNvPr id="10" name="Text 7"/>
          <p:cNvSpPr txBox="1"/>
          <p:nvPr/>
        </p:nvSpPr>
        <p:spPr>
          <a:xfrm>
            <a:off x="822960" y="3703320"/>
            <a:ext cx="2962656" cy="228600"/>
          </a:xfrm>
          <a:prstGeom prst="rect">
            <a:avLst/>
          </a:prstGeom>
          <a:noFill/>
          <a:ln/>
        </p:spPr>
        <p:txBody>
          <a:bodyPr wrap="square" lIns="0" tIns="0" rIns="0" bIns="0" rtlCol="0" anchor="t"/>
          <a:lstStyle/>
          <a:p>
            <a:pPr algn="l" indent="0" marL="0">
              <a:buNone/>
            </a:pPr>
            <a:r>
              <a:rPr lang="en-US" sz="1200" b="1" spc="200" kern="0" dirty="0">
                <a:solidFill>
                  <a:schemeClr val="tx2"/>
                </a:solidFill>
              </a:rPr>
              <a:t>KẾT QUẢ MONG ĐỢI</a:t>
            </a:r>
            <a:endParaRPr lang="en-US" sz="1200" dirty="0"/>
          </a:p>
        </p:txBody>
      </p:sp>
      <p:pic>
        <p:nvPicPr>
          <p:cNvPr id="11" name="Image 1" descr="CheckCircle icon">    </p:cNvPr>
          <p:cNvPicPr>
            <a:picLocks noChangeAspect="1"/>
          </p:cNvPicPr>
          <p:nvPr/>
        </p:nvPicPr>
        <p:blipFill>
          <a:blip r:embed="rId2"/>
          <a:stretch>
            <a:fillRect/>
          </a:stretch>
        </p:blipFill>
        <p:spPr>
          <a:xfrm>
            <a:off x="822960" y="4114800"/>
            <a:ext cx="365760" cy="365760"/>
          </a:xfrm>
          <a:prstGeom prst="rect">
            <a:avLst/>
          </a:prstGeom>
        </p:spPr>
      </p:pic>
      <p:sp>
        <p:nvSpPr>
          <p:cNvPr id="12" name="Text 8"/>
          <p:cNvSpPr txBox="1"/>
          <p:nvPr/>
        </p:nvSpPr>
        <p:spPr>
          <a:xfrm>
            <a:off x="1325880" y="4023360"/>
            <a:ext cx="2459736" cy="1005840"/>
          </a:xfrm>
          <a:prstGeom prst="rect">
            <a:avLst/>
          </a:prstGeom>
          <a:noFill/>
          <a:ln/>
        </p:spPr>
        <p:txBody>
          <a:bodyPr wrap="square" lIns="0" tIns="0" rIns="0" bIns="0" rtlCol="0" anchor="t"/>
          <a:lstStyle/>
          <a:p>
            <a:pPr algn="l" indent="0" marL="0">
              <a:buNone/>
            </a:pPr>
            <a:r>
              <a:rPr lang="en-US" sz="1600" b="1" dirty="0">
                <a:solidFill>
                  <a:schemeClr val="tx1"/>
                </a:solidFill>
              </a:rPr>
              <a:t>Test pass</a:t>
            </a:r>
            <a:endParaRPr lang="en-US" sz="1600" dirty="0"/>
          </a:p>
        </p:txBody>
      </p:sp>
      <p:sp>
        <p:nvSpPr>
          <p:cNvPr id="13" name="Build 2"/>
          <p:cNvSpPr/>
          <p:nvPr/>
        </p:nvSpPr>
        <p:spPr>
          <a:xfrm>
            <a:off x="4334256" y="1417320"/>
            <a:ext cx="3511296" cy="3520440"/>
          </a:xfrm>
          <a:prstGeom prst="roundRect">
            <a:avLst>
              <a:gd name="adj" fmla="val 3125"/>
            </a:avLst>
          </a:prstGeom>
          <a:solidFill>
            <a:schemeClr val="bg2"/>
          </a:solidFill>
          <a:ln/>
        </p:spPr>
      </p:sp>
      <p:sp>
        <p:nvSpPr>
          <p:cNvPr id="14" name="Icon circle FaMobileAlt"/>
          <p:cNvSpPr/>
          <p:nvPr/>
        </p:nvSpPr>
        <p:spPr>
          <a:xfrm>
            <a:off x="4608576" y="1691640"/>
            <a:ext cx="822960" cy="822960"/>
          </a:xfrm>
          <a:prstGeom prst="ellipse">
            <a:avLst/>
          </a:prstGeom>
          <a:solidFill>
            <a:schemeClr val="accent2"/>
          </a:solidFill>
          <a:ln/>
        </p:spPr>
      </p:sp>
      <p:pic>
        <p:nvPicPr>
          <p:cNvPr id="15" name="Image 2" descr="MobileAlt icon">    </p:cNvPr>
          <p:cNvPicPr>
            <a:picLocks noChangeAspect="1"/>
          </p:cNvPicPr>
          <p:nvPr/>
        </p:nvPicPr>
        <p:blipFill>
          <a:blip r:embed="rId3"/>
          <a:stretch>
            <a:fillRect/>
          </a:stretch>
        </p:blipFill>
        <p:spPr>
          <a:xfrm>
            <a:off x="4806086" y="1889150"/>
            <a:ext cx="427939" cy="427939"/>
          </a:xfrm>
          <a:prstGeom prst="rect">
            <a:avLst/>
          </a:prstGeom>
        </p:spPr>
      </p:pic>
      <p:sp>
        <p:nvSpPr>
          <p:cNvPr id="16" name="Pill Cần dựng build"/>
          <p:cNvSpPr/>
          <p:nvPr/>
        </p:nvSpPr>
        <p:spPr>
          <a:xfrm>
            <a:off x="6245352" y="1828800"/>
            <a:ext cx="1371600" cy="274320"/>
          </a:xfrm>
          <a:prstGeom prst="roundRect">
            <a:avLst>
              <a:gd name="adj" fmla="val 50000"/>
            </a:avLst>
          </a:prstGeom>
          <a:solidFill>
            <a:schemeClr val="tx2"/>
          </a:solidFill>
          <a:ln/>
        </p:spPr>
      </p:sp>
      <p:sp>
        <p:nvSpPr>
          <p:cNvPr id="17" name="Text 12"/>
          <p:cNvSpPr txBox="1"/>
          <p:nvPr/>
        </p:nvSpPr>
        <p:spPr>
          <a:xfrm>
            <a:off x="6245352" y="1828800"/>
            <a:ext cx="1371600" cy="274320"/>
          </a:xfrm>
          <a:prstGeom prst="rect">
            <a:avLst/>
          </a:prstGeom>
          <a:noFill/>
          <a:ln/>
        </p:spPr>
        <p:txBody>
          <a:bodyPr wrap="square" lIns="0" tIns="0" rIns="0" bIns="0" rtlCol="0" anchor="ctr"/>
          <a:lstStyle/>
          <a:p>
            <a:pPr algn="ctr" indent="0" marL="0">
              <a:buNone/>
            </a:pPr>
            <a:r>
              <a:rPr lang="en-US" sz="1100" b="1" dirty="0">
                <a:solidFill>
                  <a:srgbClr val="FFFFFF"/>
                </a:solidFill>
              </a:rPr>
              <a:t>Cần dựng build</a:t>
            </a:r>
            <a:endParaRPr lang="en-US" sz="1100" dirty="0"/>
          </a:p>
        </p:txBody>
      </p:sp>
      <p:sp>
        <p:nvSpPr>
          <p:cNvPr id="18" name="Text 13"/>
          <p:cNvSpPr txBox="1"/>
          <p:nvPr/>
        </p:nvSpPr>
        <p:spPr>
          <a:xfrm>
            <a:off x="4608576" y="2697480"/>
            <a:ext cx="2962656" cy="411480"/>
          </a:xfrm>
          <a:prstGeom prst="rect">
            <a:avLst/>
          </a:prstGeom>
          <a:noFill/>
          <a:ln/>
        </p:spPr>
        <p:txBody>
          <a:bodyPr wrap="square" lIns="0" tIns="0" rIns="0" bIns="0" rtlCol="0" anchor="t"/>
          <a:lstStyle/>
          <a:p>
            <a:pPr algn="l" indent="0" marL="0">
              <a:buNone/>
            </a:pPr>
            <a:r>
              <a:rPr lang="en-US" sz="2400" b="1" dirty="0">
                <a:solidFill>
                  <a:schemeClr val="tx1"/>
                </a:solidFill>
                <a:latin typeface="+mj-lt" pitchFamily="34" charset="0"/>
                <a:ea typeface="+mj-lt" pitchFamily="34" charset="-122"/>
                <a:cs typeface="+mj-lt" pitchFamily="34" charset="-120"/>
              </a:rPr>
              <a:t>Đổi ID một nút</a:t>
            </a:r>
            <a:endParaRPr lang="en-US" sz="2400" dirty="0"/>
          </a:p>
        </p:txBody>
      </p:sp>
      <p:sp>
        <p:nvSpPr>
          <p:cNvPr id="19" name="Text 14"/>
          <p:cNvSpPr txBox="1"/>
          <p:nvPr/>
        </p:nvSpPr>
        <p:spPr>
          <a:xfrm>
            <a:off x="4608576" y="3154680"/>
            <a:ext cx="2962656" cy="320040"/>
          </a:xfrm>
          <a:prstGeom prst="rect">
            <a:avLst/>
          </a:prstGeom>
          <a:noFill/>
          <a:ln/>
        </p:spPr>
        <p:txBody>
          <a:bodyPr wrap="square" lIns="0" tIns="0" rIns="0" bIns="0" rtlCol="0" anchor="t"/>
          <a:lstStyle/>
          <a:p>
            <a:pPr algn="l" indent="0" marL="0">
              <a:buNone/>
            </a:pPr>
            <a:r>
              <a:rPr lang="en-US" sz="1400" dirty="0">
                <a:solidFill>
                  <a:schemeClr val="tx2"/>
                </a:solidFill>
              </a:rPr>
              <a:t>Hành vi giữ nguyên</a:t>
            </a:r>
            <a:endParaRPr lang="en-US" sz="1400" dirty="0"/>
          </a:p>
        </p:txBody>
      </p:sp>
      <p:sp>
        <p:nvSpPr>
          <p:cNvPr id="20" name="Text 15"/>
          <p:cNvSpPr txBox="1"/>
          <p:nvPr/>
        </p:nvSpPr>
        <p:spPr>
          <a:xfrm>
            <a:off x="4608576" y="3703320"/>
            <a:ext cx="2962656" cy="228600"/>
          </a:xfrm>
          <a:prstGeom prst="rect">
            <a:avLst/>
          </a:prstGeom>
          <a:noFill/>
          <a:ln/>
        </p:spPr>
        <p:txBody>
          <a:bodyPr wrap="square" lIns="0" tIns="0" rIns="0" bIns="0" rtlCol="0" anchor="t"/>
          <a:lstStyle/>
          <a:p>
            <a:pPr algn="l" indent="0" marL="0">
              <a:buNone/>
            </a:pPr>
            <a:r>
              <a:rPr lang="en-US" sz="1200" b="1" spc="200" kern="0" dirty="0">
                <a:solidFill>
                  <a:schemeClr val="tx2"/>
                </a:solidFill>
              </a:rPr>
              <a:t>KẾT QUẢ MONG ĐỢI</a:t>
            </a:r>
            <a:endParaRPr lang="en-US" sz="1200" dirty="0"/>
          </a:p>
        </p:txBody>
      </p:sp>
      <p:pic>
        <p:nvPicPr>
          <p:cNvPr id="21" name="Image 3" descr="Wrench icon">    </p:cNvPr>
          <p:cNvPicPr>
            <a:picLocks noChangeAspect="1"/>
          </p:cNvPicPr>
          <p:nvPr/>
        </p:nvPicPr>
        <p:blipFill>
          <a:blip r:embed="rId4"/>
          <a:stretch>
            <a:fillRect/>
          </a:stretch>
        </p:blipFill>
        <p:spPr>
          <a:xfrm>
            <a:off x="4608576" y="4114800"/>
            <a:ext cx="365760" cy="365760"/>
          </a:xfrm>
          <a:prstGeom prst="rect">
            <a:avLst/>
          </a:prstGeom>
        </p:spPr>
      </p:pic>
      <p:sp>
        <p:nvSpPr>
          <p:cNvPr id="22" name="Text 16"/>
          <p:cNvSpPr txBox="1"/>
          <p:nvPr/>
        </p:nvSpPr>
        <p:spPr>
          <a:xfrm>
            <a:off x="5111496" y="4023360"/>
            <a:ext cx="2459736" cy="1005840"/>
          </a:xfrm>
          <a:prstGeom prst="rect">
            <a:avLst/>
          </a:prstGeom>
          <a:noFill/>
          <a:ln/>
        </p:spPr>
        <p:txBody>
          <a:bodyPr wrap="square" lIns="0" tIns="0" rIns="0" bIns="0" rtlCol="0" anchor="t"/>
          <a:lstStyle/>
          <a:p>
            <a:pPr algn="l" indent="0" marL="0">
              <a:buNone/>
            </a:pPr>
            <a:r>
              <a:rPr lang="en-US" sz="1600" b="1" dirty="0">
                <a:solidFill>
                  <a:schemeClr val="tx1"/>
                </a:solidFill>
              </a:rPr>
              <a:t>AI sửa selector kèm bằng chứng → chạy lại pass</a:t>
            </a:r>
            <a:endParaRPr lang="en-US" sz="1600" dirty="0"/>
          </a:p>
        </p:txBody>
      </p:sp>
      <p:sp>
        <p:nvSpPr>
          <p:cNvPr id="23" name="Build 3"/>
          <p:cNvSpPr/>
          <p:nvPr/>
        </p:nvSpPr>
        <p:spPr>
          <a:xfrm>
            <a:off x="8119872" y="1417320"/>
            <a:ext cx="3511296" cy="3520440"/>
          </a:xfrm>
          <a:prstGeom prst="roundRect">
            <a:avLst>
              <a:gd name="adj" fmla="val 3125"/>
            </a:avLst>
          </a:prstGeom>
          <a:solidFill>
            <a:schemeClr val="bg2"/>
          </a:solidFill>
          <a:ln/>
        </p:spPr>
      </p:sp>
      <p:sp>
        <p:nvSpPr>
          <p:cNvPr id="24" name="Icon circle FaMobileAlt"/>
          <p:cNvSpPr/>
          <p:nvPr/>
        </p:nvSpPr>
        <p:spPr>
          <a:xfrm>
            <a:off x="8394192" y="1691640"/>
            <a:ext cx="822960" cy="822960"/>
          </a:xfrm>
          <a:prstGeom prst="ellipse">
            <a:avLst/>
          </a:prstGeom>
          <a:solidFill>
            <a:schemeClr val="accent4"/>
          </a:solidFill>
          <a:ln/>
        </p:spPr>
      </p:sp>
      <p:pic>
        <p:nvPicPr>
          <p:cNvPr id="25" name="Image 4" descr="MobileAlt icon">    </p:cNvPr>
          <p:cNvPicPr>
            <a:picLocks noChangeAspect="1"/>
          </p:cNvPicPr>
          <p:nvPr/>
        </p:nvPicPr>
        <p:blipFill>
          <a:blip r:embed="rId5"/>
          <a:stretch>
            <a:fillRect/>
          </a:stretch>
        </p:blipFill>
        <p:spPr>
          <a:xfrm>
            <a:off x="8591702" y="1889150"/>
            <a:ext cx="427939" cy="427939"/>
          </a:xfrm>
          <a:prstGeom prst="rect">
            <a:avLst/>
          </a:prstGeom>
        </p:spPr>
      </p:pic>
      <p:sp>
        <p:nvSpPr>
          <p:cNvPr id="26" name="Pill Cần dựng build"/>
          <p:cNvSpPr/>
          <p:nvPr/>
        </p:nvSpPr>
        <p:spPr>
          <a:xfrm>
            <a:off x="10030968" y="1828800"/>
            <a:ext cx="1371600" cy="274320"/>
          </a:xfrm>
          <a:prstGeom prst="roundRect">
            <a:avLst>
              <a:gd name="adj" fmla="val 50000"/>
            </a:avLst>
          </a:prstGeom>
          <a:solidFill>
            <a:schemeClr val="tx2"/>
          </a:solidFill>
          <a:ln/>
        </p:spPr>
      </p:sp>
      <p:sp>
        <p:nvSpPr>
          <p:cNvPr id="27" name="Text 20"/>
          <p:cNvSpPr txBox="1"/>
          <p:nvPr/>
        </p:nvSpPr>
        <p:spPr>
          <a:xfrm>
            <a:off x="10030968" y="1828800"/>
            <a:ext cx="1371600" cy="274320"/>
          </a:xfrm>
          <a:prstGeom prst="rect">
            <a:avLst/>
          </a:prstGeom>
          <a:noFill/>
          <a:ln/>
        </p:spPr>
        <p:txBody>
          <a:bodyPr wrap="square" lIns="0" tIns="0" rIns="0" bIns="0" rtlCol="0" anchor="ctr"/>
          <a:lstStyle/>
          <a:p>
            <a:pPr algn="ctr" indent="0" marL="0">
              <a:buNone/>
            </a:pPr>
            <a:r>
              <a:rPr lang="en-US" sz="1100" b="1" dirty="0">
                <a:solidFill>
                  <a:srgbClr val="FFFFFF"/>
                </a:solidFill>
              </a:rPr>
              <a:t>Cần dựng build</a:t>
            </a:r>
            <a:endParaRPr lang="en-US" sz="1100" dirty="0"/>
          </a:p>
        </p:txBody>
      </p:sp>
      <p:sp>
        <p:nvSpPr>
          <p:cNvPr id="28" name="Text 21"/>
          <p:cNvSpPr txBox="1"/>
          <p:nvPr/>
        </p:nvSpPr>
        <p:spPr>
          <a:xfrm>
            <a:off x="8394192" y="2697480"/>
            <a:ext cx="2962656" cy="411480"/>
          </a:xfrm>
          <a:prstGeom prst="rect">
            <a:avLst/>
          </a:prstGeom>
          <a:noFill/>
          <a:ln/>
        </p:spPr>
        <p:txBody>
          <a:bodyPr wrap="square" lIns="0" tIns="0" rIns="0" bIns="0" rtlCol="0" anchor="t"/>
          <a:lstStyle/>
          <a:p>
            <a:pPr algn="l" indent="0" marL="0">
              <a:buNone/>
            </a:pPr>
            <a:r>
              <a:rPr lang="en-US" sz="2400" b="1" dirty="0">
                <a:solidFill>
                  <a:schemeClr val="tx1"/>
                </a:solidFill>
                <a:latin typeface="+mj-lt" pitchFamily="34" charset="0"/>
                <a:ea typeface="+mj-lt" pitchFamily="34" charset="-122"/>
                <a:cs typeface="+mj-lt" pitchFamily="34" charset="-120"/>
              </a:rPr>
              <a:t>Lỗi logic thật</a:t>
            </a:r>
            <a:endParaRPr lang="en-US" sz="2400" dirty="0"/>
          </a:p>
        </p:txBody>
      </p:sp>
      <p:sp>
        <p:nvSpPr>
          <p:cNvPr id="29" name="Text 22"/>
          <p:cNvSpPr txBox="1"/>
          <p:nvPr/>
        </p:nvSpPr>
        <p:spPr>
          <a:xfrm>
            <a:off x="8394192" y="3154680"/>
            <a:ext cx="2962656" cy="320040"/>
          </a:xfrm>
          <a:prstGeom prst="rect">
            <a:avLst/>
          </a:prstGeom>
          <a:noFill/>
          <a:ln/>
        </p:spPr>
        <p:txBody>
          <a:bodyPr wrap="square" lIns="0" tIns="0" rIns="0" bIns="0" rtlCol="0" anchor="t"/>
          <a:lstStyle/>
          <a:p>
            <a:pPr algn="l" indent="0" marL="0">
              <a:buNone/>
            </a:pPr>
            <a:r>
              <a:rPr lang="en-US" sz="1400" dirty="0">
                <a:solidFill>
                  <a:schemeClr val="tx2"/>
                </a:solidFill>
              </a:rPr>
              <a:t>App chạy sai một chức năng</a:t>
            </a:r>
            <a:endParaRPr lang="en-US" sz="1400" dirty="0"/>
          </a:p>
        </p:txBody>
      </p:sp>
      <p:sp>
        <p:nvSpPr>
          <p:cNvPr id="30" name="Text 23"/>
          <p:cNvSpPr txBox="1"/>
          <p:nvPr/>
        </p:nvSpPr>
        <p:spPr>
          <a:xfrm>
            <a:off x="8394192" y="3703320"/>
            <a:ext cx="2962656" cy="228600"/>
          </a:xfrm>
          <a:prstGeom prst="rect">
            <a:avLst/>
          </a:prstGeom>
          <a:noFill/>
          <a:ln/>
        </p:spPr>
        <p:txBody>
          <a:bodyPr wrap="square" lIns="0" tIns="0" rIns="0" bIns="0" rtlCol="0" anchor="t"/>
          <a:lstStyle/>
          <a:p>
            <a:pPr algn="l" indent="0" marL="0">
              <a:buNone/>
            </a:pPr>
            <a:r>
              <a:rPr lang="en-US" sz="1200" b="1" spc="200" kern="0" dirty="0">
                <a:solidFill>
                  <a:schemeClr val="tx2"/>
                </a:solidFill>
              </a:rPr>
              <a:t>KẾT QUẢ MONG ĐỢI</a:t>
            </a:r>
            <a:endParaRPr lang="en-US" sz="1200" dirty="0"/>
          </a:p>
        </p:txBody>
      </p:sp>
      <p:pic>
        <p:nvPicPr>
          <p:cNvPr id="31" name="Image 5" descr="Ban icon">    </p:cNvPr>
          <p:cNvPicPr>
            <a:picLocks noChangeAspect="1"/>
          </p:cNvPicPr>
          <p:nvPr/>
        </p:nvPicPr>
        <p:blipFill>
          <a:blip r:embed="rId6"/>
          <a:stretch>
            <a:fillRect/>
          </a:stretch>
        </p:blipFill>
        <p:spPr>
          <a:xfrm>
            <a:off x="8394192" y="4114800"/>
            <a:ext cx="365760" cy="365760"/>
          </a:xfrm>
          <a:prstGeom prst="rect">
            <a:avLst/>
          </a:prstGeom>
        </p:spPr>
      </p:pic>
      <p:sp>
        <p:nvSpPr>
          <p:cNvPr id="32" name="Text 24"/>
          <p:cNvSpPr txBox="1"/>
          <p:nvPr/>
        </p:nvSpPr>
        <p:spPr>
          <a:xfrm>
            <a:off x="8897112" y="4023360"/>
            <a:ext cx="2459736" cy="1005840"/>
          </a:xfrm>
          <a:prstGeom prst="rect">
            <a:avLst/>
          </a:prstGeom>
          <a:noFill/>
          <a:ln/>
        </p:spPr>
        <p:txBody>
          <a:bodyPr wrap="square" lIns="0" tIns="0" rIns="0" bIns="0" rtlCol="0" anchor="t"/>
          <a:lstStyle/>
          <a:p>
            <a:pPr algn="l" indent="0" marL="0">
              <a:buNone/>
            </a:pPr>
            <a:r>
              <a:rPr lang="en-US" sz="1600" b="1" dirty="0">
                <a:solidFill>
                  <a:schemeClr val="tx1"/>
                </a:solidFill>
              </a:rPr>
              <a:t>AI từ chối sửa → test giữ đỏ → người phân loại (A)</a:t>
            </a:r>
            <a:endParaRPr lang="en-US" sz="1600" dirty="0"/>
          </a:p>
        </p:txBody>
      </p:sp>
      <p:sp>
        <p:nvSpPr>
          <p:cNvPr id="33" name="Watch for"/>
          <p:cNvSpPr/>
          <p:nvPr/>
        </p:nvSpPr>
        <p:spPr>
          <a:xfrm>
            <a:off x="548640" y="5166360"/>
            <a:ext cx="11091672" cy="868680"/>
          </a:xfrm>
          <a:prstGeom prst="roundRect">
            <a:avLst>
              <a:gd name="adj" fmla="val 12632"/>
            </a:avLst>
          </a:prstGeom>
          <a:solidFill>
            <a:schemeClr val="tx1"/>
          </a:solidFill>
          <a:ln/>
        </p:spPr>
      </p:sp>
      <p:sp>
        <p:nvSpPr>
          <p:cNvPr id="34" name="Text 26"/>
          <p:cNvSpPr txBox="1"/>
          <p:nvPr/>
        </p:nvSpPr>
        <p:spPr>
          <a:xfrm>
            <a:off x="822960" y="5166360"/>
            <a:ext cx="10515600" cy="868680"/>
          </a:xfrm>
          <a:prstGeom prst="rect">
            <a:avLst/>
          </a:prstGeom>
          <a:noFill/>
          <a:ln/>
        </p:spPr>
        <p:txBody>
          <a:bodyPr wrap="square" lIns="0" tIns="0" rIns="0" bIns="0" rtlCol="0" anchor="ctr"/>
          <a:lstStyle/>
          <a:p>
            <a:pPr algn="l" indent="0" marL="0">
              <a:buNone/>
            </a:pPr>
            <a:r>
              <a:rPr lang="en-US" sz="1800" b="1" dirty="0">
                <a:solidFill>
                  <a:schemeClr val="bg1"/>
                </a:solidFill>
              </a:rPr>
              <a:t>Chú ý một điều: </a:t>
            </a:r>
            <a:pPr algn="l" indent="0" marL="0">
              <a:buNone/>
            </a:pPr>
            <a:r>
              <a:rPr lang="en-US" sz="1800" dirty="0">
                <a:solidFill>
                  <a:schemeClr val="bg1"/>
                </a:solidFill>
              </a:rPr>
              <a:t>không phải AI sửa được test, mà là AI biết khi nào được sửa và khi nào phải từ chối.</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1672" cy="822960"/>
          </a:xfrm>
          <a:prstGeom prst="rect">
            <a:avLst/>
          </a:prstGeom>
          <a:noFill/>
          <a:ln/>
        </p:spPr>
        <p:txBody>
          <a:bodyPr wrap="square" lIns="0" tIns="0" rIns="0" bIns="0" rtlCol="0" anchor="ctr"/>
          <a:lstStyle/>
          <a:p>
            <a:pPr algn="l" indent="0" marL="0">
              <a:buNone/>
            </a:pPr>
            <a:r>
              <a:rPr lang="en-US" sz="4000" b="1" dirty="0">
                <a:solidFill>
                  <a:schemeClr val="bg1"/>
                </a:solidFill>
                <a:latin typeface="+mj-lt" pitchFamily="34" charset="0"/>
                <a:ea typeface="+mj-lt" pitchFamily="34" charset="-122"/>
                <a:cs typeface="+mj-lt" pitchFamily="34" charset="-120"/>
              </a:rPr>
              <a:t>DEMO 1 · Từ ticket đến PR</a:t>
            </a:r>
            <a:endParaRPr lang="en-US" sz="4000" dirty="0"/>
          </a:p>
        </p:txBody>
      </p:sp>
      <p:sp>
        <p:nvSpPr>
          <p:cNvPr id="3" name="Demo thread"/>
          <p:cNvSpPr/>
          <p:nvPr/>
        </p:nvSpPr>
        <p:spPr>
          <a:xfrm>
            <a:off x="1600200" y="2971800"/>
            <a:ext cx="8988552" cy="0"/>
          </a:xfrm>
          <a:prstGeom prst="line">
            <a:avLst/>
          </a:prstGeom>
          <a:noFill/>
          <a:ln w="19050">
            <a:solidFill>
              <a:schemeClr val="accent5"/>
            </a:solidFill>
            <a:prstDash val="solid"/>
          </a:ln>
        </p:spPr>
      </p:sp>
      <p:sp>
        <p:nvSpPr>
          <p:cNvPr id="4" name="Icon circle FaTicketAlt"/>
          <p:cNvSpPr/>
          <p:nvPr/>
        </p:nvSpPr>
        <p:spPr>
          <a:xfrm>
            <a:off x="1097280" y="2468880"/>
            <a:ext cx="1005840" cy="1005840"/>
          </a:xfrm>
          <a:prstGeom prst="ellipse">
            <a:avLst/>
          </a:prstGeom>
          <a:solidFill>
            <a:schemeClr val="accent2"/>
          </a:solidFill>
          <a:ln/>
        </p:spPr>
      </p:sp>
      <p:pic>
        <p:nvPicPr>
          <p:cNvPr id="5" name="Image 0" descr="TicketAlt icon">    </p:cNvPr>
          <p:cNvPicPr>
            <a:picLocks noChangeAspect="1"/>
          </p:cNvPicPr>
          <p:nvPr/>
        </p:nvPicPr>
        <p:blipFill>
          <a:blip r:embed="rId1"/>
          <a:stretch>
            <a:fillRect/>
          </a:stretch>
        </p:blipFill>
        <p:spPr>
          <a:xfrm>
            <a:off x="1338682" y="2710282"/>
            <a:ext cx="523037" cy="523037"/>
          </a:xfrm>
          <a:prstGeom prst="rect">
            <a:avLst/>
          </a:prstGeom>
        </p:spPr>
      </p:pic>
      <p:sp>
        <p:nvSpPr>
          <p:cNvPr id="6" name="Text 3"/>
          <p:cNvSpPr txBox="1"/>
          <p:nvPr/>
        </p:nvSpPr>
        <p:spPr>
          <a:xfrm>
            <a:off x="548640" y="3703320"/>
            <a:ext cx="2103120" cy="365760"/>
          </a:xfrm>
          <a:prstGeom prst="rect">
            <a:avLst/>
          </a:prstGeom>
          <a:noFill/>
          <a:ln/>
        </p:spPr>
        <p:txBody>
          <a:bodyPr wrap="square" lIns="0" tIns="0" rIns="0" bIns="0" rtlCol="0" anchor="t"/>
          <a:lstStyle/>
          <a:p>
            <a:pPr algn="ctr" indent="0" marL="0">
              <a:buNone/>
            </a:pPr>
            <a:r>
              <a:rPr lang="en-US" sz="1800" b="1" dirty="0">
                <a:solidFill>
                  <a:schemeClr val="bg1"/>
                </a:solidFill>
              </a:rPr>
              <a:t>Ticket Jira</a:t>
            </a:r>
            <a:endParaRPr lang="en-US" sz="1800" dirty="0"/>
          </a:p>
        </p:txBody>
      </p:sp>
      <p:sp>
        <p:nvSpPr>
          <p:cNvPr id="7" name="Text 4"/>
          <p:cNvSpPr txBox="1"/>
          <p:nvPr/>
        </p:nvSpPr>
        <p:spPr>
          <a:xfrm>
            <a:off x="548640" y="4114800"/>
            <a:ext cx="2103120" cy="640080"/>
          </a:xfrm>
          <a:prstGeom prst="rect">
            <a:avLst/>
          </a:prstGeom>
          <a:noFill/>
          <a:ln/>
        </p:spPr>
        <p:txBody>
          <a:bodyPr wrap="square" lIns="0" tIns="0" rIns="0" bIns="0" rtlCol="0" anchor="t"/>
          <a:lstStyle/>
          <a:p>
            <a:pPr algn="ctr" indent="0" marL="0">
              <a:buNone/>
            </a:pPr>
            <a:r>
              <a:rPr lang="en-US" sz="1400" dirty="0">
                <a:solidFill>
                  <a:schemeClr val="accent5"/>
                </a:solidFill>
              </a:rPr>
              <a:t>gắn label qa-auto</a:t>
            </a:r>
            <a:endParaRPr lang="en-US" sz="1400" dirty="0"/>
          </a:p>
        </p:txBody>
      </p:sp>
      <p:sp>
        <p:nvSpPr>
          <p:cNvPr id="8" name="Icon circle FaClipboardList"/>
          <p:cNvSpPr/>
          <p:nvPr/>
        </p:nvSpPr>
        <p:spPr>
          <a:xfrm>
            <a:off x="3344418" y="2468880"/>
            <a:ext cx="1005840" cy="1005840"/>
          </a:xfrm>
          <a:prstGeom prst="ellipse">
            <a:avLst/>
          </a:prstGeom>
          <a:solidFill>
            <a:schemeClr val="accent1"/>
          </a:solidFill>
          <a:ln/>
        </p:spPr>
      </p:sp>
      <p:pic>
        <p:nvPicPr>
          <p:cNvPr id="9" name="Image 1" descr="ClipboardList icon">    </p:cNvPr>
          <p:cNvPicPr>
            <a:picLocks noChangeAspect="1"/>
          </p:cNvPicPr>
          <p:nvPr/>
        </p:nvPicPr>
        <p:blipFill>
          <a:blip r:embed="rId2"/>
          <a:stretch>
            <a:fillRect/>
          </a:stretch>
        </p:blipFill>
        <p:spPr>
          <a:xfrm>
            <a:off x="3585820" y="2710282"/>
            <a:ext cx="523037" cy="523037"/>
          </a:xfrm>
          <a:prstGeom prst="rect">
            <a:avLst/>
          </a:prstGeom>
        </p:spPr>
      </p:pic>
      <p:sp>
        <p:nvSpPr>
          <p:cNvPr id="10" name="Text 6"/>
          <p:cNvSpPr txBox="1"/>
          <p:nvPr/>
        </p:nvSpPr>
        <p:spPr>
          <a:xfrm>
            <a:off x="2795778" y="3703320"/>
            <a:ext cx="2103120" cy="365760"/>
          </a:xfrm>
          <a:prstGeom prst="rect">
            <a:avLst/>
          </a:prstGeom>
          <a:noFill/>
          <a:ln/>
        </p:spPr>
        <p:txBody>
          <a:bodyPr wrap="square" lIns="0" tIns="0" rIns="0" bIns="0" rtlCol="0" anchor="t"/>
          <a:lstStyle/>
          <a:p>
            <a:pPr algn="ctr" indent="0" marL="0">
              <a:buNone/>
            </a:pPr>
            <a:r>
              <a:rPr lang="en-US" sz="1800" b="1" dirty="0">
                <a:solidFill>
                  <a:schemeClr val="bg1"/>
                </a:solidFill>
              </a:rPr>
              <a:t>Spec + test case</a:t>
            </a:r>
            <a:endParaRPr lang="en-US" sz="1800" dirty="0"/>
          </a:p>
        </p:txBody>
      </p:sp>
      <p:sp>
        <p:nvSpPr>
          <p:cNvPr id="11" name="Text 7"/>
          <p:cNvSpPr txBox="1"/>
          <p:nvPr/>
        </p:nvSpPr>
        <p:spPr>
          <a:xfrm>
            <a:off x="2795778" y="4114800"/>
            <a:ext cx="2103120" cy="640080"/>
          </a:xfrm>
          <a:prstGeom prst="rect">
            <a:avLst/>
          </a:prstGeom>
          <a:noFill/>
          <a:ln/>
        </p:spPr>
        <p:txBody>
          <a:bodyPr wrap="square" lIns="0" tIns="0" rIns="0" bIns="0" rtlCol="0" anchor="t"/>
          <a:lstStyle/>
          <a:p>
            <a:pPr algn="ctr" indent="0" marL="0">
              <a:buNone/>
            </a:pPr>
            <a:r>
              <a:rPr lang="en-US" sz="1400" dirty="0">
                <a:solidFill>
                  <a:schemeClr val="accent5"/>
                </a:solidFill>
              </a:rPr>
              <a:t>một comment duy nhất cho QA</a:t>
            </a:r>
            <a:endParaRPr lang="en-US" sz="1400" dirty="0"/>
          </a:p>
        </p:txBody>
      </p:sp>
      <p:sp>
        <p:nvSpPr>
          <p:cNvPr id="12" name="Icon circle FaUserCheck"/>
          <p:cNvSpPr/>
          <p:nvPr/>
        </p:nvSpPr>
        <p:spPr>
          <a:xfrm>
            <a:off x="5591556" y="2468880"/>
            <a:ext cx="1005840" cy="1005840"/>
          </a:xfrm>
          <a:prstGeom prst="ellipse">
            <a:avLst/>
          </a:prstGeom>
          <a:solidFill>
            <a:schemeClr val="accent2"/>
          </a:solidFill>
          <a:ln/>
        </p:spPr>
      </p:sp>
      <p:pic>
        <p:nvPicPr>
          <p:cNvPr id="13" name="Image 2" descr="UserCheck icon">    </p:cNvPr>
          <p:cNvPicPr>
            <a:picLocks noChangeAspect="1"/>
          </p:cNvPicPr>
          <p:nvPr/>
        </p:nvPicPr>
        <p:blipFill>
          <a:blip r:embed="rId3"/>
          <a:stretch>
            <a:fillRect/>
          </a:stretch>
        </p:blipFill>
        <p:spPr>
          <a:xfrm>
            <a:off x="5832958" y="2710282"/>
            <a:ext cx="523037" cy="523037"/>
          </a:xfrm>
          <a:prstGeom prst="rect">
            <a:avLst/>
          </a:prstGeom>
        </p:spPr>
      </p:pic>
      <p:sp>
        <p:nvSpPr>
          <p:cNvPr id="14" name="Text 9"/>
          <p:cNvSpPr txBox="1"/>
          <p:nvPr/>
        </p:nvSpPr>
        <p:spPr>
          <a:xfrm>
            <a:off x="5042916" y="3703320"/>
            <a:ext cx="2103120" cy="365760"/>
          </a:xfrm>
          <a:prstGeom prst="rect">
            <a:avLst/>
          </a:prstGeom>
          <a:noFill/>
          <a:ln/>
        </p:spPr>
        <p:txBody>
          <a:bodyPr wrap="square" lIns="0" tIns="0" rIns="0" bIns="0" rtlCol="0" anchor="t"/>
          <a:lstStyle/>
          <a:p>
            <a:pPr algn="ctr" indent="0" marL="0">
              <a:buNone/>
            </a:pPr>
            <a:r>
              <a:rPr lang="en-US" sz="1800" b="1" dirty="0">
                <a:solidFill>
                  <a:schemeClr val="bg1"/>
                </a:solidFill>
              </a:rPr>
              <a:t>Người duyệt</a:t>
            </a:r>
            <a:endParaRPr lang="en-US" sz="1800" dirty="0"/>
          </a:p>
        </p:txBody>
      </p:sp>
      <p:sp>
        <p:nvSpPr>
          <p:cNvPr id="15" name="Text 10"/>
          <p:cNvSpPr txBox="1"/>
          <p:nvPr/>
        </p:nvSpPr>
        <p:spPr>
          <a:xfrm>
            <a:off x="5042916" y="4114800"/>
            <a:ext cx="2103120" cy="640080"/>
          </a:xfrm>
          <a:prstGeom prst="rect">
            <a:avLst/>
          </a:prstGeom>
          <a:noFill/>
          <a:ln/>
        </p:spPr>
        <p:txBody>
          <a:bodyPr wrap="square" lIns="0" tIns="0" rIns="0" bIns="0" rtlCol="0" anchor="t"/>
          <a:lstStyle/>
          <a:p>
            <a:pPr algn="ctr" indent="0" marL="0">
              <a:buNone/>
            </a:pPr>
            <a:r>
              <a:rPr lang="en-US" sz="1400" dirty="0">
                <a:solidFill>
                  <a:schemeClr val="accent5"/>
                </a:solidFill>
              </a:rPr>
              <a:t>gắn label qa-approved</a:t>
            </a:r>
            <a:endParaRPr lang="en-US" sz="1400" dirty="0"/>
          </a:p>
        </p:txBody>
      </p:sp>
      <p:sp>
        <p:nvSpPr>
          <p:cNvPr id="16" name="Icon circle FaMobileAlt"/>
          <p:cNvSpPr/>
          <p:nvPr/>
        </p:nvSpPr>
        <p:spPr>
          <a:xfrm>
            <a:off x="7838694" y="2468880"/>
            <a:ext cx="1005840" cy="1005840"/>
          </a:xfrm>
          <a:prstGeom prst="ellipse">
            <a:avLst/>
          </a:prstGeom>
          <a:solidFill>
            <a:schemeClr val="accent1"/>
          </a:solidFill>
          <a:ln/>
        </p:spPr>
      </p:sp>
      <p:pic>
        <p:nvPicPr>
          <p:cNvPr id="17" name="Image 3" descr="MobileAlt icon">    </p:cNvPr>
          <p:cNvPicPr>
            <a:picLocks noChangeAspect="1"/>
          </p:cNvPicPr>
          <p:nvPr/>
        </p:nvPicPr>
        <p:blipFill>
          <a:blip r:embed="rId4"/>
          <a:stretch>
            <a:fillRect/>
          </a:stretch>
        </p:blipFill>
        <p:spPr>
          <a:xfrm>
            <a:off x="8080096" y="2710282"/>
            <a:ext cx="523037" cy="523037"/>
          </a:xfrm>
          <a:prstGeom prst="rect">
            <a:avLst/>
          </a:prstGeom>
        </p:spPr>
      </p:pic>
      <p:sp>
        <p:nvSpPr>
          <p:cNvPr id="18" name="Text 12"/>
          <p:cNvSpPr txBox="1"/>
          <p:nvPr/>
        </p:nvSpPr>
        <p:spPr>
          <a:xfrm>
            <a:off x="7290054" y="3703320"/>
            <a:ext cx="2103120" cy="365760"/>
          </a:xfrm>
          <a:prstGeom prst="rect">
            <a:avLst/>
          </a:prstGeom>
          <a:noFill/>
          <a:ln/>
        </p:spPr>
        <p:txBody>
          <a:bodyPr wrap="square" lIns="0" tIns="0" rIns="0" bIns="0" rtlCol="0" anchor="t"/>
          <a:lstStyle/>
          <a:p>
            <a:pPr algn="ctr" indent="0" marL="0">
              <a:buNone/>
            </a:pPr>
            <a:r>
              <a:rPr lang="en-US" sz="1800" b="1" dirty="0">
                <a:solidFill>
                  <a:schemeClr val="bg1"/>
                </a:solidFill>
              </a:rPr>
              <a:t>AI viết test</a:t>
            </a:r>
            <a:endParaRPr lang="en-US" sz="1800" dirty="0"/>
          </a:p>
        </p:txBody>
      </p:sp>
      <p:sp>
        <p:nvSpPr>
          <p:cNvPr id="19" name="Text 13"/>
          <p:cNvSpPr txBox="1"/>
          <p:nvPr/>
        </p:nvSpPr>
        <p:spPr>
          <a:xfrm>
            <a:off x="7290054" y="4114800"/>
            <a:ext cx="2103120" cy="640080"/>
          </a:xfrm>
          <a:prstGeom prst="rect">
            <a:avLst/>
          </a:prstGeom>
          <a:noFill/>
          <a:ln/>
        </p:spPr>
        <p:txBody>
          <a:bodyPr wrap="square" lIns="0" tIns="0" rIns="0" bIns="0" rtlCol="0" anchor="t"/>
          <a:lstStyle/>
          <a:p>
            <a:pPr algn="ctr" indent="0" marL="0">
              <a:buNone/>
            </a:pPr>
            <a:r>
              <a:rPr lang="en-US" sz="1400" dirty="0">
                <a:solidFill>
                  <a:schemeClr val="accent5"/>
                </a:solidFill>
              </a:rPr>
              <a:t>trên simulator thật, ≈ 2 phút</a:t>
            </a:r>
            <a:endParaRPr lang="en-US" sz="1400" dirty="0"/>
          </a:p>
        </p:txBody>
      </p:sp>
      <p:sp>
        <p:nvSpPr>
          <p:cNvPr id="20" name="Icon circle FaCodeBranch"/>
          <p:cNvSpPr/>
          <p:nvPr/>
        </p:nvSpPr>
        <p:spPr>
          <a:xfrm>
            <a:off x="10085832" y="2468880"/>
            <a:ext cx="1005840" cy="1005840"/>
          </a:xfrm>
          <a:prstGeom prst="ellipse">
            <a:avLst/>
          </a:prstGeom>
          <a:solidFill>
            <a:schemeClr val="accent2"/>
          </a:solidFill>
          <a:ln/>
        </p:spPr>
      </p:sp>
      <p:pic>
        <p:nvPicPr>
          <p:cNvPr id="21" name="Image 4" descr="CodeBranch icon">    </p:cNvPr>
          <p:cNvPicPr>
            <a:picLocks noChangeAspect="1"/>
          </p:cNvPicPr>
          <p:nvPr/>
        </p:nvPicPr>
        <p:blipFill>
          <a:blip r:embed="rId5"/>
          <a:stretch>
            <a:fillRect/>
          </a:stretch>
        </p:blipFill>
        <p:spPr>
          <a:xfrm>
            <a:off x="10327234" y="2710282"/>
            <a:ext cx="523037" cy="523037"/>
          </a:xfrm>
          <a:prstGeom prst="rect">
            <a:avLst/>
          </a:prstGeom>
        </p:spPr>
      </p:pic>
      <p:sp>
        <p:nvSpPr>
          <p:cNvPr id="22" name="Text 15"/>
          <p:cNvSpPr txBox="1"/>
          <p:nvPr/>
        </p:nvSpPr>
        <p:spPr>
          <a:xfrm>
            <a:off x="9537192" y="3703320"/>
            <a:ext cx="2103120" cy="365760"/>
          </a:xfrm>
          <a:prstGeom prst="rect">
            <a:avLst/>
          </a:prstGeom>
          <a:noFill/>
          <a:ln/>
        </p:spPr>
        <p:txBody>
          <a:bodyPr wrap="square" lIns="0" tIns="0" rIns="0" bIns="0" rtlCol="0" anchor="t"/>
          <a:lstStyle/>
          <a:p>
            <a:pPr algn="ctr" indent="0" marL="0">
              <a:buNone/>
            </a:pPr>
            <a:r>
              <a:rPr lang="en-US" sz="1800" b="1" dirty="0">
                <a:solidFill>
                  <a:schemeClr val="bg1"/>
                </a:solidFill>
              </a:rPr>
              <a:t>Pull request</a:t>
            </a:r>
            <a:endParaRPr lang="en-US" sz="1800" dirty="0"/>
          </a:p>
        </p:txBody>
      </p:sp>
      <p:sp>
        <p:nvSpPr>
          <p:cNvPr id="23" name="Text 16"/>
          <p:cNvSpPr txBox="1"/>
          <p:nvPr/>
        </p:nvSpPr>
        <p:spPr>
          <a:xfrm>
            <a:off x="9537192" y="4114800"/>
            <a:ext cx="2103120" cy="640080"/>
          </a:xfrm>
          <a:prstGeom prst="rect">
            <a:avLst/>
          </a:prstGeom>
          <a:noFill/>
          <a:ln/>
        </p:spPr>
        <p:txBody>
          <a:bodyPr wrap="square" lIns="0" tIns="0" rIns="0" bIns="0" rtlCol="0" anchor="t"/>
          <a:lstStyle/>
          <a:p>
            <a:pPr algn="ctr" indent="0" marL="0">
              <a:buNone/>
            </a:pPr>
            <a:r>
              <a:rPr lang="en-US" sz="1400" dirty="0">
                <a:solidFill>
                  <a:schemeClr val="accent5"/>
                </a:solidFill>
              </a:rPr>
              <a:t>ghi model, session, chi phí</a:t>
            </a:r>
            <a:endParaRPr lang="en-US" sz="1400" dirty="0"/>
          </a:p>
        </p:txBody>
      </p:sp>
      <p:sp>
        <p:nvSpPr>
          <p:cNvPr id="24" name="Pill ≈ 6 phút · chạy thật"/>
          <p:cNvSpPr/>
          <p:nvPr/>
        </p:nvSpPr>
        <p:spPr>
          <a:xfrm>
            <a:off x="548640" y="5486400"/>
            <a:ext cx="2377440" cy="411480"/>
          </a:xfrm>
          <a:prstGeom prst="roundRect">
            <a:avLst>
              <a:gd name="adj" fmla="val 50000"/>
            </a:avLst>
          </a:prstGeom>
          <a:solidFill>
            <a:schemeClr val="accent3"/>
          </a:solidFill>
          <a:ln/>
        </p:spPr>
      </p:sp>
      <p:sp>
        <p:nvSpPr>
          <p:cNvPr id="25" name="Text 18"/>
          <p:cNvSpPr txBox="1"/>
          <p:nvPr/>
        </p:nvSpPr>
        <p:spPr>
          <a:xfrm>
            <a:off x="548640" y="5486400"/>
            <a:ext cx="2377440" cy="411480"/>
          </a:xfrm>
          <a:prstGeom prst="rect">
            <a:avLst/>
          </a:prstGeom>
          <a:noFill/>
          <a:ln/>
        </p:spPr>
        <p:txBody>
          <a:bodyPr wrap="square" lIns="0" tIns="0" rIns="0" bIns="0" rtlCol="0" anchor="ctr"/>
          <a:lstStyle/>
          <a:p>
            <a:pPr algn="ctr" indent="0" marL="0">
              <a:buNone/>
            </a:pPr>
            <a:r>
              <a:rPr lang="en-US" sz="1400" b="1" dirty="0">
                <a:solidFill>
                  <a:srgbClr val="FFFFFF"/>
                </a:solidFill>
              </a:rPr>
              <a:t>≈ 6 phút · chạy thật</a:t>
            </a:r>
            <a:endParaRPr lang="en-US" sz="1400" dirty="0"/>
          </a:p>
        </p:txBody>
      </p:sp>
      <p:sp>
        <p:nvSpPr>
          <p:cNvPr id="26" name="Pill Bước 2–5 · Đã làm"/>
          <p:cNvSpPr/>
          <p:nvPr/>
        </p:nvSpPr>
        <p:spPr>
          <a:xfrm>
            <a:off x="3108960" y="5486400"/>
            <a:ext cx="2377440" cy="411480"/>
          </a:xfrm>
          <a:prstGeom prst="roundRect">
            <a:avLst>
              <a:gd name="adj" fmla="val 50000"/>
            </a:avLst>
          </a:prstGeom>
          <a:solidFill>
            <a:schemeClr val="tx2"/>
          </a:solidFill>
          <a:ln/>
        </p:spPr>
      </p:sp>
      <p:sp>
        <p:nvSpPr>
          <p:cNvPr id="27" name="Text 20"/>
          <p:cNvSpPr txBox="1"/>
          <p:nvPr/>
        </p:nvSpPr>
        <p:spPr>
          <a:xfrm>
            <a:off x="3108960" y="5486400"/>
            <a:ext cx="2377440" cy="411480"/>
          </a:xfrm>
          <a:prstGeom prst="rect">
            <a:avLst/>
          </a:prstGeom>
          <a:noFill/>
          <a:ln/>
        </p:spPr>
        <p:txBody>
          <a:bodyPr wrap="square" lIns="0" tIns="0" rIns="0" bIns="0" rtlCol="0" anchor="ctr"/>
          <a:lstStyle/>
          <a:p>
            <a:pPr algn="ctr" indent="0" marL="0">
              <a:buNone/>
            </a:pPr>
            <a:r>
              <a:rPr lang="en-US" sz="1400" b="1" dirty="0">
                <a:solidFill>
                  <a:srgbClr val="FFFFFF"/>
                </a:solidFill>
              </a:rPr>
              <a:t>Bước 2–5 · Đã làm</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1672" cy="822960"/>
          </a:xfrm>
          <a:prstGeom prst="rect">
            <a:avLst/>
          </a:prstGeom>
          <a:noFill/>
          <a:ln/>
        </p:spPr>
        <p:txBody>
          <a:bodyPr wrap="square" lIns="0" tIns="0" rIns="0" bIns="0" rtlCol="0" anchor="ctr"/>
          <a:lstStyle/>
          <a:p>
            <a:pPr algn="l" indent="0" marL="0">
              <a:buNone/>
            </a:pPr>
            <a:r>
              <a:rPr lang="en-US" sz="4000" b="1" dirty="0">
                <a:solidFill>
                  <a:schemeClr val="bg1"/>
                </a:solidFill>
                <a:latin typeface="+mj-lt" pitchFamily="34" charset="0"/>
                <a:ea typeface="+mj-lt" pitchFamily="34" charset="-122"/>
                <a:cs typeface="+mj-lt" pitchFamily="34" charset="-120"/>
              </a:rPr>
              <a:t>DEMO 2 · Chạy lại, sửa hay từ chối</a:t>
            </a:r>
            <a:endParaRPr lang="en-US" sz="4000" dirty="0"/>
          </a:p>
        </p:txBody>
      </p:sp>
      <p:sp>
        <p:nvSpPr>
          <p:cNvPr id="3" name="Demo thread"/>
          <p:cNvSpPr/>
          <p:nvPr/>
        </p:nvSpPr>
        <p:spPr>
          <a:xfrm>
            <a:off x="1874520" y="2971800"/>
            <a:ext cx="8440826" cy="0"/>
          </a:xfrm>
          <a:prstGeom prst="line">
            <a:avLst/>
          </a:prstGeom>
          <a:noFill/>
          <a:ln w="19050">
            <a:solidFill>
              <a:schemeClr val="accent5"/>
            </a:solidFill>
            <a:prstDash val="solid"/>
          </a:ln>
        </p:spPr>
      </p:sp>
      <p:sp>
        <p:nvSpPr>
          <p:cNvPr id="4" name="Icon circle FaCheckCircle"/>
          <p:cNvSpPr/>
          <p:nvPr/>
        </p:nvSpPr>
        <p:spPr>
          <a:xfrm>
            <a:off x="1371600" y="2468880"/>
            <a:ext cx="1005840" cy="1005840"/>
          </a:xfrm>
          <a:prstGeom prst="ellipse">
            <a:avLst/>
          </a:prstGeom>
          <a:solidFill>
            <a:schemeClr val="accent3"/>
          </a:solidFill>
          <a:ln/>
        </p:spPr>
      </p:sp>
      <p:pic>
        <p:nvPicPr>
          <p:cNvPr id="5" name="Image 0" descr="CheckCircle icon">    </p:cNvPr>
          <p:cNvPicPr>
            <a:picLocks noChangeAspect="1"/>
          </p:cNvPicPr>
          <p:nvPr/>
        </p:nvPicPr>
        <p:blipFill>
          <a:blip r:embed="rId1"/>
          <a:stretch>
            <a:fillRect/>
          </a:stretch>
        </p:blipFill>
        <p:spPr>
          <a:xfrm>
            <a:off x="1613002" y="2710282"/>
            <a:ext cx="523037" cy="523037"/>
          </a:xfrm>
          <a:prstGeom prst="rect">
            <a:avLst/>
          </a:prstGeom>
        </p:spPr>
      </p:pic>
      <p:sp>
        <p:nvSpPr>
          <p:cNvPr id="6" name="Text 3"/>
          <p:cNvSpPr txBox="1"/>
          <p:nvPr/>
        </p:nvSpPr>
        <p:spPr>
          <a:xfrm>
            <a:off x="548640" y="3703320"/>
            <a:ext cx="2651760" cy="365760"/>
          </a:xfrm>
          <a:prstGeom prst="rect">
            <a:avLst/>
          </a:prstGeom>
          <a:noFill/>
          <a:ln/>
        </p:spPr>
        <p:txBody>
          <a:bodyPr wrap="square" lIns="0" tIns="0" rIns="0" bIns="0" rtlCol="0" anchor="t"/>
          <a:lstStyle/>
          <a:p>
            <a:pPr algn="ctr" indent="0" marL="0">
              <a:buNone/>
            </a:pPr>
            <a:r>
              <a:rPr lang="en-US" sz="1800" b="1" dirty="0">
                <a:solidFill>
                  <a:schemeClr val="bg1"/>
                </a:solidFill>
              </a:rPr>
              <a:t>CI chạy lại</a:t>
            </a:r>
            <a:endParaRPr lang="en-US" sz="1800" dirty="0"/>
          </a:p>
        </p:txBody>
      </p:sp>
      <p:sp>
        <p:nvSpPr>
          <p:cNvPr id="7" name="Text 4"/>
          <p:cNvSpPr txBox="1"/>
          <p:nvPr/>
        </p:nvSpPr>
        <p:spPr>
          <a:xfrm>
            <a:off x="731520" y="4114800"/>
            <a:ext cx="2286000" cy="822960"/>
          </a:xfrm>
          <a:prstGeom prst="rect">
            <a:avLst/>
          </a:prstGeom>
          <a:noFill/>
          <a:ln/>
        </p:spPr>
        <p:txBody>
          <a:bodyPr wrap="square" lIns="0" tIns="0" rIns="0" bIns="0" rtlCol="0" anchor="t"/>
          <a:lstStyle/>
          <a:p>
            <a:pPr algn="ctr" indent="0" marL="0">
              <a:buNone/>
            </a:pPr>
            <a:r>
              <a:rPr lang="en-US" sz="1400" dirty="0">
                <a:solidFill>
                  <a:schemeClr val="accent5"/>
                </a:solidFill>
              </a:rPr>
              <a:t>bản gốc → xanh</a:t>
            </a:r>
            <a:endParaRPr lang="en-US" sz="1400" dirty="0"/>
          </a:p>
        </p:txBody>
      </p:sp>
      <p:sp>
        <p:nvSpPr>
          <p:cNvPr id="8" name="Icon circle FaWrench"/>
          <p:cNvSpPr/>
          <p:nvPr/>
        </p:nvSpPr>
        <p:spPr>
          <a:xfrm>
            <a:off x="4185209" y="2468880"/>
            <a:ext cx="1005840" cy="1005840"/>
          </a:xfrm>
          <a:prstGeom prst="ellipse">
            <a:avLst/>
          </a:prstGeom>
          <a:solidFill>
            <a:schemeClr val="accent1"/>
          </a:solidFill>
          <a:ln/>
        </p:spPr>
      </p:sp>
      <p:pic>
        <p:nvPicPr>
          <p:cNvPr id="9" name="Image 1" descr="Wrench icon">    </p:cNvPr>
          <p:cNvPicPr>
            <a:picLocks noChangeAspect="1"/>
          </p:cNvPicPr>
          <p:nvPr/>
        </p:nvPicPr>
        <p:blipFill>
          <a:blip r:embed="rId2"/>
          <a:stretch>
            <a:fillRect/>
          </a:stretch>
        </p:blipFill>
        <p:spPr>
          <a:xfrm>
            <a:off x="4426610" y="2710282"/>
            <a:ext cx="523037" cy="523037"/>
          </a:xfrm>
          <a:prstGeom prst="rect">
            <a:avLst/>
          </a:prstGeom>
        </p:spPr>
      </p:pic>
      <p:sp>
        <p:nvSpPr>
          <p:cNvPr id="10" name="Text 6"/>
          <p:cNvSpPr txBox="1"/>
          <p:nvPr/>
        </p:nvSpPr>
        <p:spPr>
          <a:xfrm>
            <a:off x="3362249" y="3703320"/>
            <a:ext cx="2651760" cy="365760"/>
          </a:xfrm>
          <a:prstGeom prst="rect">
            <a:avLst/>
          </a:prstGeom>
          <a:noFill/>
          <a:ln/>
        </p:spPr>
        <p:txBody>
          <a:bodyPr wrap="square" lIns="0" tIns="0" rIns="0" bIns="0" rtlCol="0" anchor="t"/>
          <a:lstStyle/>
          <a:p>
            <a:pPr algn="ctr" indent="0" marL="0">
              <a:buNone/>
            </a:pPr>
            <a:r>
              <a:rPr lang="en-US" sz="1800" b="1" dirty="0">
                <a:solidFill>
                  <a:schemeClr val="bg1"/>
                </a:solidFill>
              </a:rPr>
              <a:t>Đổi ID → đỏ</a:t>
            </a:r>
            <a:endParaRPr lang="en-US" sz="1800" dirty="0"/>
          </a:p>
        </p:txBody>
      </p:sp>
      <p:sp>
        <p:nvSpPr>
          <p:cNvPr id="11" name="Text 7"/>
          <p:cNvSpPr txBox="1"/>
          <p:nvPr/>
        </p:nvSpPr>
        <p:spPr>
          <a:xfrm>
            <a:off x="3545129" y="4114800"/>
            <a:ext cx="2286000" cy="822960"/>
          </a:xfrm>
          <a:prstGeom prst="rect">
            <a:avLst/>
          </a:prstGeom>
          <a:noFill/>
          <a:ln/>
        </p:spPr>
        <p:txBody>
          <a:bodyPr wrap="square" lIns="0" tIns="0" rIns="0" bIns="0" rtlCol="0" anchor="t"/>
          <a:lstStyle/>
          <a:p>
            <a:pPr algn="ctr" indent="0" marL="0">
              <a:buNone/>
            </a:pPr>
            <a:r>
              <a:rPr lang="en-US" sz="1400" dirty="0">
                <a:solidFill>
                  <a:schemeClr val="accent5"/>
                </a:solidFill>
              </a:rPr>
              <a:t>AI vá selector kèm bằng chứng → xanh</a:t>
            </a:r>
            <a:endParaRPr lang="en-US" sz="1400" dirty="0"/>
          </a:p>
        </p:txBody>
      </p:sp>
      <p:sp>
        <p:nvSpPr>
          <p:cNvPr id="12" name="Icon circle FaBan"/>
          <p:cNvSpPr/>
          <p:nvPr/>
        </p:nvSpPr>
        <p:spPr>
          <a:xfrm>
            <a:off x="6998818" y="2468880"/>
            <a:ext cx="1005840" cy="1005840"/>
          </a:xfrm>
          <a:prstGeom prst="ellipse">
            <a:avLst/>
          </a:prstGeom>
          <a:solidFill>
            <a:schemeClr val="accent4"/>
          </a:solidFill>
          <a:ln/>
        </p:spPr>
      </p:sp>
      <p:pic>
        <p:nvPicPr>
          <p:cNvPr id="13" name="Image 2" descr="Ban icon">    </p:cNvPr>
          <p:cNvPicPr>
            <a:picLocks noChangeAspect="1"/>
          </p:cNvPicPr>
          <p:nvPr/>
        </p:nvPicPr>
        <p:blipFill>
          <a:blip r:embed="rId3"/>
          <a:stretch>
            <a:fillRect/>
          </a:stretch>
        </p:blipFill>
        <p:spPr>
          <a:xfrm>
            <a:off x="7240219" y="2710282"/>
            <a:ext cx="523037" cy="523037"/>
          </a:xfrm>
          <a:prstGeom prst="rect">
            <a:avLst/>
          </a:prstGeom>
        </p:spPr>
      </p:pic>
      <p:sp>
        <p:nvSpPr>
          <p:cNvPr id="14" name="Text 9"/>
          <p:cNvSpPr txBox="1"/>
          <p:nvPr/>
        </p:nvSpPr>
        <p:spPr>
          <a:xfrm>
            <a:off x="6175858" y="3703320"/>
            <a:ext cx="2651760" cy="365760"/>
          </a:xfrm>
          <a:prstGeom prst="rect">
            <a:avLst/>
          </a:prstGeom>
          <a:noFill/>
          <a:ln/>
        </p:spPr>
        <p:txBody>
          <a:bodyPr wrap="square" lIns="0" tIns="0" rIns="0" bIns="0" rtlCol="0" anchor="t"/>
          <a:lstStyle/>
          <a:p>
            <a:pPr algn="ctr" indent="0" marL="0">
              <a:buNone/>
            </a:pPr>
            <a:r>
              <a:rPr lang="en-US" sz="1800" b="1" dirty="0">
                <a:solidFill>
                  <a:schemeClr val="bg1"/>
                </a:solidFill>
              </a:rPr>
              <a:t>Lỗi thật → đỏ</a:t>
            </a:r>
            <a:endParaRPr lang="en-US" sz="1800" dirty="0"/>
          </a:p>
        </p:txBody>
      </p:sp>
      <p:sp>
        <p:nvSpPr>
          <p:cNvPr id="15" name="Text 10"/>
          <p:cNvSpPr txBox="1"/>
          <p:nvPr/>
        </p:nvSpPr>
        <p:spPr>
          <a:xfrm>
            <a:off x="6358738" y="4114800"/>
            <a:ext cx="2286000" cy="822960"/>
          </a:xfrm>
          <a:prstGeom prst="rect">
            <a:avLst/>
          </a:prstGeom>
          <a:noFill/>
          <a:ln/>
        </p:spPr>
        <p:txBody>
          <a:bodyPr wrap="square" lIns="0" tIns="0" rIns="0" bIns="0" rtlCol="0" anchor="t"/>
          <a:lstStyle/>
          <a:p>
            <a:pPr algn="ctr" indent="0" marL="0">
              <a:buNone/>
            </a:pPr>
            <a:r>
              <a:rPr lang="en-US" sz="1400" dirty="0">
                <a:solidFill>
                  <a:schemeClr val="accent5"/>
                </a:solidFill>
              </a:rPr>
              <a:t>AI từ chối sửa, chuyển cho người</a:t>
            </a:r>
            <a:endParaRPr lang="en-US" sz="1400" dirty="0"/>
          </a:p>
        </p:txBody>
      </p:sp>
      <p:sp>
        <p:nvSpPr>
          <p:cNvPr id="16" name="Icon circle FaFileAlt"/>
          <p:cNvSpPr/>
          <p:nvPr/>
        </p:nvSpPr>
        <p:spPr>
          <a:xfrm>
            <a:off x="9812426" y="2468880"/>
            <a:ext cx="1005840" cy="1005840"/>
          </a:xfrm>
          <a:prstGeom prst="ellipse">
            <a:avLst/>
          </a:prstGeom>
          <a:solidFill>
            <a:schemeClr val="accent1"/>
          </a:solidFill>
          <a:ln/>
        </p:spPr>
      </p:sp>
      <p:pic>
        <p:nvPicPr>
          <p:cNvPr id="17" name="Image 3" descr="FileAlt icon">    </p:cNvPr>
          <p:cNvPicPr>
            <a:picLocks noChangeAspect="1"/>
          </p:cNvPicPr>
          <p:nvPr/>
        </p:nvPicPr>
        <p:blipFill>
          <a:blip r:embed="rId4"/>
          <a:stretch>
            <a:fillRect/>
          </a:stretch>
        </p:blipFill>
        <p:spPr>
          <a:xfrm>
            <a:off x="10053828" y="2710282"/>
            <a:ext cx="523037" cy="523037"/>
          </a:xfrm>
          <a:prstGeom prst="rect">
            <a:avLst/>
          </a:prstGeom>
        </p:spPr>
      </p:pic>
      <p:sp>
        <p:nvSpPr>
          <p:cNvPr id="18" name="Text 12"/>
          <p:cNvSpPr txBox="1"/>
          <p:nvPr/>
        </p:nvSpPr>
        <p:spPr>
          <a:xfrm>
            <a:off x="8989466" y="3703320"/>
            <a:ext cx="2651760" cy="365760"/>
          </a:xfrm>
          <a:prstGeom prst="rect">
            <a:avLst/>
          </a:prstGeom>
          <a:noFill/>
          <a:ln/>
        </p:spPr>
        <p:txBody>
          <a:bodyPr wrap="square" lIns="0" tIns="0" rIns="0" bIns="0" rtlCol="0" anchor="t"/>
          <a:lstStyle/>
          <a:p>
            <a:pPr algn="ctr" indent="0" marL="0">
              <a:buNone/>
            </a:pPr>
            <a:r>
              <a:rPr lang="en-US" sz="1800" b="1" dirty="0">
                <a:solidFill>
                  <a:schemeClr val="bg1"/>
                </a:solidFill>
              </a:rPr>
              <a:t>Báo cáo</a:t>
            </a:r>
            <a:endParaRPr lang="en-US" sz="1800" dirty="0"/>
          </a:p>
        </p:txBody>
      </p:sp>
      <p:sp>
        <p:nvSpPr>
          <p:cNvPr id="19" name="Text 13"/>
          <p:cNvSpPr txBox="1"/>
          <p:nvPr/>
        </p:nvSpPr>
        <p:spPr>
          <a:xfrm>
            <a:off x="9172346" y="4114800"/>
            <a:ext cx="2286000" cy="822960"/>
          </a:xfrm>
          <a:prstGeom prst="rect">
            <a:avLst/>
          </a:prstGeom>
          <a:noFill/>
          <a:ln/>
        </p:spPr>
        <p:txBody>
          <a:bodyPr wrap="square" lIns="0" tIns="0" rIns="0" bIns="0" rtlCol="0" anchor="t"/>
          <a:lstStyle/>
          <a:p>
            <a:pPr algn="ctr" indent="0" marL="0">
              <a:buNone/>
            </a:pPr>
            <a:r>
              <a:rPr lang="en-US" sz="1400" dirty="0">
                <a:solidFill>
                  <a:schemeClr val="accent5"/>
                </a:solidFill>
              </a:rPr>
              <a:t>model, số lần thử, chi phí, người duyệt</a:t>
            </a:r>
            <a:endParaRPr lang="en-US" sz="1400" dirty="0"/>
          </a:p>
        </p:txBody>
      </p:sp>
      <p:sp>
        <p:nvSpPr>
          <p:cNvPr id="20" name="Pill ≈ 5 phút · kết quả chạy sẵn"/>
          <p:cNvSpPr/>
          <p:nvPr/>
        </p:nvSpPr>
        <p:spPr>
          <a:xfrm>
            <a:off x="548640" y="5486400"/>
            <a:ext cx="2926080" cy="411480"/>
          </a:xfrm>
          <a:prstGeom prst="roundRect">
            <a:avLst>
              <a:gd name="adj" fmla="val 50000"/>
            </a:avLst>
          </a:prstGeom>
          <a:solidFill>
            <a:schemeClr val="accent3"/>
          </a:solidFill>
          <a:ln/>
        </p:spPr>
      </p:sp>
      <p:sp>
        <p:nvSpPr>
          <p:cNvPr id="21" name="Text 15"/>
          <p:cNvSpPr txBox="1"/>
          <p:nvPr/>
        </p:nvSpPr>
        <p:spPr>
          <a:xfrm>
            <a:off x="548640" y="5486400"/>
            <a:ext cx="2926080" cy="411480"/>
          </a:xfrm>
          <a:prstGeom prst="rect">
            <a:avLst/>
          </a:prstGeom>
          <a:noFill/>
          <a:ln/>
        </p:spPr>
        <p:txBody>
          <a:bodyPr wrap="square" lIns="0" tIns="0" rIns="0" bIns="0" rtlCol="0" anchor="ctr"/>
          <a:lstStyle/>
          <a:p>
            <a:pPr algn="ctr" indent="0" marL="0">
              <a:buNone/>
            </a:pPr>
            <a:r>
              <a:rPr lang="en-US" sz="1400" b="1" dirty="0">
                <a:solidFill>
                  <a:srgbClr val="FFFFFF"/>
                </a:solidFill>
              </a:rPr>
              <a:t>≈ 5 phút · kết quả chạy sẵn</a:t>
            </a:r>
            <a:endParaRPr lang="en-US" sz="1400" dirty="0"/>
          </a:p>
        </p:txBody>
      </p:sp>
      <p:sp>
        <p:nvSpPr>
          <p:cNvPr id="22" name="Pill Bước 6 đã làm · Bước 7–8 đã thiết kế"/>
          <p:cNvSpPr/>
          <p:nvPr/>
        </p:nvSpPr>
        <p:spPr>
          <a:xfrm>
            <a:off x="3657600" y="5486400"/>
            <a:ext cx="4206240" cy="411480"/>
          </a:xfrm>
          <a:prstGeom prst="roundRect">
            <a:avLst>
              <a:gd name="adj" fmla="val 50000"/>
            </a:avLst>
          </a:prstGeom>
          <a:solidFill>
            <a:schemeClr val="tx2"/>
          </a:solidFill>
          <a:ln/>
        </p:spPr>
      </p:sp>
      <p:sp>
        <p:nvSpPr>
          <p:cNvPr id="23" name="Text 17"/>
          <p:cNvSpPr txBox="1"/>
          <p:nvPr/>
        </p:nvSpPr>
        <p:spPr>
          <a:xfrm>
            <a:off x="3657600" y="5486400"/>
            <a:ext cx="4206240" cy="411480"/>
          </a:xfrm>
          <a:prstGeom prst="rect">
            <a:avLst/>
          </a:prstGeom>
          <a:noFill/>
          <a:ln/>
        </p:spPr>
        <p:txBody>
          <a:bodyPr wrap="square" lIns="0" tIns="0" rIns="0" bIns="0" rtlCol="0" anchor="ctr"/>
          <a:lstStyle/>
          <a:p>
            <a:pPr algn="ctr" indent="0" marL="0">
              <a:buNone/>
            </a:pPr>
            <a:r>
              <a:rPr lang="en-US" sz="1400" b="1" dirty="0">
                <a:solidFill>
                  <a:srgbClr val="FFFFFF"/>
                </a:solidFill>
              </a:rPr>
              <a:t>Bước 6 đã làm · Bước 7–8 đã thiết kế</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latin typeface="+mj-lt" pitchFamily="34" charset="0"/>
                <a:ea typeface="+mj-lt" pitchFamily="34" charset="-122"/>
                <a:cs typeface="+mj-lt" pitchFamily="34" charset="-120"/>
              </a:rPr>
              <a:t>Điểm mấu chốt: biết khi nào không được sửa</a:t>
            </a:r>
            <a:endParaRPr lang="en-US" sz="3600" dirty="0"/>
          </a:p>
        </p:txBody>
      </p:sp>
      <p:sp>
        <p:nvSpPr>
          <p:cNvPr id="3" name="AI được tự sửa"/>
          <p:cNvSpPr/>
          <p:nvPr/>
        </p:nvSpPr>
        <p:spPr>
          <a:xfrm>
            <a:off x="548640" y="1371600"/>
            <a:ext cx="5440680" cy="3429000"/>
          </a:xfrm>
          <a:prstGeom prst="roundRect">
            <a:avLst>
              <a:gd name="adj" fmla="val 3200"/>
            </a:avLst>
          </a:prstGeom>
          <a:solidFill>
            <a:schemeClr val="bg2"/>
          </a:solidFill>
          <a:ln/>
        </p:spPr>
      </p:sp>
      <p:sp>
        <p:nvSpPr>
          <p:cNvPr id="4" name="Icon circle FaCheckCircle"/>
          <p:cNvSpPr/>
          <p:nvPr/>
        </p:nvSpPr>
        <p:spPr>
          <a:xfrm>
            <a:off x="868680" y="1645920"/>
            <a:ext cx="822960" cy="822960"/>
          </a:xfrm>
          <a:prstGeom prst="ellipse">
            <a:avLst/>
          </a:prstGeom>
          <a:solidFill>
            <a:schemeClr val="accent3"/>
          </a:solidFill>
          <a:ln/>
        </p:spPr>
      </p:sp>
      <p:pic>
        <p:nvPicPr>
          <p:cNvPr id="5" name="Image 0" descr="CheckCircle icon">    </p:cNvPr>
          <p:cNvPicPr>
            <a:picLocks noChangeAspect="1"/>
          </p:cNvPicPr>
          <p:nvPr/>
        </p:nvPicPr>
        <p:blipFill>
          <a:blip r:embed="rId1"/>
          <a:stretch>
            <a:fillRect/>
          </a:stretch>
        </p:blipFill>
        <p:spPr>
          <a:xfrm>
            <a:off x="1066190" y="1843430"/>
            <a:ext cx="427939" cy="427939"/>
          </a:xfrm>
          <a:prstGeom prst="rect">
            <a:avLst/>
          </a:prstGeom>
        </p:spPr>
      </p:pic>
      <p:sp>
        <p:nvSpPr>
          <p:cNvPr id="6" name="Text 3"/>
          <p:cNvSpPr txBox="1"/>
          <p:nvPr/>
        </p:nvSpPr>
        <p:spPr>
          <a:xfrm>
            <a:off x="1920240" y="1645920"/>
            <a:ext cx="3840480" cy="822960"/>
          </a:xfrm>
          <a:prstGeom prst="rect">
            <a:avLst/>
          </a:prstGeom>
          <a:noFill/>
          <a:ln/>
        </p:spPr>
        <p:txBody>
          <a:bodyPr wrap="square" lIns="0" tIns="0" rIns="0" bIns="0" rtlCol="0" anchor="ctr"/>
          <a:lstStyle/>
          <a:p>
            <a:pPr algn="l" indent="0" marL="0">
              <a:buNone/>
            </a:pPr>
            <a:r>
              <a:rPr lang="en-US" sz="2600" b="1" dirty="0">
                <a:solidFill>
                  <a:schemeClr val="tx1"/>
                </a:solidFill>
                <a:latin typeface="+mj-lt" pitchFamily="34" charset="0"/>
                <a:ea typeface="+mj-lt" pitchFamily="34" charset="-122"/>
                <a:cs typeface="+mj-lt" pitchFamily="34" charset="-120"/>
              </a:rPr>
              <a:t>AI được tự sửa</a:t>
            </a:r>
            <a:endParaRPr lang="en-US" sz="2600" dirty="0"/>
          </a:p>
        </p:txBody>
      </p:sp>
      <p:sp>
        <p:nvSpPr>
          <p:cNvPr id="7" name="Text 4"/>
          <p:cNvSpPr txBox="1"/>
          <p:nvPr/>
        </p:nvSpPr>
        <p:spPr>
          <a:xfrm>
            <a:off x="868680" y="2743200"/>
            <a:ext cx="4754880" cy="228600"/>
          </a:xfrm>
          <a:prstGeom prst="rect">
            <a:avLst/>
          </a:prstGeom>
          <a:noFill/>
          <a:ln/>
        </p:spPr>
        <p:txBody>
          <a:bodyPr wrap="square" lIns="0" tIns="0" rIns="0" bIns="0" rtlCol="0" anchor="t"/>
          <a:lstStyle/>
          <a:p>
            <a:pPr algn="l" indent="0" marL="0">
              <a:buNone/>
            </a:pPr>
            <a:r>
              <a:rPr lang="en-US" sz="1200" b="1" spc="200" kern="0" dirty="0">
                <a:solidFill>
                  <a:schemeClr val="tx2"/>
                </a:solidFill>
              </a:rPr>
              <a:t>VÍ DỤ</a:t>
            </a:r>
            <a:endParaRPr lang="en-US" sz="1200" dirty="0"/>
          </a:p>
        </p:txBody>
      </p:sp>
      <p:sp>
        <p:nvSpPr>
          <p:cNvPr id="8" name="Text 5"/>
          <p:cNvSpPr txBox="1"/>
          <p:nvPr/>
        </p:nvSpPr>
        <p:spPr>
          <a:xfrm>
            <a:off x="868680" y="3017520"/>
            <a:ext cx="4800600" cy="594360"/>
          </a:xfrm>
          <a:prstGeom prst="rect">
            <a:avLst/>
          </a:prstGeom>
          <a:noFill/>
          <a:ln/>
        </p:spPr>
        <p:txBody>
          <a:bodyPr wrap="square" lIns="0" tIns="0" rIns="0" bIns="0" rtlCol="0" anchor="t"/>
          <a:lstStyle/>
          <a:p>
            <a:pPr algn="l" indent="0" marL="0">
              <a:buNone/>
            </a:pPr>
            <a:r>
              <a:rPr lang="en-US" sz="1600" dirty="0">
                <a:solidFill>
                  <a:schemeClr val="tx1"/>
                </a:solidFill>
              </a:rPr>
              <a:t>Giao diện đổi nhưng app vẫn đúng. Ví dụ: một nút đổi ID.</a:t>
            </a:r>
            <a:endParaRPr lang="en-US" sz="1600" dirty="0"/>
          </a:p>
        </p:txBody>
      </p:sp>
      <p:sp>
        <p:nvSpPr>
          <p:cNvPr id="9" name="Text 6"/>
          <p:cNvSpPr txBox="1"/>
          <p:nvPr/>
        </p:nvSpPr>
        <p:spPr>
          <a:xfrm>
            <a:off x="868680" y="3657600"/>
            <a:ext cx="4754880" cy="228600"/>
          </a:xfrm>
          <a:prstGeom prst="rect">
            <a:avLst/>
          </a:prstGeom>
          <a:noFill/>
          <a:ln/>
        </p:spPr>
        <p:txBody>
          <a:bodyPr wrap="square" lIns="0" tIns="0" rIns="0" bIns="0" rtlCol="0" anchor="t"/>
          <a:lstStyle/>
          <a:p>
            <a:pPr algn="l" indent="0" marL="0">
              <a:buNone/>
            </a:pPr>
            <a:r>
              <a:rPr lang="en-US" sz="1200" b="1" spc="200" kern="0" dirty="0">
                <a:solidFill>
                  <a:schemeClr val="tx2"/>
                </a:solidFill>
              </a:rPr>
              <a:t>VIỆC LÀM</a:t>
            </a:r>
            <a:endParaRPr lang="en-US" sz="1200" dirty="0"/>
          </a:p>
        </p:txBody>
      </p:sp>
      <p:sp>
        <p:nvSpPr>
          <p:cNvPr id="10" name="Text 7"/>
          <p:cNvSpPr txBox="1"/>
          <p:nvPr/>
        </p:nvSpPr>
        <p:spPr>
          <a:xfrm>
            <a:off x="868680" y="3931920"/>
            <a:ext cx="4800600" cy="777240"/>
          </a:xfrm>
          <a:prstGeom prst="rect">
            <a:avLst/>
          </a:prstGeom>
          <a:noFill/>
          <a:ln/>
        </p:spPr>
        <p:txBody>
          <a:bodyPr wrap="square" lIns="0" tIns="0" rIns="0" bIns="0" rtlCol="0" anchor="t"/>
          <a:lstStyle/>
          <a:p>
            <a:pPr algn="l" indent="0" marL="0">
              <a:buNone/>
            </a:pPr>
            <a:r>
              <a:rPr lang="en-US" sz="1600" b="1" dirty="0">
                <a:solidFill>
                  <a:schemeClr val="tx1"/>
                </a:solidFill>
              </a:rPr>
              <a:t>Cập nhật selector kèm bằng chứng từ màn hình thật → chạy lại → mở PR cho người duyệt.</a:t>
            </a:r>
            <a:endParaRPr lang="en-US" sz="1600" dirty="0"/>
          </a:p>
        </p:txBody>
      </p:sp>
      <p:sp>
        <p:nvSpPr>
          <p:cNvPr id="11" name="AI phải từ chối"/>
          <p:cNvSpPr/>
          <p:nvPr/>
        </p:nvSpPr>
        <p:spPr>
          <a:xfrm>
            <a:off x="6199632" y="1371600"/>
            <a:ext cx="5440680" cy="3429000"/>
          </a:xfrm>
          <a:prstGeom prst="roundRect">
            <a:avLst>
              <a:gd name="adj" fmla="val 3200"/>
            </a:avLst>
          </a:prstGeom>
          <a:solidFill>
            <a:schemeClr val="bg2"/>
          </a:solidFill>
          <a:ln/>
        </p:spPr>
      </p:sp>
      <p:sp>
        <p:nvSpPr>
          <p:cNvPr id="12" name="Icon circle FaBan"/>
          <p:cNvSpPr/>
          <p:nvPr/>
        </p:nvSpPr>
        <p:spPr>
          <a:xfrm>
            <a:off x="6519672" y="1645920"/>
            <a:ext cx="822960" cy="822960"/>
          </a:xfrm>
          <a:prstGeom prst="ellipse">
            <a:avLst/>
          </a:prstGeom>
          <a:solidFill>
            <a:schemeClr val="accent4"/>
          </a:solidFill>
          <a:ln/>
        </p:spPr>
      </p:sp>
      <p:pic>
        <p:nvPicPr>
          <p:cNvPr id="13" name="Image 1" descr="Ban icon">    </p:cNvPr>
          <p:cNvPicPr>
            <a:picLocks noChangeAspect="1"/>
          </p:cNvPicPr>
          <p:nvPr/>
        </p:nvPicPr>
        <p:blipFill>
          <a:blip r:embed="rId2"/>
          <a:stretch>
            <a:fillRect/>
          </a:stretch>
        </p:blipFill>
        <p:spPr>
          <a:xfrm>
            <a:off x="6717182" y="1843430"/>
            <a:ext cx="427939" cy="427939"/>
          </a:xfrm>
          <a:prstGeom prst="rect">
            <a:avLst/>
          </a:prstGeom>
        </p:spPr>
      </p:pic>
      <p:sp>
        <p:nvSpPr>
          <p:cNvPr id="14" name="Text 10"/>
          <p:cNvSpPr txBox="1"/>
          <p:nvPr/>
        </p:nvSpPr>
        <p:spPr>
          <a:xfrm>
            <a:off x="7571232" y="1645920"/>
            <a:ext cx="3840480" cy="822960"/>
          </a:xfrm>
          <a:prstGeom prst="rect">
            <a:avLst/>
          </a:prstGeom>
          <a:noFill/>
          <a:ln/>
        </p:spPr>
        <p:txBody>
          <a:bodyPr wrap="square" lIns="0" tIns="0" rIns="0" bIns="0" rtlCol="0" anchor="ctr"/>
          <a:lstStyle/>
          <a:p>
            <a:pPr algn="l" indent="0" marL="0">
              <a:buNone/>
            </a:pPr>
            <a:r>
              <a:rPr lang="en-US" sz="2600" b="1" dirty="0">
                <a:solidFill>
                  <a:schemeClr val="tx1"/>
                </a:solidFill>
                <a:latin typeface="+mj-lt" pitchFamily="34" charset="0"/>
                <a:ea typeface="+mj-lt" pitchFamily="34" charset="-122"/>
                <a:cs typeface="+mj-lt" pitchFamily="34" charset="-120"/>
              </a:rPr>
              <a:t>AI phải từ chối</a:t>
            </a:r>
            <a:endParaRPr lang="en-US" sz="2600" dirty="0"/>
          </a:p>
        </p:txBody>
      </p:sp>
      <p:sp>
        <p:nvSpPr>
          <p:cNvPr id="15" name="Text 11"/>
          <p:cNvSpPr txBox="1"/>
          <p:nvPr/>
        </p:nvSpPr>
        <p:spPr>
          <a:xfrm>
            <a:off x="6519672" y="2743200"/>
            <a:ext cx="4754880" cy="228600"/>
          </a:xfrm>
          <a:prstGeom prst="rect">
            <a:avLst/>
          </a:prstGeom>
          <a:noFill/>
          <a:ln/>
        </p:spPr>
        <p:txBody>
          <a:bodyPr wrap="square" lIns="0" tIns="0" rIns="0" bIns="0" rtlCol="0" anchor="t"/>
          <a:lstStyle/>
          <a:p>
            <a:pPr algn="l" indent="0" marL="0">
              <a:buNone/>
            </a:pPr>
            <a:r>
              <a:rPr lang="en-US" sz="1200" b="1" spc="200" kern="0" dirty="0">
                <a:solidFill>
                  <a:schemeClr val="tx2"/>
                </a:solidFill>
              </a:rPr>
              <a:t>VÍ DỤ</a:t>
            </a:r>
            <a:endParaRPr lang="en-US" sz="1200" dirty="0"/>
          </a:p>
        </p:txBody>
      </p:sp>
      <p:sp>
        <p:nvSpPr>
          <p:cNvPr id="16" name="Text 12"/>
          <p:cNvSpPr txBox="1"/>
          <p:nvPr/>
        </p:nvSpPr>
        <p:spPr>
          <a:xfrm>
            <a:off x="6519672" y="3017520"/>
            <a:ext cx="4800600" cy="594360"/>
          </a:xfrm>
          <a:prstGeom prst="rect">
            <a:avLst/>
          </a:prstGeom>
          <a:noFill/>
          <a:ln/>
        </p:spPr>
        <p:txBody>
          <a:bodyPr wrap="square" lIns="0" tIns="0" rIns="0" bIns="0" rtlCol="0" anchor="t"/>
          <a:lstStyle/>
          <a:p>
            <a:pPr algn="l" indent="0" marL="0">
              <a:buNone/>
            </a:pPr>
            <a:r>
              <a:rPr lang="en-US" sz="1600" dirty="0">
                <a:solidFill>
                  <a:schemeClr val="tx1"/>
                </a:solidFill>
              </a:rPr>
              <a:t>App chạy sai. Ví dụ: một con số hiển thị sai.</a:t>
            </a:r>
            <a:endParaRPr lang="en-US" sz="1600" dirty="0"/>
          </a:p>
        </p:txBody>
      </p:sp>
      <p:sp>
        <p:nvSpPr>
          <p:cNvPr id="17" name="Text 13"/>
          <p:cNvSpPr txBox="1"/>
          <p:nvPr/>
        </p:nvSpPr>
        <p:spPr>
          <a:xfrm>
            <a:off x="6519672" y="3657600"/>
            <a:ext cx="4754880" cy="228600"/>
          </a:xfrm>
          <a:prstGeom prst="rect">
            <a:avLst/>
          </a:prstGeom>
          <a:noFill/>
          <a:ln/>
        </p:spPr>
        <p:txBody>
          <a:bodyPr wrap="square" lIns="0" tIns="0" rIns="0" bIns="0" rtlCol="0" anchor="t"/>
          <a:lstStyle/>
          <a:p>
            <a:pPr algn="l" indent="0" marL="0">
              <a:buNone/>
            </a:pPr>
            <a:r>
              <a:rPr lang="en-US" sz="1200" b="1" spc="200" kern="0" dirty="0">
                <a:solidFill>
                  <a:schemeClr val="tx2"/>
                </a:solidFill>
              </a:rPr>
              <a:t>VIỆC LÀM</a:t>
            </a:r>
            <a:endParaRPr lang="en-US" sz="1200" dirty="0"/>
          </a:p>
        </p:txBody>
      </p:sp>
      <p:sp>
        <p:nvSpPr>
          <p:cNvPr id="18" name="Text 14"/>
          <p:cNvSpPr txBox="1"/>
          <p:nvPr/>
        </p:nvSpPr>
        <p:spPr>
          <a:xfrm>
            <a:off x="6519672" y="3931920"/>
            <a:ext cx="4800600" cy="777240"/>
          </a:xfrm>
          <a:prstGeom prst="rect">
            <a:avLst/>
          </a:prstGeom>
          <a:noFill/>
          <a:ln/>
        </p:spPr>
        <p:txBody>
          <a:bodyPr wrap="square" lIns="0" tIns="0" rIns="0" bIns="0" rtlCol="0" anchor="t"/>
          <a:lstStyle/>
          <a:p>
            <a:pPr algn="l" indent="0" marL="0">
              <a:buNone/>
            </a:pPr>
            <a:r>
              <a:rPr lang="en-US" sz="1600" b="1" dirty="0">
                <a:solidFill>
                  <a:schemeClr val="tx1"/>
                </a:solidFill>
              </a:rPr>
              <a:t>Test giữ nguyên đỏ → người phân loại lỗi A/B/C/D.</a:t>
            </a:r>
            <a:endParaRPr lang="en-US" sz="1600" dirty="0"/>
          </a:p>
        </p:txBody>
      </p:sp>
      <p:sp>
        <p:nvSpPr>
          <p:cNvPr id="19" name="Key line"/>
          <p:cNvSpPr/>
          <p:nvPr/>
        </p:nvSpPr>
        <p:spPr>
          <a:xfrm>
            <a:off x="548640" y="5074920"/>
            <a:ext cx="11091672" cy="1234440"/>
          </a:xfrm>
          <a:prstGeom prst="roundRect">
            <a:avLst>
              <a:gd name="adj" fmla="val 8889"/>
            </a:avLst>
          </a:prstGeom>
          <a:solidFill>
            <a:schemeClr val="tx1"/>
          </a:solidFill>
          <a:ln/>
        </p:spPr>
      </p:sp>
      <p:sp>
        <p:nvSpPr>
          <p:cNvPr id="20" name="Text 16"/>
          <p:cNvSpPr txBox="1"/>
          <p:nvPr/>
        </p:nvSpPr>
        <p:spPr>
          <a:xfrm>
            <a:off x="914400" y="5074920"/>
            <a:ext cx="10332720" cy="1234440"/>
          </a:xfrm>
          <a:prstGeom prst="rect">
            <a:avLst/>
          </a:prstGeom>
          <a:noFill/>
          <a:ln/>
        </p:spPr>
        <p:txBody>
          <a:bodyPr wrap="square" lIns="0" tIns="0" rIns="0" bIns="0" rtlCol="0" anchor="ctr"/>
          <a:lstStyle/>
          <a:p>
            <a:pPr algn="l" indent="0" marL="0">
              <a:buNone/>
            </a:pPr>
            <a:r>
              <a:rPr lang="en-US" sz="2600" b="1" dirty="0">
                <a:solidFill>
                  <a:schemeClr val="bg1"/>
                </a:solidFill>
                <a:latin typeface="+mj-lt" pitchFamily="34" charset="0"/>
                <a:ea typeface="+mj-lt" pitchFamily="34" charset="-122"/>
                <a:cs typeface="+mj-lt" pitchFamily="34" charset="-120"/>
              </a:rPr>
              <a:t>Sửa cho test xanh thì dễ; khó là phân biệt “giao diện đã dời” với “app đang sai”.</a:t>
            </a:r>
            <a:endParaRPr lang="en-US" sz="2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latin typeface="+mj-lt" pitchFamily="34" charset="0"/>
                <a:ea typeface="+mj-lt" pitchFamily="34" charset="-122"/>
                <a:cs typeface="+mj-lt" pitchFamily="34" charset="-120"/>
              </a:rPr>
              <a:t>Hiệu quả: đã có gì, sẽ đo gì</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566160"/>
                <a:gridCol w="3867912"/>
                <a:gridCol w="3657600"/>
              </a:tblGrid>
              <a:tr h="411480">
                <a:tc>
                  <a:txBody>
                    <a:bodyPr/>
                    <a:lstStyle/>
                    <a:p>
                      <a:pPr indent="0" marL="0">
                        <a:buNone/>
                      </a:pPr>
                      <a:r>
                        <a:rPr lang="en-US" sz="1500" b="1" dirty="0">
                          <a:solidFill>
                            <a:srgbClr val="FFFFFF"/>
                          </a:solidFill>
                        </a:rPr>
                        <a:t>Chỉ số</a:t>
                      </a:r>
                      <a:endParaRPr lang="en-US" sz="1500" dirty="0"/>
                    </a:p>
                  </a:txBody>
                  <a:tcPr marL="109728" marR="109728" marT="36576" marB="36576"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14161F"/>
                    </a:solidFill>
                  </a:tcPr>
                </a:tc>
                <a:tc>
                  <a:txBody>
                    <a:bodyPr/>
                    <a:lstStyle/>
                    <a:p>
                      <a:pPr indent="0" marL="0">
                        <a:buNone/>
                      </a:pPr>
                      <a:r>
                        <a:rPr lang="en-US" sz="1500" b="1" dirty="0">
                          <a:solidFill>
                            <a:srgbClr val="FFFFFF"/>
                          </a:solidFill>
                        </a:rPr>
                        <a:t>Đã có (ShopDemo)</a:t>
                      </a:r>
                      <a:endParaRPr lang="en-US" sz="1500" dirty="0"/>
                    </a:p>
                  </a:txBody>
                  <a:tcPr marL="109728" marR="109728" marT="36576" marB="36576"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14161F"/>
                    </a:solidFill>
                  </a:tcPr>
                </a:tc>
                <a:tc>
                  <a:txBody>
                    <a:bodyPr/>
                    <a:lstStyle/>
                    <a:p>
                      <a:pPr indent="0" marL="0">
                        <a:buNone/>
                      </a:pPr>
                      <a:r>
                        <a:rPr lang="en-US" sz="1500" b="1" dirty="0">
                          <a:solidFill>
                            <a:srgbClr val="FFFFFF"/>
                          </a:solidFill>
                        </a:rPr>
                        <a:t>Mục tiêu khởi điểm cho pilot</a:t>
                      </a:r>
                      <a:endParaRPr lang="en-US" sz="1500" dirty="0"/>
                    </a:p>
                  </a:txBody>
                  <a:tcPr marL="109728" marR="109728" marT="36576" marB="36576"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14161F"/>
                    </a:solidFill>
                  </a:tcPr>
                </a:tc>
              </a:tr>
              <a:tr h="594360">
                <a:tc>
                  <a:txBody>
                    <a:bodyPr/>
                    <a:lstStyle/>
                    <a:p>
                      <a:pPr indent="0" marL="0">
                        <a:buNone/>
                      </a:pPr>
                      <a:r>
                        <a:rPr lang="en-US" sz="1500" b="1" dirty="0">
                          <a:solidFill>
                            <a:srgbClr val="14161F"/>
                          </a:solidFill>
                        </a:rPr>
                        <a:t>Rule đều có test case</a:t>
                      </a:r>
                      <a:endParaRPr lang="en-US" sz="1500" dirty="0"/>
                    </a:p>
                  </a:txBody>
                  <a:tcPr marL="109728" marR="109728" marT="36576" marB="36576"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500" dirty="0">
                          <a:solidFill>
                            <a:srgbClr val="14161F"/>
                          </a:solidFill>
                        </a:rPr>
                        <a:t>Code chặn nếu thiếu · 8 ticket, 32 flow</a:t>
                      </a:r>
                      <a:endParaRPr lang="en-US" sz="1500" dirty="0"/>
                    </a:p>
                  </a:txBody>
                  <a:tcPr marL="109728" marR="109728" marT="36576" marB="36576"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500" b="1" dirty="0">
                          <a:solidFill>
                            <a:srgbClr val="14161F"/>
                          </a:solidFill>
                        </a:rPr>
                        <a:t>100% (do code ép)</a:t>
                      </a:r>
                      <a:endParaRPr lang="en-US" sz="1500" dirty="0"/>
                    </a:p>
                  </a:txBody>
                  <a:tcPr marL="109728" marR="109728" marT="36576" marB="36576"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4161F"/>
                          </a:solidFill>
                        </a:rPr>
                        <a:t>Ticket ra PR xanh, người không phải sửa flow</a:t>
                      </a:r>
                      <a:endParaRPr lang="en-US" sz="1500" dirty="0"/>
                    </a:p>
                  </a:txBody>
                  <a:tcPr marL="109728" marR="109728" marT="36576" marB="36576"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500" dirty="0">
                          <a:solidFill>
                            <a:srgbClr val="14161F"/>
                          </a:solidFill>
                        </a:rPr>
                        <a:t>3/5 lần chạy</a:t>
                      </a:r>
                      <a:endParaRPr lang="en-US" sz="1500" dirty="0"/>
                    </a:p>
                  </a:txBody>
                  <a:tcPr marL="109728" marR="109728" marT="36576" marB="36576"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500" b="1" dirty="0">
                          <a:solidFill>
                            <a:srgbClr val="14161F"/>
                          </a:solidFill>
                        </a:rPr>
                        <a:t>≥ 60% (tham chiếu Meta 57%¹)</a:t>
                      </a:r>
                      <a:endParaRPr lang="en-US" sz="1500" dirty="0"/>
                    </a:p>
                  </a:txBody>
                  <a:tcPr marL="109728" marR="109728" marT="36576" marB="36576"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FFF"/>
                    </a:solidFill>
                  </a:tcPr>
                </a:tc>
              </a:tr>
              <a:tr h="594360">
                <a:tc>
                  <a:txBody>
                    <a:bodyPr/>
                    <a:lstStyle/>
                    <a:p>
                      <a:pPr indent="0" marL="0">
                        <a:buNone/>
                      </a:pPr>
                      <a:r>
                        <a:rPr lang="en-US" sz="1500" b="1" dirty="0">
                          <a:solidFill>
                            <a:srgbClr val="14161F"/>
                          </a:solidFill>
                        </a:rPr>
                        <a:t>“Xanh giả”</a:t>
                      </a:r>
                      <a:endParaRPr lang="en-US" sz="1500" dirty="0"/>
                    </a:p>
                  </a:txBody>
                  <a:tcPr marL="109728" marR="109728" marT="36576" marB="36576"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500" dirty="0">
                          <a:solidFill>
                            <a:srgbClr val="14161F"/>
                          </a:solidFill>
                        </a:rPr>
                        <a:t>1 lần, đã sửa</a:t>
                      </a:r>
                      <a:endParaRPr lang="en-US" sz="1500" dirty="0"/>
                    </a:p>
                  </a:txBody>
                  <a:tcPr marL="109728" marR="109728" marT="36576" marB="36576"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500" b="1" dirty="0">
                          <a:solidFill>
                            <a:srgbClr val="14161F"/>
                          </a:solidFill>
                        </a:rPr>
                        <a:t>0</a:t>
                      </a:r>
                      <a:endParaRPr lang="en-US" sz="1500" dirty="0"/>
                    </a:p>
                  </a:txBody>
                  <a:tcPr marL="109728" marR="109728" marT="36576" marB="36576"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FFF"/>
                    </a:solidFill>
                  </a:tcPr>
                </a:tc>
              </a:tr>
              <a:tr h="594360">
                <a:tc>
                  <a:txBody>
                    <a:bodyPr/>
                    <a:lstStyle/>
                    <a:p>
                      <a:pPr indent="0" marL="0">
                        <a:buNone/>
                      </a:pPr>
                      <a:r>
                        <a:rPr lang="en-US" sz="1500" b="1" dirty="0">
                          <a:solidFill>
                            <a:srgbClr val="14161F"/>
                          </a:solidFill>
                        </a:rPr>
                        <a:t>Tự sửa đúng hay sai</a:t>
                      </a:r>
                      <a:endParaRPr lang="en-US" sz="1500" dirty="0"/>
                    </a:p>
                  </a:txBody>
                  <a:tcPr marL="109728" marR="109728" marT="36576" marB="36576"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500" dirty="0">
                          <a:solidFill>
                            <a:srgbClr val="14161F"/>
                          </a:solidFill>
                        </a:rPr>
                        <a:t>Chưa đo (có 2 build đáp án)</a:t>
                      </a:r>
                      <a:endParaRPr lang="en-US" sz="1500" dirty="0"/>
                    </a:p>
                  </a:txBody>
                  <a:tcPr marL="109728" marR="109728" marT="36576" marB="36576"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500" b="1" dirty="0">
                          <a:solidFill>
                            <a:srgbClr val="14161F"/>
                          </a:solidFill>
                        </a:rPr>
                        <a:t>2/2 đúng · 0 che lỗi thật</a:t>
                      </a:r>
                      <a:endParaRPr lang="en-US" sz="1500" dirty="0"/>
                    </a:p>
                  </a:txBody>
                  <a:tcPr marL="109728" marR="109728" marT="36576" marB="36576"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4161F"/>
                          </a:solidFill>
                        </a:rPr>
                        <a:t>Thời gian máy chạy, công sức bảo trì</a:t>
                      </a:r>
                      <a:endParaRPr lang="en-US" sz="1500" dirty="0"/>
                    </a:p>
                  </a:txBody>
                  <a:tcPr marL="109728" marR="109728" marT="36576" marB="36576"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500" dirty="0">
                          <a:solidFill>
                            <a:srgbClr val="14161F"/>
                          </a:solidFill>
                        </a:rPr>
                        <a:t>ShopDemo: 4–5 phút/ticket; bảo trì chưa đo</a:t>
                      </a:r>
                      <a:endParaRPr lang="en-US" sz="1500" dirty="0"/>
                    </a:p>
                  </a:txBody>
                  <a:tcPr marL="109728" marR="109728" marT="36576" marB="36576"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500" b="1" dirty="0">
                          <a:solidFill>
                            <a:srgbClr val="14161F"/>
                          </a:solidFill>
                        </a:rPr>
                        <a:t>Không đặt trước — pilot đo</a:t>
                      </a:r>
                      <a:endParaRPr lang="en-US" sz="1500" dirty="0"/>
                    </a:p>
                  </a:txBody>
                  <a:tcPr marL="109728" marR="109728" marT="36576" marB="36576"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120640"/>
            <a:ext cx="11064240" cy="274320"/>
          </a:xfrm>
          <a:prstGeom prst="rect">
            <a:avLst/>
          </a:prstGeom>
          <a:noFill/>
          <a:ln/>
        </p:spPr>
        <p:txBody>
          <a:bodyPr wrap="square" lIns="0" tIns="0" rIns="0" bIns="0" rtlCol="0" anchor="t"/>
          <a:lstStyle/>
          <a:p>
            <a:pPr algn="l" indent="0" marL="0">
              <a:buNone/>
            </a:pPr>
            <a:r>
              <a:rPr lang="en-US" sz="1600" b="1" dirty="0">
                <a:solidFill>
                  <a:schemeClr val="tx1"/>
                </a:solidFill>
              </a:rPr>
              <a:t>Cách đo trong pilot: cùng 10–15 ticket thật, cùng app, cùng người review</a:t>
            </a:r>
            <a:endParaRPr lang="en-US" sz="1600" dirty="0"/>
          </a:p>
        </p:txBody>
      </p:sp>
      <p:sp>
        <p:nvSpPr>
          <p:cNvPr id="5" name="Arm A"/>
          <p:cNvSpPr/>
          <p:nvPr/>
        </p:nvSpPr>
        <p:spPr>
          <a:xfrm>
            <a:off x="548640" y="5468112"/>
            <a:ext cx="5029200" cy="594360"/>
          </a:xfrm>
          <a:prstGeom prst="roundRect">
            <a:avLst>
              <a:gd name="adj" fmla="val 18462"/>
            </a:avLst>
          </a:prstGeom>
          <a:solidFill>
            <a:schemeClr val="bg2"/>
          </a:solidFill>
          <a:ln/>
        </p:spPr>
      </p:sp>
      <p:sp>
        <p:nvSpPr>
          <p:cNvPr id="6" name="Text 3"/>
          <p:cNvSpPr txBox="1"/>
          <p:nvPr/>
        </p:nvSpPr>
        <p:spPr>
          <a:xfrm>
            <a:off x="822960" y="5468112"/>
            <a:ext cx="4572000" cy="594360"/>
          </a:xfrm>
          <a:prstGeom prst="rect">
            <a:avLst/>
          </a:prstGeom>
          <a:noFill/>
          <a:ln/>
        </p:spPr>
        <p:txBody>
          <a:bodyPr wrap="square" lIns="0" tIns="0" rIns="0" bIns="0" rtlCol="0" anchor="ctr"/>
          <a:lstStyle/>
          <a:p>
            <a:pPr algn="l" indent="0" marL="0">
              <a:buNone/>
            </a:pPr>
            <a:r>
              <a:rPr lang="en-US" sz="1600" b="1" dirty="0">
                <a:solidFill>
                  <a:schemeClr val="tx1"/>
                </a:solidFill>
              </a:rPr>
              <a:t>Nhánh A · Cách làm hiện tại</a:t>
            </a:r>
            <a:endParaRPr lang="en-US" sz="1600" dirty="0"/>
          </a:p>
        </p:txBody>
      </p:sp>
      <p:sp>
        <p:nvSpPr>
          <p:cNvPr id="7" name="Arm B"/>
          <p:cNvSpPr/>
          <p:nvPr/>
        </p:nvSpPr>
        <p:spPr>
          <a:xfrm>
            <a:off x="6611112" y="5468112"/>
            <a:ext cx="5029200" cy="594360"/>
          </a:xfrm>
          <a:prstGeom prst="roundRect">
            <a:avLst>
              <a:gd name="adj" fmla="val 18462"/>
            </a:avLst>
          </a:prstGeom>
          <a:solidFill>
            <a:schemeClr val="accent1"/>
          </a:solidFill>
          <a:ln/>
        </p:spPr>
      </p:sp>
      <p:sp>
        <p:nvSpPr>
          <p:cNvPr id="8" name="Text 5"/>
          <p:cNvSpPr txBox="1"/>
          <p:nvPr/>
        </p:nvSpPr>
        <p:spPr>
          <a:xfrm>
            <a:off x="6885432" y="5468112"/>
            <a:ext cx="4572000" cy="594360"/>
          </a:xfrm>
          <a:prstGeom prst="rect">
            <a:avLst/>
          </a:prstGeom>
          <a:noFill/>
          <a:ln/>
        </p:spPr>
        <p:txBody>
          <a:bodyPr wrap="square" lIns="0" tIns="0" rIns="0" bIns="0" rtlCol="0" anchor="ctr"/>
          <a:lstStyle/>
          <a:p>
            <a:pPr algn="l" indent="0" marL="0">
              <a:buNone/>
            </a:pPr>
            <a:r>
              <a:rPr lang="en-US" sz="1600" b="1" dirty="0">
                <a:solidFill>
                  <a:schemeClr val="bg1"/>
                </a:solidFill>
              </a:rPr>
              <a:t>Nhánh B · Có AI</a:t>
            </a:r>
            <a:endParaRPr lang="en-US" sz="1600" dirty="0"/>
          </a:p>
        </p:txBody>
      </p:sp>
      <p:sp>
        <p:nvSpPr>
          <p:cNvPr id="9" name="VS circle"/>
          <p:cNvSpPr/>
          <p:nvPr/>
        </p:nvSpPr>
        <p:spPr>
          <a:xfrm>
            <a:off x="5760720" y="5468112"/>
            <a:ext cx="667512" cy="594360"/>
          </a:xfrm>
          <a:prstGeom prst="ellipse">
            <a:avLst/>
          </a:prstGeom>
          <a:solidFill>
            <a:schemeClr val="tx1"/>
          </a:solidFill>
          <a:ln/>
        </p:spPr>
      </p:sp>
      <p:sp>
        <p:nvSpPr>
          <p:cNvPr id="10" name="Text 7"/>
          <p:cNvSpPr txBox="1"/>
          <p:nvPr/>
        </p:nvSpPr>
        <p:spPr>
          <a:xfrm>
            <a:off x="5760720" y="5468112"/>
            <a:ext cx="667512" cy="594360"/>
          </a:xfrm>
          <a:prstGeom prst="rect">
            <a:avLst/>
          </a:prstGeom>
          <a:noFill/>
          <a:ln/>
        </p:spPr>
        <p:txBody>
          <a:bodyPr wrap="square" lIns="0" tIns="0" rIns="0" bIns="0" rtlCol="0" anchor="ctr"/>
          <a:lstStyle/>
          <a:p>
            <a:pPr algn="ctr" indent="0" marL="0">
              <a:buNone/>
            </a:pPr>
            <a:r>
              <a:rPr lang="en-US" sz="1400" b="1" dirty="0">
                <a:solidFill>
                  <a:schemeClr val="bg1"/>
                </a:solidFill>
              </a:rPr>
              <a:t>VS</a:t>
            </a:r>
            <a:endParaRPr lang="en-US" sz="1400" dirty="0"/>
          </a:p>
        </p:txBody>
      </p:sp>
      <p:sp>
        <p:nvSpPr>
          <p:cNvPr id="11" name="Text 8"/>
          <p:cNvSpPr txBox="1"/>
          <p:nvPr/>
        </p:nvSpPr>
        <p:spPr>
          <a:xfrm>
            <a:off x="548640" y="6217920"/>
            <a:ext cx="10332720" cy="274320"/>
          </a:xfrm>
          <a:prstGeom prst="rect">
            <a:avLst/>
          </a:prstGeom>
          <a:noFill/>
          <a:ln/>
        </p:spPr>
        <p:txBody>
          <a:bodyPr wrap="square" lIns="0" tIns="0" rIns="0" bIns="0" rtlCol="0" anchor="t"/>
          <a:lstStyle/>
          <a:p>
            <a:pPr algn="l" indent="0" marL="0">
              <a:buNone/>
            </a:pPr>
            <a:r>
              <a:rPr lang="en-US" sz="1100" dirty="0">
                <a:solidFill>
                  <a:schemeClr val="tx2"/>
                </a:solidFill>
              </a:rPr>
              <a:t>¹ Meta TestGen-LLM (FSE 2024): 57% test do AI sinh ra chạy ổn định. Đó là unit test, khác miền — chỉ để tham chiếu.</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latin typeface="+mj-lt" pitchFamily="34" charset="0"/>
                <a:ea typeface="+mj-lt" pitchFamily="34" charset="-122"/>
                <a:cs typeface="+mj-lt" pitchFamily="34" charset="-120"/>
              </a:rPr>
              <a:t>Kiểm toán, dữ liệu và giới hạn</a:t>
            </a:r>
            <a:endParaRPr lang="en-US" sz="3600" dirty="0"/>
          </a:p>
        </p:txBody>
      </p:sp>
      <p:sp>
        <p:nvSpPr>
          <p:cNvPr id="3" name="Kiểm toán"/>
          <p:cNvSpPr/>
          <p:nvPr/>
        </p:nvSpPr>
        <p:spPr>
          <a:xfrm>
            <a:off x="548640" y="1371600"/>
            <a:ext cx="5212080" cy="1143000"/>
          </a:xfrm>
          <a:prstGeom prst="roundRect">
            <a:avLst>
              <a:gd name="adj" fmla="val 9600"/>
            </a:avLst>
          </a:prstGeom>
          <a:solidFill>
            <a:schemeClr val="bg2"/>
          </a:solidFill>
          <a:ln/>
        </p:spPr>
      </p:sp>
      <p:sp>
        <p:nvSpPr>
          <p:cNvPr id="4" name="Icon circle FaHistory"/>
          <p:cNvSpPr/>
          <p:nvPr/>
        </p:nvSpPr>
        <p:spPr>
          <a:xfrm>
            <a:off x="777240" y="1645920"/>
            <a:ext cx="594360" cy="594360"/>
          </a:xfrm>
          <a:prstGeom prst="ellipse">
            <a:avLst/>
          </a:prstGeom>
          <a:solidFill>
            <a:schemeClr val="accent3"/>
          </a:solidFill>
          <a:ln/>
        </p:spPr>
      </p:sp>
      <p:pic>
        <p:nvPicPr>
          <p:cNvPr id="5" name="Image 0" descr="History icon">    </p:cNvPr>
          <p:cNvPicPr>
            <a:picLocks noChangeAspect="1"/>
          </p:cNvPicPr>
          <p:nvPr/>
        </p:nvPicPr>
        <p:blipFill>
          <a:blip r:embed="rId1"/>
          <a:stretch>
            <a:fillRect/>
          </a:stretch>
        </p:blipFill>
        <p:spPr>
          <a:xfrm>
            <a:off x="919886" y="1788566"/>
            <a:ext cx="309067" cy="309067"/>
          </a:xfrm>
          <a:prstGeom prst="rect">
            <a:avLst/>
          </a:prstGeom>
        </p:spPr>
      </p:pic>
      <p:sp>
        <p:nvSpPr>
          <p:cNvPr id="6" name="Text 3"/>
          <p:cNvSpPr txBox="1"/>
          <p:nvPr/>
        </p:nvSpPr>
        <p:spPr>
          <a:xfrm>
            <a:off x="1554480" y="1463040"/>
            <a:ext cx="4069080" cy="960120"/>
          </a:xfrm>
          <a:prstGeom prst="rect">
            <a:avLst/>
          </a:prstGeom>
          <a:noFill/>
          <a:ln/>
        </p:spPr>
        <p:txBody>
          <a:bodyPr wrap="square" lIns="0" tIns="0" rIns="0" bIns="0" rtlCol="0" anchor="ctr"/>
          <a:lstStyle/>
          <a:p>
            <a:pPr algn="l" indent="0" marL="0">
              <a:buNone/>
            </a:pPr>
            <a:r>
              <a:rPr lang="en-US" sz="1600" b="1" dirty="0">
                <a:solidFill>
                  <a:schemeClr val="tx1"/>
                </a:solidFill>
              </a:rPr>
              <a:t>Kiểm toán</a:t>
            </a:r>
            <a:endParaRPr lang="en-US" sz="1400" dirty="0"/>
          </a:p>
          <a:p>
            <a:pPr algn="l" indent="0" marL="0">
              <a:buNone/>
            </a:pPr>
            <a:r>
              <a:rPr lang="en-US" sz="1400" dirty="0">
                <a:solidFill>
                  <a:schemeClr val="tx1"/>
                </a:solidFill>
              </a:rPr>
              <a:t>PR ghi model, session, tổng chi phí; việc duyệt nằm trong lịch sử Jira.</a:t>
            </a:r>
            <a:endParaRPr lang="en-US" sz="1400" dirty="0"/>
          </a:p>
        </p:txBody>
      </p:sp>
      <p:sp>
        <p:nvSpPr>
          <p:cNvPr id="7" name="Dữ liệu"/>
          <p:cNvSpPr/>
          <p:nvPr/>
        </p:nvSpPr>
        <p:spPr>
          <a:xfrm>
            <a:off x="548640" y="2624328"/>
            <a:ext cx="5212080" cy="1143000"/>
          </a:xfrm>
          <a:prstGeom prst="roundRect">
            <a:avLst>
              <a:gd name="adj" fmla="val 9600"/>
            </a:avLst>
          </a:prstGeom>
          <a:solidFill>
            <a:schemeClr val="bg2"/>
          </a:solidFill>
          <a:ln/>
        </p:spPr>
      </p:sp>
      <p:sp>
        <p:nvSpPr>
          <p:cNvPr id="8" name="Icon circle FaLock"/>
          <p:cNvSpPr/>
          <p:nvPr/>
        </p:nvSpPr>
        <p:spPr>
          <a:xfrm>
            <a:off x="777240" y="2898648"/>
            <a:ext cx="594360" cy="594360"/>
          </a:xfrm>
          <a:prstGeom prst="ellipse">
            <a:avLst/>
          </a:prstGeom>
          <a:solidFill>
            <a:schemeClr val="accent3"/>
          </a:solidFill>
          <a:ln/>
        </p:spPr>
      </p:sp>
      <p:pic>
        <p:nvPicPr>
          <p:cNvPr id="9" name="Image 1" descr="Lock icon">    </p:cNvPr>
          <p:cNvPicPr>
            <a:picLocks noChangeAspect="1"/>
          </p:cNvPicPr>
          <p:nvPr/>
        </p:nvPicPr>
        <p:blipFill>
          <a:blip r:embed="rId2"/>
          <a:stretch>
            <a:fillRect/>
          </a:stretch>
        </p:blipFill>
        <p:spPr>
          <a:xfrm>
            <a:off x="919886" y="3041294"/>
            <a:ext cx="309067" cy="309067"/>
          </a:xfrm>
          <a:prstGeom prst="rect">
            <a:avLst/>
          </a:prstGeom>
        </p:spPr>
      </p:pic>
      <p:sp>
        <p:nvSpPr>
          <p:cNvPr id="10" name="Text 6"/>
          <p:cNvSpPr txBox="1"/>
          <p:nvPr/>
        </p:nvSpPr>
        <p:spPr>
          <a:xfrm>
            <a:off x="1554480" y="2715768"/>
            <a:ext cx="4069080" cy="960120"/>
          </a:xfrm>
          <a:prstGeom prst="rect">
            <a:avLst/>
          </a:prstGeom>
          <a:noFill/>
          <a:ln/>
        </p:spPr>
        <p:txBody>
          <a:bodyPr wrap="square" lIns="0" tIns="0" rIns="0" bIns="0" rtlCol="0" anchor="ctr"/>
          <a:lstStyle/>
          <a:p>
            <a:pPr algn="l" indent="0" marL="0">
              <a:buNone/>
            </a:pPr>
            <a:r>
              <a:rPr lang="en-US" sz="1600" b="1" dirty="0">
                <a:solidFill>
                  <a:schemeClr val="tx1"/>
                </a:solidFill>
              </a:rPr>
              <a:t>Dữ liệu</a:t>
            </a:r>
            <a:endParaRPr lang="en-US" sz="1400" dirty="0"/>
          </a:p>
          <a:p>
            <a:pPr algn="l" indent="0" marL="0">
              <a:buNone/>
            </a:pPr>
            <a:r>
              <a:rPr lang="en-US" sz="1400" dirty="0">
                <a:solidFill>
                  <a:schemeClr val="tx1"/>
                </a:solidFill>
              </a:rPr>
              <a:t>Không dùng dữ liệu khách hàng/rider thật; đăng nhập chỉ nằm trong cấu hình máy và CI secrets.</a:t>
            </a:r>
            <a:endParaRPr lang="en-US" sz="1400" dirty="0"/>
          </a:p>
        </p:txBody>
      </p:sp>
      <p:sp>
        <p:nvSpPr>
          <p:cNvPr id="11" name="Truy vết"/>
          <p:cNvSpPr/>
          <p:nvPr/>
        </p:nvSpPr>
        <p:spPr>
          <a:xfrm>
            <a:off x="548640" y="3877056"/>
            <a:ext cx="5212080" cy="1143000"/>
          </a:xfrm>
          <a:prstGeom prst="roundRect">
            <a:avLst>
              <a:gd name="adj" fmla="val 9600"/>
            </a:avLst>
          </a:prstGeom>
          <a:solidFill>
            <a:schemeClr val="bg2"/>
          </a:solidFill>
          <a:ln/>
        </p:spPr>
      </p:sp>
      <p:sp>
        <p:nvSpPr>
          <p:cNvPr id="12" name="Icon circle FaCodeBranch"/>
          <p:cNvSpPr/>
          <p:nvPr/>
        </p:nvSpPr>
        <p:spPr>
          <a:xfrm>
            <a:off x="777240" y="4151376"/>
            <a:ext cx="594360" cy="594360"/>
          </a:xfrm>
          <a:prstGeom prst="ellipse">
            <a:avLst/>
          </a:prstGeom>
          <a:solidFill>
            <a:schemeClr val="accent3"/>
          </a:solidFill>
          <a:ln/>
        </p:spPr>
      </p:sp>
      <p:pic>
        <p:nvPicPr>
          <p:cNvPr id="13" name="Image 2" descr="CodeBranch icon">    </p:cNvPr>
          <p:cNvPicPr>
            <a:picLocks noChangeAspect="1"/>
          </p:cNvPicPr>
          <p:nvPr/>
        </p:nvPicPr>
        <p:blipFill>
          <a:blip r:embed="rId3"/>
          <a:stretch>
            <a:fillRect/>
          </a:stretch>
        </p:blipFill>
        <p:spPr>
          <a:xfrm>
            <a:off x="919886" y="4294022"/>
            <a:ext cx="309067" cy="309067"/>
          </a:xfrm>
          <a:prstGeom prst="rect">
            <a:avLst/>
          </a:prstGeom>
        </p:spPr>
      </p:pic>
      <p:sp>
        <p:nvSpPr>
          <p:cNvPr id="14" name="Text 9"/>
          <p:cNvSpPr txBox="1"/>
          <p:nvPr/>
        </p:nvSpPr>
        <p:spPr>
          <a:xfrm>
            <a:off x="1554480" y="3968496"/>
            <a:ext cx="4069080" cy="960120"/>
          </a:xfrm>
          <a:prstGeom prst="rect">
            <a:avLst/>
          </a:prstGeom>
          <a:noFill/>
          <a:ln/>
        </p:spPr>
        <p:txBody>
          <a:bodyPr wrap="square" lIns="0" tIns="0" rIns="0" bIns="0" rtlCol="0" anchor="ctr"/>
          <a:lstStyle/>
          <a:p>
            <a:pPr algn="l" indent="0" marL="0">
              <a:buNone/>
            </a:pPr>
            <a:r>
              <a:rPr lang="en-US" sz="1600" b="1" dirty="0">
                <a:solidFill>
                  <a:schemeClr val="tx1"/>
                </a:solidFill>
              </a:rPr>
              <a:t>Truy vết</a:t>
            </a:r>
            <a:endParaRPr lang="en-US" sz="1400" dirty="0"/>
          </a:p>
          <a:p>
            <a:pPr algn="l" indent="0" marL="0">
              <a:buNone/>
            </a:pPr>
            <a:r>
              <a:rPr lang="en-US" sz="1400" dirty="0">
                <a:solidFill>
                  <a:schemeClr val="tx1"/>
                </a:solidFill>
              </a:rPr>
              <a:t>ticket → spec → case → flow → PR. Báo cáo từng lần chạy (bước 8): đã thiết kế.</a:t>
            </a:r>
            <a:endParaRPr lang="en-US" sz="1400" dirty="0"/>
          </a:p>
        </p:txBody>
      </p:sp>
      <p:sp>
        <p:nvSpPr>
          <p:cNvPr id="15" name="Not done"/>
          <p:cNvSpPr/>
          <p:nvPr/>
        </p:nvSpPr>
        <p:spPr>
          <a:xfrm>
            <a:off x="548640" y="5212080"/>
            <a:ext cx="5212080" cy="1097280"/>
          </a:xfrm>
          <a:prstGeom prst="roundRect">
            <a:avLst>
              <a:gd name="adj" fmla="val 10000"/>
            </a:avLst>
          </a:prstGeom>
          <a:solidFill>
            <a:schemeClr val="accent4"/>
          </a:solidFill>
          <a:ln/>
        </p:spPr>
      </p:sp>
      <p:sp>
        <p:nvSpPr>
          <p:cNvPr id="16" name="Icon circle FaGlobeEurope"/>
          <p:cNvSpPr/>
          <p:nvPr/>
        </p:nvSpPr>
        <p:spPr>
          <a:xfrm>
            <a:off x="777240" y="5486400"/>
            <a:ext cx="548640" cy="548640"/>
          </a:xfrm>
          <a:prstGeom prst="ellipse">
            <a:avLst/>
          </a:prstGeom>
          <a:solidFill>
            <a:schemeClr val="tx1"/>
          </a:solidFill>
          <a:ln/>
        </p:spPr>
      </p:sp>
      <p:pic>
        <p:nvPicPr>
          <p:cNvPr id="17" name="Image 3" descr="GlobeEurope icon">    </p:cNvPr>
          <p:cNvPicPr>
            <a:picLocks noChangeAspect="1"/>
          </p:cNvPicPr>
          <p:nvPr/>
        </p:nvPicPr>
        <p:blipFill>
          <a:blip r:embed="rId4"/>
          <a:stretch>
            <a:fillRect/>
          </a:stretch>
        </p:blipFill>
        <p:spPr>
          <a:xfrm>
            <a:off x="908914" y="5618074"/>
            <a:ext cx="285293" cy="285293"/>
          </a:xfrm>
          <a:prstGeom prst="rect">
            <a:avLst/>
          </a:prstGeom>
        </p:spPr>
      </p:pic>
      <p:sp>
        <p:nvSpPr>
          <p:cNvPr id="18" name="Text 12"/>
          <p:cNvSpPr txBox="1"/>
          <p:nvPr/>
        </p:nvSpPr>
        <p:spPr>
          <a:xfrm>
            <a:off x="1508760" y="5212080"/>
            <a:ext cx="4114800" cy="1097280"/>
          </a:xfrm>
          <a:prstGeom prst="rect">
            <a:avLst/>
          </a:prstGeom>
          <a:noFill/>
          <a:ln/>
        </p:spPr>
        <p:txBody>
          <a:bodyPr wrap="square" lIns="0" tIns="0" rIns="0" bIns="0" rtlCol="0" anchor="ctr"/>
          <a:lstStyle/>
          <a:p>
            <a:pPr algn="l" indent="0" marL="0">
              <a:buNone/>
            </a:pPr>
            <a:r>
              <a:rPr lang="en-US" sz="1600" b="1" dirty="0">
                <a:solidFill>
                  <a:schemeClr val="bg1"/>
                </a:solidFill>
              </a:rPr>
              <a:t>Chưa làm: review data residency và EU AI Act</a:t>
            </a:r>
            <a:endParaRPr lang="en-US" sz="1400" dirty="0"/>
          </a:p>
          <a:p>
            <a:pPr algn="l" indent="0" marL="0">
              <a:buNone/>
            </a:pPr>
            <a:r>
              <a:rPr lang="en-US" sz="1400" dirty="0">
                <a:solidFill>
                  <a:schemeClr val="bg1"/>
                </a:solidFill>
              </a:rPr>
              <a:t>Cần xác nhận trước khi chạy pilot.</a:t>
            </a:r>
            <a:endParaRPr lang="en-US" sz="1400" dirty="0"/>
          </a:p>
        </p:txBody>
      </p:sp>
      <p:sp>
        <p:nvSpPr>
          <p:cNvPr id="19" name="Text 13"/>
          <p:cNvSpPr txBox="1"/>
          <p:nvPr/>
        </p:nvSpPr>
        <p:spPr>
          <a:xfrm>
            <a:off x="6080760" y="1325880"/>
            <a:ext cx="5486400" cy="365760"/>
          </a:xfrm>
          <a:prstGeom prst="rect">
            <a:avLst/>
          </a:prstGeom>
          <a:noFill/>
          <a:ln/>
        </p:spPr>
        <p:txBody>
          <a:bodyPr wrap="square" lIns="0" tIns="0" rIns="0" bIns="0" rtlCol="0" anchor="t"/>
          <a:lstStyle/>
          <a:p>
            <a:pPr algn="l" indent="0" marL="0">
              <a:buNone/>
            </a:pPr>
            <a:r>
              <a:rPr lang="en-US" sz="2000" b="1" dirty="0">
                <a:solidFill>
                  <a:schemeClr val="tx1"/>
                </a:solidFill>
              </a:rPr>
              <a:t>Giới hạn hiện tại</a:t>
            </a:r>
            <a:endParaRPr lang="en-US" sz="2000" dirty="0"/>
          </a:p>
        </p:txBody>
      </p:sp>
      <p:sp>
        <p:nvSpPr>
          <p:cNvPr id="20" name="Limit 1"/>
          <p:cNvSpPr/>
          <p:nvPr/>
        </p:nvSpPr>
        <p:spPr>
          <a:xfrm>
            <a:off x="6080760" y="1874520"/>
            <a:ext cx="5559552" cy="658368"/>
          </a:xfrm>
          <a:prstGeom prst="roundRect">
            <a:avLst>
              <a:gd name="adj" fmla="val 16667"/>
            </a:avLst>
          </a:prstGeom>
          <a:solidFill>
            <a:schemeClr val="bg2"/>
          </a:solidFill>
          <a:ln/>
        </p:spPr>
      </p:sp>
      <p:sp>
        <p:nvSpPr>
          <p:cNvPr id="21" name="Icon circle FaExclamationTriangle"/>
          <p:cNvSpPr/>
          <p:nvPr/>
        </p:nvSpPr>
        <p:spPr>
          <a:xfrm>
            <a:off x="6217920" y="2002536"/>
            <a:ext cx="402336" cy="402336"/>
          </a:xfrm>
          <a:prstGeom prst="ellipse">
            <a:avLst/>
          </a:prstGeom>
          <a:solidFill>
            <a:schemeClr val="accent2"/>
          </a:solidFill>
          <a:ln/>
        </p:spPr>
      </p:sp>
      <p:pic>
        <p:nvPicPr>
          <p:cNvPr id="22" name="Image 4" descr="ExclamationTriangle icon">    </p:cNvPr>
          <p:cNvPicPr>
            <a:picLocks noChangeAspect="1"/>
          </p:cNvPicPr>
          <p:nvPr/>
        </p:nvPicPr>
        <p:blipFill>
          <a:blip r:embed="rId5"/>
          <a:stretch>
            <a:fillRect/>
          </a:stretch>
        </p:blipFill>
        <p:spPr>
          <a:xfrm>
            <a:off x="6314481" y="2099097"/>
            <a:ext cx="209215" cy="209215"/>
          </a:xfrm>
          <a:prstGeom prst="rect">
            <a:avLst/>
          </a:prstGeom>
        </p:spPr>
      </p:pic>
      <p:sp>
        <p:nvSpPr>
          <p:cNvPr id="23" name="Text 16"/>
          <p:cNvSpPr txBox="1"/>
          <p:nvPr/>
        </p:nvSpPr>
        <p:spPr>
          <a:xfrm>
            <a:off x="6766560" y="1874520"/>
            <a:ext cx="4754880" cy="658368"/>
          </a:xfrm>
          <a:prstGeom prst="rect">
            <a:avLst/>
          </a:prstGeom>
          <a:noFill/>
          <a:ln/>
        </p:spPr>
        <p:txBody>
          <a:bodyPr wrap="square" lIns="0" tIns="0" rIns="0" bIns="0" rtlCol="0" anchor="ctr"/>
          <a:lstStyle/>
          <a:p>
            <a:pPr algn="l" indent="0" marL="0">
              <a:buNone/>
            </a:pPr>
            <a:r>
              <a:rPr lang="en-US" sz="1400" dirty="0">
                <a:solidFill>
                  <a:schemeClr val="tx1"/>
                </a:solidFill>
              </a:rPr>
              <a:t>Một app (ShopDemo), chỉ iOS; chưa có Android</a:t>
            </a:r>
            <a:endParaRPr lang="en-US" sz="1400" dirty="0"/>
          </a:p>
        </p:txBody>
      </p:sp>
      <p:sp>
        <p:nvSpPr>
          <p:cNvPr id="24" name="Limit 2"/>
          <p:cNvSpPr/>
          <p:nvPr/>
        </p:nvSpPr>
        <p:spPr>
          <a:xfrm>
            <a:off x="6080760" y="2606040"/>
            <a:ext cx="5559552" cy="658368"/>
          </a:xfrm>
          <a:prstGeom prst="roundRect">
            <a:avLst>
              <a:gd name="adj" fmla="val 16667"/>
            </a:avLst>
          </a:prstGeom>
          <a:solidFill>
            <a:schemeClr val="bg2"/>
          </a:solidFill>
          <a:ln/>
        </p:spPr>
      </p:sp>
      <p:sp>
        <p:nvSpPr>
          <p:cNvPr id="25" name="Icon circle FaExclamationTriangle"/>
          <p:cNvSpPr/>
          <p:nvPr/>
        </p:nvSpPr>
        <p:spPr>
          <a:xfrm>
            <a:off x="6217920" y="2734056"/>
            <a:ext cx="402336" cy="402336"/>
          </a:xfrm>
          <a:prstGeom prst="ellipse">
            <a:avLst/>
          </a:prstGeom>
          <a:solidFill>
            <a:schemeClr val="accent2"/>
          </a:solidFill>
          <a:ln/>
        </p:spPr>
      </p:sp>
      <p:pic>
        <p:nvPicPr>
          <p:cNvPr id="26" name="Image 5" descr="ExclamationTriangle icon">    </p:cNvPr>
          <p:cNvPicPr>
            <a:picLocks noChangeAspect="1"/>
          </p:cNvPicPr>
          <p:nvPr/>
        </p:nvPicPr>
        <p:blipFill>
          <a:blip r:embed="rId6"/>
          <a:stretch>
            <a:fillRect/>
          </a:stretch>
        </p:blipFill>
        <p:spPr>
          <a:xfrm>
            <a:off x="6314481" y="2830617"/>
            <a:ext cx="209215" cy="209215"/>
          </a:xfrm>
          <a:prstGeom prst="rect">
            <a:avLst/>
          </a:prstGeom>
        </p:spPr>
      </p:pic>
      <p:sp>
        <p:nvSpPr>
          <p:cNvPr id="27" name="Text 19"/>
          <p:cNvSpPr txBox="1"/>
          <p:nvPr/>
        </p:nvSpPr>
        <p:spPr>
          <a:xfrm>
            <a:off x="6766560" y="2606040"/>
            <a:ext cx="4754880" cy="658368"/>
          </a:xfrm>
          <a:prstGeom prst="rect">
            <a:avLst/>
          </a:prstGeom>
          <a:noFill/>
          <a:ln/>
        </p:spPr>
        <p:txBody>
          <a:bodyPr wrap="square" lIns="0" tIns="0" rIns="0" bIns="0" rtlCol="0" anchor="ctr"/>
          <a:lstStyle/>
          <a:p>
            <a:pPr algn="l" indent="0" marL="0">
              <a:buNone/>
            </a:pPr>
            <a:r>
              <a:rPr lang="en-US" sz="1400" dirty="0">
                <a:solidFill>
                  <a:schemeClr val="tx1"/>
                </a:solidFill>
              </a:rPr>
              <a:t>Bước 7 (chẩn đoán) và bước 8 (báo cáo) chưa xây</a:t>
            </a:r>
            <a:endParaRPr lang="en-US" sz="1400" dirty="0"/>
          </a:p>
        </p:txBody>
      </p:sp>
      <p:sp>
        <p:nvSpPr>
          <p:cNvPr id="28" name="Limit 3"/>
          <p:cNvSpPr/>
          <p:nvPr/>
        </p:nvSpPr>
        <p:spPr>
          <a:xfrm>
            <a:off x="6080760" y="3337560"/>
            <a:ext cx="5559552" cy="658368"/>
          </a:xfrm>
          <a:prstGeom prst="roundRect">
            <a:avLst>
              <a:gd name="adj" fmla="val 16667"/>
            </a:avLst>
          </a:prstGeom>
          <a:solidFill>
            <a:schemeClr val="bg2"/>
          </a:solidFill>
          <a:ln/>
        </p:spPr>
      </p:sp>
      <p:sp>
        <p:nvSpPr>
          <p:cNvPr id="29" name="Icon circle FaExclamationTriangle"/>
          <p:cNvSpPr/>
          <p:nvPr/>
        </p:nvSpPr>
        <p:spPr>
          <a:xfrm>
            <a:off x="6217920" y="3465576"/>
            <a:ext cx="402336" cy="402336"/>
          </a:xfrm>
          <a:prstGeom prst="ellipse">
            <a:avLst/>
          </a:prstGeom>
          <a:solidFill>
            <a:schemeClr val="accent2"/>
          </a:solidFill>
          <a:ln/>
        </p:spPr>
      </p:sp>
      <p:pic>
        <p:nvPicPr>
          <p:cNvPr id="30" name="Image 6" descr="ExclamationTriangle icon">    </p:cNvPr>
          <p:cNvPicPr>
            <a:picLocks noChangeAspect="1"/>
          </p:cNvPicPr>
          <p:nvPr/>
        </p:nvPicPr>
        <p:blipFill>
          <a:blip r:embed="rId7"/>
          <a:stretch>
            <a:fillRect/>
          </a:stretch>
        </p:blipFill>
        <p:spPr>
          <a:xfrm>
            <a:off x="6314481" y="3562137"/>
            <a:ext cx="209215" cy="209215"/>
          </a:xfrm>
          <a:prstGeom prst="rect">
            <a:avLst/>
          </a:prstGeom>
        </p:spPr>
      </p:pic>
      <p:sp>
        <p:nvSpPr>
          <p:cNvPr id="31" name="Text 22"/>
          <p:cNvSpPr txBox="1"/>
          <p:nvPr/>
        </p:nvSpPr>
        <p:spPr>
          <a:xfrm>
            <a:off x="6766560" y="3337560"/>
            <a:ext cx="4754880" cy="658368"/>
          </a:xfrm>
          <a:prstGeom prst="rect">
            <a:avLst/>
          </a:prstGeom>
          <a:noFill/>
          <a:ln/>
        </p:spPr>
        <p:txBody>
          <a:bodyPr wrap="square" lIns="0" tIns="0" rIns="0" bIns="0" rtlCol="0" anchor="ctr"/>
          <a:lstStyle/>
          <a:p>
            <a:pPr algn="l" indent="0" marL="0">
              <a:buNone/>
            </a:pPr>
            <a:r>
              <a:rPr lang="en-US" sz="1400" dirty="0">
                <a:solidFill>
                  <a:schemeClr val="tx1"/>
                </a:solidFill>
              </a:rPr>
              <a:t>Mới 5 lần chạy, 1 app, 1 người vận hành</a:t>
            </a:r>
            <a:endParaRPr lang="en-US" sz="1400" dirty="0"/>
          </a:p>
        </p:txBody>
      </p:sp>
      <p:sp>
        <p:nvSpPr>
          <p:cNvPr id="32" name="Limit 4"/>
          <p:cNvSpPr/>
          <p:nvPr/>
        </p:nvSpPr>
        <p:spPr>
          <a:xfrm>
            <a:off x="6080760" y="4069080"/>
            <a:ext cx="5559552" cy="658368"/>
          </a:xfrm>
          <a:prstGeom prst="roundRect">
            <a:avLst>
              <a:gd name="adj" fmla="val 16667"/>
            </a:avLst>
          </a:prstGeom>
          <a:solidFill>
            <a:schemeClr val="bg2"/>
          </a:solidFill>
          <a:ln/>
        </p:spPr>
      </p:sp>
      <p:sp>
        <p:nvSpPr>
          <p:cNvPr id="33" name="Icon circle FaExclamationTriangle"/>
          <p:cNvSpPr/>
          <p:nvPr/>
        </p:nvSpPr>
        <p:spPr>
          <a:xfrm>
            <a:off x="6217920" y="4197096"/>
            <a:ext cx="402336" cy="402336"/>
          </a:xfrm>
          <a:prstGeom prst="ellipse">
            <a:avLst/>
          </a:prstGeom>
          <a:solidFill>
            <a:schemeClr val="accent2"/>
          </a:solidFill>
          <a:ln/>
        </p:spPr>
      </p:sp>
      <p:pic>
        <p:nvPicPr>
          <p:cNvPr id="34" name="Image 7" descr="ExclamationTriangle icon">    </p:cNvPr>
          <p:cNvPicPr>
            <a:picLocks noChangeAspect="1"/>
          </p:cNvPicPr>
          <p:nvPr/>
        </p:nvPicPr>
        <p:blipFill>
          <a:blip r:embed="rId8"/>
          <a:stretch>
            <a:fillRect/>
          </a:stretch>
        </p:blipFill>
        <p:spPr>
          <a:xfrm>
            <a:off x="6314481" y="4293657"/>
            <a:ext cx="209215" cy="209215"/>
          </a:xfrm>
          <a:prstGeom prst="rect">
            <a:avLst/>
          </a:prstGeom>
        </p:spPr>
      </p:pic>
      <p:sp>
        <p:nvSpPr>
          <p:cNvPr id="35" name="Text 25"/>
          <p:cNvSpPr txBox="1"/>
          <p:nvPr/>
        </p:nvSpPr>
        <p:spPr>
          <a:xfrm>
            <a:off x="6766560" y="4069080"/>
            <a:ext cx="4754880" cy="658368"/>
          </a:xfrm>
          <a:prstGeom prst="rect">
            <a:avLst/>
          </a:prstGeom>
          <a:noFill/>
          <a:ln/>
        </p:spPr>
        <p:txBody>
          <a:bodyPr wrap="square" lIns="0" tIns="0" rIns="0" bIns="0" rtlCol="0" anchor="ctr"/>
          <a:lstStyle/>
          <a:p>
            <a:pPr algn="l" indent="0" marL="0">
              <a:buNone/>
            </a:pPr>
            <a:r>
              <a:rPr lang="en-US" sz="1400" dirty="0">
                <a:solidFill>
                  <a:schemeClr val="tx1"/>
                </a:solidFill>
              </a:rPr>
              <a:t>Chưa có trần chi tiêu theo ngày</a:t>
            </a:r>
            <a:endParaRPr lang="en-US" sz="1400" dirty="0"/>
          </a:p>
        </p:txBody>
      </p:sp>
      <p:sp>
        <p:nvSpPr>
          <p:cNvPr id="36" name="Limit 5"/>
          <p:cNvSpPr/>
          <p:nvPr/>
        </p:nvSpPr>
        <p:spPr>
          <a:xfrm>
            <a:off x="6080760" y="4800600"/>
            <a:ext cx="5559552" cy="658368"/>
          </a:xfrm>
          <a:prstGeom prst="roundRect">
            <a:avLst>
              <a:gd name="adj" fmla="val 16667"/>
            </a:avLst>
          </a:prstGeom>
          <a:solidFill>
            <a:schemeClr val="bg2"/>
          </a:solidFill>
          <a:ln/>
        </p:spPr>
      </p:sp>
      <p:sp>
        <p:nvSpPr>
          <p:cNvPr id="37" name="Icon circle FaExclamationTriangle"/>
          <p:cNvSpPr/>
          <p:nvPr/>
        </p:nvSpPr>
        <p:spPr>
          <a:xfrm>
            <a:off x="6217920" y="4928616"/>
            <a:ext cx="402336" cy="402336"/>
          </a:xfrm>
          <a:prstGeom prst="ellipse">
            <a:avLst/>
          </a:prstGeom>
          <a:solidFill>
            <a:schemeClr val="accent2"/>
          </a:solidFill>
          <a:ln/>
        </p:spPr>
      </p:sp>
      <p:pic>
        <p:nvPicPr>
          <p:cNvPr id="38" name="Image 8" descr="ExclamationTriangle icon">    </p:cNvPr>
          <p:cNvPicPr>
            <a:picLocks noChangeAspect="1"/>
          </p:cNvPicPr>
          <p:nvPr/>
        </p:nvPicPr>
        <p:blipFill>
          <a:blip r:embed="rId9"/>
          <a:stretch>
            <a:fillRect/>
          </a:stretch>
        </p:blipFill>
        <p:spPr>
          <a:xfrm>
            <a:off x="6314481" y="5025177"/>
            <a:ext cx="209215" cy="209215"/>
          </a:xfrm>
          <a:prstGeom prst="rect">
            <a:avLst/>
          </a:prstGeom>
        </p:spPr>
      </p:pic>
      <p:sp>
        <p:nvSpPr>
          <p:cNvPr id="39" name="Text 28"/>
          <p:cNvSpPr txBox="1"/>
          <p:nvPr/>
        </p:nvSpPr>
        <p:spPr>
          <a:xfrm>
            <a:off x="6766560" y="4800600"/>
            <a:ext cx="4754880" cy="658368"/>
          </a:xfrm>
          <a:prstGeom prst="rect">
            <a:avLst/>
          </a:prstGeom>
          <a:noFill/>
          <a:ln/>
        </p:spPr>
        <p:txBody>
          <a:bodyPr wrap="square" lIns="0" tIns="0" rIns="0" bIns="0" rtlCol="0" anchor="ctr"/>
          <a:lstStyle/>
          <a:p>
            <a:pPr algn="l" indent="0" marL="0">
              <a:buNone/>
            </a:pPr>
            <a:r>
              <a:rPr lang="en-US" sz="1400" dirty="0">
                <a:solidFill>
                  <a:schemeClr val="tx1"/>
                </a:solidFill>
              </a:rPr>
              <a:t>Assertion chỉ được kiểm bằng review PR và độ phủ rule; chưa có code kiểm tra từng kết quả mong đợi</a:t>
            </a:r>
            <a:endParaRPr lang="en-US" sz="1400" dirty="0"/>
          </a:p>
        </p:txBody>
      </p:sp>
      <p:sp>
        <p:nvSpPr>
          <p:cNvPr id="40" name="Limit 6"/>
          <p:cNvSpPr/>
          <p:nvPr/>
        </p:nvSpPr>
        <p:spPr>
          <a:xfrm>
            <a:off x="6080760" y="5532120"/>
            <a:ext cx="5559552" cy="658368"/>
          </a:xfrm>
          <a:prstGeom prst="roundRect">
            <a:avLst>
              <a:gd name="adj" fmla="val 16667"/>
            </a:avLst>
          </a:prstGeom>
          <a:solidFill>
            <a:schemeClr val="bg2"/>
          </a:solidFill>
          <a:ln/>
        </p:spPr>
      </p:sp>
      <p:sp>
        <p:nvSpPr>
          <p:cNvPr id="41" name="Icon circle FaExclamationTriangle"/>
          <p:cNvSpPr/>
          <p:nvPr/>
        </p:nvSpPr>
        <p:spPr>
          <a:xfrm>
            <a:off x="6217920" y="5660136"/>
            <a:ext cx="402336" cy="402336"/>
          </a:xfrm>
          <a:prstGeom prst="ellipse">
            <a:avLst/>
          </a:prstGeom>
          <a:solidFill>
            <a:schemeClr val="accent2"/>
          </a:solidFill>
          <a:ln/>
        </p:spPr>
      </p:sp>
      <p:pic>
        <p:nvPicPr>
          <p:cNvPr id="42" name="Image 9" descr="ExclamationTriangle icon">    </p:cNvPr>
          <p:cNvPicPr>
            <a:picLocks noChangeAspect="1"/>
          </p:cNvPicPr>
          <p:nvPr/>
        </p:nvPicPr>
        <p:blipFill>
          <a:blip r:embed="rId10"/>
          <a:stretch>
            <a:fillRect/>
          </a:stretch>
        </p:blipFill>
        <p:spPr>
          <a:xfrm>
            <a:off x="6314481" y="5756697"/>
            <a:ext cx="209215" cy="209215"/>
          </a:xfrm>
          <a:prstGeom prst="rect">
            <a:avLst/>
          </a:prstGeom>
        </p:spPr>
      </p:pic>
      <p:sp>
        <p:nvSpPr>
          <p:cNvPr id="43" name="Text 31"/>
          <p:cNvSpPr txBox="1"/>
          <p:nvPr/>
        </p:nvSpPr>
        <p:spPr>
          <a:xfrm>
            <a:off x="6766560" y="5532120"/>
            <a:ext cx="4754880" cy="658368"/>
          </a:xfrm>
          <a:prstGeom prst="rect">
            <a:avLst/>
          </a:prstGeom>
          <a:noFill/>
          <a:ln/>
        </p:spPr>
        <p:txBody>
          <a:bodyPr wrap="square" lIns="0" tIns="0" rIns="0" bIns="0" rtlCol="0" anchor="ctr"/>
          <a:lstStyle/>
          <a:p>
            <a:pPr algn="l" indent="0" marL="0">
              <a:buNone/>
            </a:pPr>
            <a:r>
              <a:rPr lang="en-US" sz="1400" dirty="0">
                <a:solidFill>
                  <a:schemeClr val="tx1"/>
                </a:solidFill>
              </a:rPr>
              <a:t>Dùng tài khoản Jira/GitHub cá nhân; pilot cần service account và runner CI trung lập</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latin typeface="+mj-lt" pitchFamily="34" charset="0"/>
                <a:ea typeface="+mj-lt" pitchFamily="34" charset="-122"/>
                <a:cs typeface="+mj-lt" pitchFamily="34" charset="-120"/>
              </a:rPr>
              <a:t>Lộ trình và pilot đề xuất</a:t>
            </a:r>
            <a:endParaRPr lang="en-US" sz="3600" dirty="0"/>
          </a:p>
        </p:txBody>
      </p:sp>
      <p:sp>
        <p:nvSpPr>
          <p:cNvPr id="3" name="Roadmap 1"/>
          <p:cNvSpPr/>
          <p:nvPr/>
        </p:nvSpPr>
        <p:spPr>
          <a:xfrm>
            <a:off x="548640" y="1325880"/>
            <a:ext cx="2651760" cy="2011680"/>
          </a:xfrm>
          <a:prstGeom prst="roundRect">
            <a:avLst>
              <a:gd name="adj" fmla="val 5455"/>
            </a:avLst>
          </a:prstGeom>
          <a:solidFill>
            <a:schemeClr val="bg2"/>
          </a:solidFill>
          <a:ln/>
        </p:spPr>
      </p:sp>
      <p:sp>
        <p:nvSpPr>
          <p:cNvPr id="4" name="Roadmap number 1"/>
          <p:cNvSpPr/>
          <p:nvPr/>
        </p:nvSpPr>
        <p:spPr>
          <a:xfrm>
            <a:off x="731520" y="1490472"/>
            <a:ext cx="457200" cy="457200"/>
          </a:xfrm>
          <a:prstGeom prst="ellipse">
            <a:avLst/>
          </a:prstGeom>
          <a:solidFill>
            <a:schemeClr val="accent1"/>
          </a:solidFill>
          <a:ln/>
        </p:spPr>
      </p:sp>
      <p:sp>
        <p:nvSpPr>
          <p:cNvPr id="5" name="Text 3"/>
          <p:cNvSpPr txBox="1"/>
          <p:nvPr/>
        </p:nvSpPr>
        <p:spPr>
          <a:xfrm>
            <a:off x="731520" y="149047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731520" y="2039112"/>
            <a:ext cx="2286000" cy="502920"/>
          </a:xfrm>
          <a:prstGeom prst="rect">
            <a:avLst/>
          </a:prstGeom>
          <a:noFill/>
          <a:ln/>
        </p:spPr>
        <p:txBody>
          <a:bodyPr wrap="square" lIns="0" tIns="0" rIns="0" bIns="0" rtlCol="0" anchor="t"/>
          <a:lstStyle/>
          <a:p>
            <a:pPr algn="l" indent="0" marL="0">
              <a:buNone/>
            </a:pPr>
            <a:r>
              <a:rPr lang="en-US" sz="1600" b="1" dirty="0">
                <a:solidFill>
                  <a:schemeClr val="tx1"/>
                </a:solidFill>
              </a:rPr>
              <a:t>App thứ hai + Android</a:t>
            </a:r>
            <a:endParaRPr lang="en-US" sz="1600" dirty="0"/>
          </a:p>
        </p:txBody>
      </p:sp>
      <p:sp>
        <p:nvSpPr>
          <p:cNvPr id="7" name="Text 5"/>
          <p:cNvSpPr txBox="1"/>
          <p:nvPr/>
        </p:nvSpPr>
        <p:spPr>
          <a:xfrm>
            <a:off x="731520" y="2606040"/>
            <a:ext cx="2286000" cy="685800"/>
          </a:xfrm>
          <a:prstGeom prst="rect">
            <a:avLst/>
          </a:prstGeom>
          <a:noFill/>
          <a:ln/>
        </p:spPr>
        <p:txBody>
          <a:bodyPr wrap="square" lIns="0" tIns="0" rIns="0" bIns="0" rtlCol="0" anchor="t"/>
          <a:lstStyle/>
          <a:p>
            <a:pPr algn="l" indent="0" marL="0">
              <a:buNone/>
            </a:pPr>
            <a:r>
              <a:rPr lang="en-US" sz="1400" dirty="0">
                <a:solidFill>
                  <a:schemeClr val="tx2"/>
                </a:solidFill>
              </a:rPr>
              <a:t>Cấu trúc nhiều app đã có sẵn</a:t>
            </a:r>
            <a:endParaRPr lang="en-US" sz="1400" dirty="0"/>
          </a:p>
        </p:txBody>
      </p:sp>
      <p:sp>
        <p:nvSpPr>
          <p:cNvPr id="8" name="Roadmap 2"/>
          <p:cNvSpPr/>
          <p:nvPr/>
        </p:nvSpPr>
        <p:spPr>
          <a:xfrm>
            <a:off x="3362249" y="1325880"/>
            <a:ext cx="2651760" cy="2011680"/>
          </a:xfrm>
          <a:prstGeom prst="roundRect">
            <a:avLst>
              <a:gd name="adj" fmla="val 5455"/>
            </a:avLst>
          </a:prstGeom>
          <a:solidFill>
            <a:schemeClr val="bg2"/>
          </a:solidFill>
          <a:ln/>
        </p:spPr>
      </p:sp>
      <p:sp>
        <p:nvSpPr>
          <p:cNvPr id="9" name="Roadmap number 2"/>
          <p:cNvSpPr/>
          <p:nvPr/>
        </p:nvSpPr>
        <p:spPr>
          <a:xfrm>
            <a:off x="3545129" y="1490472"/>
            <a:ext cx="457200" cy="457200"/>
          </a:xfrm>
          <a:prstGeom prst="ellipse">
            <a:avLst/>
          </a:prstGeom>
          <a:solidFill>
            <a:schemeClr val="accent1"/>
          </a:solidFill>
          <a:ln/>
        </p:spPr>
      </p:sp>
      <p:sp>
        <p:nvSpPr>
          <p:cNvPr id="10" name="Text 8"/>
          <p:cNvSpPr txBox="1"/>
          <p:nvPr/>
        </p:nvSpPr>
        <p:spPr>
          <a:xfrm>
            <a:off x="3545129" y="149047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9"/>
          <p:cNvSpPr txBox="1"/>
          <p:nvPr/>
        </p:nvSpPr>
        <p:spPr>
          <a:xfrm>
            <a:off x="3545129" y="2039112"/>
            <a:ext cx="2286000" cy="502920"/>
          </a:xfrm>
          <a:prstGeom prst="rect">
            <a:avLst/>
          </a:prstGeom>
          <a:noFill/>
          <a:ln/>
        </p:spPr>
        <p:txBody>
          <a:bodyPr wrap="square" lIns="0" tIns="0" rIns="0" bIns="0" rtlCol="0" anchor="t"/>
          <a:lstStyle/>
          <a:p>
            <a:pPr algn="l" indent="0" marL="0">
              <a:buNone/>
            </a:pPr>
            <a:r>
              <a:rPr lang="en-US" sz="1600" b="1" dirty="0">
                <a:solidFill>
                  <a:schemeClr val="tx1"/>
                </a:solidFill>
              </a:rPr>
              <a:t>Chạy song song</a:t>
            </a:r>
            <a:endParaRPr lang="en-US" sz="1600" dirty="0"/>
          </a:p>
        </p:txBody>
      </p:sp>
      <p:sp>
        <p:nvSpPr>
          <p:cNvPr id="12" name="Text 10"/>
          <p:cNvSpPr txBox="1"/>
          <p:nvPr/>
        </p:nvSpPr>
        <p:spPr>
          <a:xfrm>
            <a:off x="3545129" y="2606040"/>
            <a:ext cx="2286000" cy="685800"/>
          </a:xfrm>
          <a:prstGeom prst="rect">
            <a:avLst/>
          </a:prstGeom>
          <a:noFill/>
          <a:ln/>
        </p:spPr>
        <p:txBody>
          <a:bodyPr wrap="square" lIns="0" tIns="0" rIns="0" bIns="0" rtlCol="0" anchor="t"/>
          <a:lstStyle/>
          <a:p>
            <a:pPr algn="l" indent="0" marL="0">
              <a:buNone/>
            </a:pPr>
            <a:r>
              <a:rPr lang="en-US" sz="1400" dirty="0">
                <a:solidFill>
                  <a:schemeClr val="tx2"/>
                </a:solidFill>
              </a:rPr>
              <a:t>Runner CI trung lập, chia nhỏ CI, trần theo ngày, service account</a:t>
            </a:r>
            <a:endParaRPr lang="en-US" sz="1400" dirty="0"/>
          </a:p>
        </p:txBody>
      </p:sp>
      <p:sp>
        <p:nvSpPr>
          <p:cNvPr id="13" name="Roadmap 3"/>
          <p:cNvSpPr/>
          <p:nvPr/>
        </p:nvSpPr>
        <p:spPr>
          <a:xfrm>
            <a:off x="6175858" y="1325880"/>
            <a:ext cx="2651760" cy="2011680"/>
          </a:xfrm>
          <a:prstGeom prst="roundRect">
            <a:avLst>
              <a:gd name="adj" fmla="val 5455"/>
            </a:avLst>
          </a:prstGeom>
          <a:solidFill>
            <a:schemeClr val="bg2"/>
          </a:solidFill>
          <a:ln/>
        </p:spPr>
      </p:sp>
      <p:sp>
        <p:nvSpPr>
          <p:cNvPr id="14" name="Roadmap number 3"/>
          <p:cNvSpPr/>
          <p:nvPr/>
        </p:nvSpPr>
        <p:spPr>
          <a:xfrm>
            <a:off x="6358738" y="1490472"/>
            <a:ext cx="457200" cy="457200"/>
          </a:xfrm>
          <a:prstGeom prst="ellipse">
            <a:avLst/>
          </a:prstGeom>
          <a:solidFill>
            <a:schemeClr val="accent1"/>
          </a:solidFill>
          <a:ln/>
        </p:spPr>
      </p:sp>
      <p:sp>
        <p:nvSpPr>
          <p:cNvPr id="15" name="Text 13"/>
          <p:cNvSpPr txBox="1"/>
          <p:nvPr/>
        </p:nvSpPr>
        <p:spPr>
          <a:xfrm>
            <a:off x="6358738" y="149047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4"/>
          <p:cNvSpPr txBox="1"/>
          <p:nvPr/>
        </p:nvSpPr>
        <p:spPr>
          <a:xfrm>
            <a:off x="6358738" y="2039112"/>
            <a:ext cx="2286000" cy="502920"/>
          </a:xfrm>
          <a:prstGeom prst="rect">
            <a:avLst/>
          </a:prstGeom>
          <a:noFill/>
          <a:ln/>
        </p:spPr>
        <p:txBody>
          <a:bodyPr wrap="square" lIns="0" tIns="0" rIns="0" bIns="0" rtlCol="0" anchor="t"/>
          <a:lstStyle/>
          <a:p>
            <a:pPr algn="l" indent="0" marL="0">
              <a:buNone/>
            </a:pPr>
            <a:r>
              <a:rPr lang="en-US" sz="1600" b="1" dirty="0">
                <a:solidFill>
                  <a:schemeClr val="tx1"/>
                </a:solidFill>
              </a:rPr>
              <a:t>Nhiều nhà cung cấp model</a:t>
            </a:r>
            <a:endParaRPr lang="en-US" sz="1600" dirty="0"/>
          </a:p>
        </p:txBody>
      </p:sp>
      <p:sp>
        <p:nvSpPr>
          <p:cNvPr id="17" name="Text 15"/>
          <p:cNvSpPr txBox="1"/>
          <p:nvPr/>
        </p:nvSpPr>
        <p:spPr>
          <a:xfrm>
            <a:off x="6358738" y="2606040"/>
            <a:ext cx="2286000" cy="685800"/>
          </a:xfrm>
          <a:prstGeom prst="rect">
            <a:avLst/>
          </a:prstGeom>
          <a:noFill/>
          <a:ln/>
        </p:spPr>
        <p:txBody>
          <a:bodyPr wrap="square" lIns="0" tIns="0" rIns="0" bIns="0" rtlCol="0" anchor="t"/>
          <a:lstStyle/>
          <a:p>
            <a:pPr algn="l" indent="0" marL="0">
              <a:buNone/>
            </a:pPr>
            <a:r>
              <a:rPr lang="en-US" sz="1400" dirty="0">
                <a:solidFill>
                  <a:schemeClr val="tx2"/>
                </a:solidFill>
              </a:rPr>
              <a:t>Xác thực doanh nghiệp</a:t>
            </a:r>
            <a:endParaRPr lang="en-US" sz="1400" dirty="0"/>
          </a:p>
        </p:txBody>
      </p:sp>
      <p:sp>
        <p:nvSpPr>
          <p:cNvPr id="18" name="Roadmap 4"/>
          <p:cNvSpPr/>
          <p:nvPr/>
        </p:nvSpPr>
        <p:spPr>
          <a:xfrm>
            <a:off x="8989466" y="1325880"/>
            <a:ext cx="2651760" cy="2011680"/>
          </a:xfrm>
          <a:prstGeom prst="roundRect">
            <a:avLst>
              <a:gd name="adj" fmla="val 5455"/>
            </a:avLst>
          </a:prstGeom>
          <a:solidFill>
            <a:schemeClr val="bg2"/>
          </a:solidFill>
          <a:ln/>
        </p:spPr>
      </p:sp>
      <p:sp>
        <p:nvSpPr>
          <p:cNvPr id="19" name="Roadmap number 4"/>
          <p:cNvSpPr/>
          <p:nvPr/>
        </p:nvSpPr>
        <p:spPr>
          <a:xfrm>
            <a:off x="9172346" y="1490472"/>
            <a:ext cx="457200" cy="457200"/>
          </a:xfrm>
          <a:prstGeom prst="ellipse">
            <a:avLst/>
          </a:prstGeom>
          <a:solidFill>
            <a:schemeClr val="accent1"/>
          </a:solidFill>
          <a:ln/>
        </p:spPr>
      </p:sp>
      <p:sp>
        <p:nvSpPr>
          <p:cNvPr id="20" name="Text 18"/>
          <p:cNvSpPr txBox="1"/>
          <p:nvPr/>
        </p:nvSpPr>
        <p:spPr>
          <a:xfrm>
            <a:off x="9172346" y="149047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Text 19"/>
          <p:cNvSpPr txBox="1"/>
          <p:nvPr/>
        </p:nvSpPr>
        <p:spPr>
          <a:xfrm>
            <a:off x="9172346" y="2039112"/>
            <a:ext cx="2286000" cy="502920"/>
          </a:xfrm>
          <a:prstGeom prst="rect">
            <a:avLst/>
          </a:prstGeom>
          <a:noFill/>
          <a:ln/>
        </p:spPr>
        <p:txBody>
          <a:bodyPr wrap="square" lIns="0" tIns="0" rIns="0" bIns="0" rtlCol="0" anchor="t"/>
          <a:lstStyle/>
          <a:p>
            <a:pPr algn="l" indent="0" marL="0">
              <a:buNone/>
            </a:pPr>
            <a:r>
              <a:rPr lang="en-US" sz="1600" b="1" dirty="0">
                <a:solidFill>
                  <a:schemeClr val="tx1"/>
                </a:solidFill>
              </a:rPr>
              <a:t>Vòng lặp khép kín</a:t>
            </a:r>
            <a:endParaRPr lang="en-US" sz="1600" dirty="0"/>
          </a:p>
        </p:txBody>
      </p:sp>
      <p:sp>
        <p:nvSpPr>
          <p:cNvPr id="22" name="Text 20"/>
          <p:cNvSpPr txBox="1"/>
          <p:nvPr/>
        </p:nvSpPr>
        <p:spPr>
          <a:xfrm>
            <a:off x="9172346" y="2606040"/>
            <a:ext cx="2286000" cy="685800"/>
          </a:xfrm>
          <a:prstGeom prst="rect">
            <a:avLst/>
          </a:prstGeom>
          <a:noFill/>
          <a:ln/>
        </p:spPr>
        <p:txBody>
          <a:bodyPr wrap="square" lIns="0" tIns="0" rIns="0" bIns="0" rtlCol="0" anchor="t"/>
          <a:lstStyle/>
          <a:p>
            <a:pPr algn="l" indent="0" marL="0">
              <a:buNone/>
            </a:pPr>
            <a:r>
              <a:rPr lang="en-US" sz="1400" dirty="0">
                <a:solidFill>
                  <a:schemeClr val="tx2"/>
                </a:solidFill>
              </a:rPr>
              <a:t>CI lỗi → ticket → PR sửa → báo cáo</a:t>
            </a:r>
            <a:endParaRPr lang="en-US" sz="1400" dirty="0"/>
          </a:p>
        </p:txBody>
      </p:sp>
      <p:sp>
        <p:nvSpPr>
          <p:cNvPr id="23" name="Text 21"/>
          <p:cNvSpPr txBox="1"/>
          <p:nvPr/>
        </p:nvSpPr>
        <p:spPr>
          <a:xfrm>
            <a:off x="548640" y="3611880"/>
            <a:ext cx="11064240" cy="365760"/>
          </a:xfrm>
          <a:prstGeom prst="rect">
            <a:avLst/>
          </a:prstGeom>
          <a:noFill/>
          <a:ln/>
        </p:spPr>
        <p:txBody>
          <a:bodyPr wrap="square" lIns="0" tIns="0" rIns="0" bIns="0" rtlCol="0" anchor="t"/>
          <a:lstStyle/>
          <a:p>
            <a:pPr algn="l" indent="0" marL="0">
              <a:buNone/>
            </a:pPr>
            <a:r>
              <a:rPr lang="en-US" sz="2000" b="1" dirty="0">
                <a:solidFill>
                  <a:schemeClr val="tx1"/>
                </a:solidFill>
              </a:rPr>
              <a:t>Pilot đề xuất · 1 app · 10–15 ticket thật · 4–6 tuần</a:t>
            </a:r>
            <a:endParaRPr lang="en-US" sz="2000" dirty="0"/>
          </a:p>
        </p:txBody>
      </p:sp>
      <p:sp>
        <p:nvSpPr>
          <p:cNvPr id="24" name="Pilot Tuần 0–1 · Chuẩn bị"/>
          <p:cNvSpPr/>
          <p:nvPr/>
        </p:nvSpPr>
        <p:spPr>
          <a:xfrm>
            <a:off x="576072" y="4114800"/>
            <a:ext cx="3114185" cy="868680"/>
          </a:xfrm>
          <a:prstGeom prst="roundRect">
            <a:avLst>
              <a:gd name="adj" fmla="val 10526"/>
            </a:avLst>
          </a:prstGeom>
          <a:solidFill>
            <a:schemeClr val="accent2"/>
          </a:solidFill>
          <a:ln/>
        </p:spPr>
      </p:sp>
      <p:sp>
        <p:nvSpPr>
          <p:cNvPr id="25" name="Text 23"/>
          <p:cNvSpPr txBox="1"/>
          <p:nvPr/>
        </p:nvSpPr>
        <p:spPr>
          <a:xfrm>
            <a:off x="731520" y="4114800"/>
            <a:ext cx="2803289" cy="868680"/>
          </a:xfrm>
          <a:prstGeom prst="rect">
            <a:avLst/>
          </a:prstGeom>
          <a:noFill/>
          <a:ln/>
        </p:spPr>
        <p:txBody>
          <a:bodyPr wrap="square" lIns="0" tIns="0" rIns="0" bIns="0" rtlCol="0" anchor="ctr"/>
          <a:lstStyle/>
          <a:p>
            <a:pPr algn="l" indent="0" marL="0">
              <a:buNone/>
            </a:pPr>
            <a:r>
              <a:rPr lang="en-US" sz="1400" b="1" dirty="0">
                <a:solidFill>
                  <a:srgbClr val="14161F"/>
                </a:solidFill>
              </a:rPr>
              <a:t>Tuần 0–1 · Chuẩn bị</a:t>
            </a:r>
            <a:endParaRPr lang="en-US" sz="1400" dirty="0"/>
          </a:p>
          <a:p>
            <a:pPr algn="l" indent="0" marL="0">
              <a:buNone/>
            </a:pPr>
            <a:r>
              <a:rPr lang="en-US" sz="1200" dirty="0">
                <a:solidFill>
                  <a:srgbClr val="14161F"/>
                </a:solidFill>
              </a:rPr>
              <a:t>build, Jira + service account, repo, tài khoản test</a:t>
            </a:r>
            <a:endParaRPr lang="en-US" sz="1400" dirty="0"/>
          </a:p>
        </p:txBody>
      </p:sp>
      <p:sp>
        <p:nvSpPr>
          <p:cNvPr id="26" name="Pilot Tuần 1–5 · Chạy hai nhánh"/>
          <p:cNvSpPr/>
          <p:nvPr/>
        </p:nvSpPr>
        <p:spPr>
          <a:xfrm>
            <a:off x="3745121" y="4114800"/>
            <a:ext cx="6283234" cy="868680"/>
          </a:xfrm>
          <a:prstGeom prst="roundRect">
            <a:avLst>
              <a:gd name="adj" fmla="val 10526"/>
            </a:avLst>
          </a:prstGeom>
          <a:solidFill>
            <a:schemeClr val="accent1"/>
          </a:solidFill>
          <a:ln/>
        </p:spPr>
      </p:sp>
      <p:sp>
        <p:nvSpPr>
          <p:cNvPr id="27" name="Text 25"/>
          <p:cNvSpPr txBox="1"/>
          <p:nvPr/>
        </p:nvSpPr>
        <p:spPr>
          <a:xfrm>
            <a:off x="3900569" y="4114800"/>
            <a:ext cx="5972338" cy="868680"/>
          </a:xfrm>
          <a:prstGeom prst="rect">
            <a:avLst/>
          </a:prstGeom>
          <a:noFill/>
          <a:ln/>
        </p:spPr>
        <p:txBody>
          <a:bodyPr wrap="square" lIns="0" tIns="0" rIns="0" bIns="0" rtlCol="0" anchor="ctr"/>
          <a:lstStyle/>
          <a:p>
            <a:pPr algn="l" indent="0" marL="0">
              <a:buNone/>
            </a:pPr>
            <a:r>
              <a:rPr lang="en-US" sz="1400" b="1" dirty="0">
                <a:solidFill>
                  <a:srgbClr val="FFFFFF"/>
                </a:solidFill>
              </a:rPr>
              <a:t>Tuần 1–5 · Chạy hai nhánh</a:t>
            </a:r>
            <a:endParaRPr lang="en-US" sz="1400" dirty="0"/>
          </a:p>
          <a:p>
            <a:pPr algn="l" indent="0" marL="0">
              <a:buNone/>
            </a:pPr>
            <a:r>
              <a:rPr lang="en-US" sz="1200" dirty="0">
                <a:solidFill>
                  <a:srgbClr val="FFFFFF"/>
                </a:solidFill>
              </a:rPr>
              <a:t>họp xem lại hằng tuần</a:t>
            </a:r>
            <a:endParaRPr lang="en-US" sz="1400" dirty="0"/>
          </a:p>
        </p:txBody>
      </p:sp>
      <p:sp>
        <p:nvSpPr>
          <p:cNvPr id="28" name="Pilot Tuần 6"/>
          <p:cNvSpPr/>
          <p:nvPr/>
        </p:nvSpPr>
        <p:spPr>
          <a:xfrm>
            <a:off x="10083219" y="4114800"/>
            <a:ext cx="1529661" cy="868680"/>
          </a:xfrm>
          <a:prstGeom prst="roundRect">
            <a:avLst>
              <a:gd name="adj" fmla="val 10526"/>
            </a:avLst>
          </a:prstGeom>
          <a:solidFill>
            <a:schemeClr val="accent3"/>
          </a:solidFill>
          <a:ln/>
        </p:spPr>
      </p:sp>
      <p:sp>
        <p:nvSpPr>
          <p:cNvPr id="29" name="Text 27"/>
          <p:cNvSpPr txBox="1"/>
          <p:nvPr/>
        </p:nvSpPr>
        <p:spPr>
          <a:xfrm>
            <a:off x="10238667" y="4114800"/>
            <a:ext cx="1218765" cy="868680"/>
          </a:xfrm>
          <a:prstGeom prst="rect">
            <a:avLst/>
          </a:prstGeom>
          <a:noFill/>
          <a:ln/>
        </p:spPr>
        <p:txBody>
          <a:bodyPr wrap="square" lIns="0" tIns="0" rIns="0" bIns="0" rtlCol="0" anchor="ctr"/>
          <a:lstStyle/>
          <a:p>
            <a:pPr algn="l" indent="0" marL="0">
              <a:buNone/>
            </a:pPr>
            <a:r>
              <a:rPr lang="en-US" sz="1400" b="1" dirty="0">
                <a:solidFill>
                  <a:srgbClr val="FFFFFF"/>
                </a:solidFill>
              </a:rPr>
              <a:t>Tuần 6</a:t>
            </a:r>
            <a:endParaRPr lang="en-US" sz="1400" dirty="0"/>
          </a:p>
          <a:p>
            <a:pPr algn="l" indent="0" marL="0">
              <a:buNone/>
            </a:pPr>
            <a:r>
              <a:rPr lang="en-US" sz="1200" dirty="0">
                <a:solidFill>
                  <a:srgbClr val="FFFFFF"/>
                </a:solidFill>
              </a:rPr>
              <a:t>Báo cáo</a:t>
            </a:r>
            <a:endParaRPr lang="en-US" sz="1400" dirty="0"/>
          </a:p>
        </p:txBody>
      </p:sp>
      <p:sp>
        <p:nvSpPr>
          <p:cNvPr id="30" name="Cost chip"/>
          <p:cNvSpPr/>
          <p:nvPr/>
        </p:nvSpPr>
        <p:spPr>
          <a:xfrm>
            <a:off x="548640" y="5303520"/>
            <a:ext cx="5440680" cy="731520"/>
          </a:xfrm>
          <a:prstGeom prst="roundRect">
            <a:avLst>
              <a:gd name="adj" fmla="val 15000"/>
            </a:avLst>
          </a:prstGeom>
          <a:solidFill>
            <a:schemeClr val="bg2"/>
          </a:solidFill>
          <a:ln/>
        </p:spPr>
      </p:sp>
      <p:sp>
        <p:nvSpPr>
          <p:cNvPr id="31" name="Icon circle FaDollarSign"/>
          <p:cNvSpPr/>
          <p:nvPr/>
        </p:nvSpPr>
        <p:spPr>
          <a:xfrm>
            <a:off x="731520" y="5440680"/>
            <a:ext cx="457200" cy="457200"/>
          </a:xfrm>
          <a:prstGeom prst="ellipse">
            <a:avLst/>
          </a:prstGeom>
          <a:solidFill>
            <a:schemeClr val="tx2"/>
          </a:solidFill>
          <a:ln/>
        </p:spPr>
      </p:sp>
      <p:pic>
        <p:nvPicPr>
          <p:cNvPr id="32" name="Image 0" descr="DollarSign icon">    </p:cNvPr>
          <p:cNvPicPr>
            <a:picLocks noChangeAspect="1"/>
          </p:cNvPicPr>
          <p:nvPr/>
        </p:nvPicPr>
        <p:blipFill>
          <a:blip r:embed="rId1"/>
          <a:stretch>
            <a:fillRect/>
          </a:stretch>
        </p:blipFill>
        <p:spPr>
          <a:xfrm>
            <a:off x="841248" y="5550408"/>
            <a:ext cx="237744" cy="237744"/>
          </a:xfrm>
          <a:prstGeom prst="rect">
            <a:avLst/>
          </a:prstGeom>
        </p:spPr>
      </p:pic>
      <p:sp>
        <p:nvSpPr>
          <p:cNvPr id="33" name="Text 30"/>
          <p:cNvSpPr txBox="1"/>
          <p:nvPr/>
        </p:nvSpPr>
        <p:spPr>
          <a:xfrm>
            <a:off x="1371600" y="5303520"/>
            <a:ext cx="4480560" cy="731520"/>
          </a:xfrm>
          <a:prstGeom prst="rect">
            <a:avLst/>
          </a:prstGeom>
          <a:noFill/>
          <a:ln/>
        </p:spPr>
        <p:txBody>
          <a:bodyPr wrap="square" lIns="0" tIns="0" rIns="0" bIns="0" rtlCol="0" anchor="ctr"/>
          <a:lstStyle/>
          <a:p>
            <a:pPr algn="l" indent="0" marL="0">
              <a:buNone/>
            </a:pPr>
            <a:r>
              <a:rPr lang="en-US" sz="1400" b="1" dirty="0">
                <a:solidFill>
                  <a:schemeClr val="tx1"/>
                </a:solidFill>
              </a:rPr>
              <a:t>AI ước tính ~$10–70 </a:t>
            </a:r>
            <a:pPr algn="l" indent="0" marL="0">
              <a:buNone/>
            </a:pPr>
            <a:r>
              <a:rPr lang="en-US" sz="1400" dirty="0">
                <a:solidFill>
                  <a:schemeClr val="tx1"/>
                </a:solidFill>
              </a:rPr>
              <a:t>cho cả đợt (chưa gồm CI và công người)</a:t>
            </a:r>
            <a:endParaRPr lang="en-US" sz="1400" dirty="0"/>
          </a:p>
        </p:txBody>
      </p:sp>
      <p:sp>
        <p:nvSpPr>
          <p:cNvPr id="34" name="Criteria chip"/>
          <p:cNvSpPr/>
          <p:nvPr/>
        </p:nvSpPr>
        <p:spPr>
          <a:xfrm>
            <a:off x="6199632" y="5303520"/>
            <a:ext cx="5440680" cy="731520"/>
          </a:xfrm>
          <a:prstGeom prst="roundRect">
            <a:avLst>
              <a:gd name="adj" fmla="val 15000"/>
            </a:avLst>
          </a:prstGeom>
          <a:solidFill>
            <a:schemeClr val="bg2"/>
          </a:solidFill>
          <a:ln/>
        </p:spPr>
      </p:sp>
      <p:sp>
        <p:nvSpPr>
          <p:cNvPr id="35" name="Icon circle FaFlag"/>
          <p:cNvSpPr/>
          <p:nvPr/>
        </p:nvSpPr>
        <p:spPr>
          <a:xfrm>
            <a:off x="6382512" y="5440680"/>
            <a:ext cx="457200" cy="457200"/>
          </a:xfrm>
          <a:prstGeom prst="ellipse">
            <a:avLst/>
          </a:prstGeom>
          <a:solidFill>
            <a:schemeClr val="tx2"/>
          </a:solidFill>
          <a:ln/>
        </p:spPr>
      </p:sp>
      <p:pic>
        <p:nvPicPr>
          <p:cNvPr id="36" name="Image 1" descr="Flag icon">    </p:cNvPr>
          <p:cNvPicPr>
            <a:picLocks noChangeAspect="1"/>
          </p:cNvPicPr>
          <p:nvPr/>
        </p:nvPicPr>
        <p:blipFill>
          <a:blip r:embed="rId2"/>
          <a:stretch>
            <a:fillRect/>
          </a:stretch>
        </p:blipFill>
        <p:spPr>
          <a:xfrm>
            <a:off x="6492240" y="5550408"/>
            <a:ext cx="237744" cy="237744"/>
          </a:xfrm>
          <a:prstGeom prst="rect">
            <a:avLst/>
          </a:prstGeom>
        </p:spPr>
      </p:pic>
      <p:sp>
        <p:nvSpPr>
          <p:cNvPr id="37" name="Text 33"/>
          <p:cNvSpPr txBox="1"/>
          <p:nvPr/>
        </p:nvSpPr>
        <p:spPr>
          <a:xfrm>
            <a:off x="7022592" y="5303520"/>
            <a:ext cx="4480560" cy="731520"/>
          </a:xfrm>
          <a:prstGeom prst="rect">
            <a:avLst/>
          </a:prstGeom>
          <a:noFill/>
          <a:ln/>
        </p:spPr>
        <p:txBody>
          <a:bodyPr wrap="square" lIns="0" tIns="0" rIns="0" bIns="0" rtlCol="0" anchor="ctr"/>
          <a:lstStyle/>
          <a:p>
            <a:pPr algn="l" indent="0" marL="0">
              <a:buNone/>
            </a:pPr>
            <a:r>
              <a:rPr lang="en-US" sz="1400" b="1" dirty="0">
                <a:solidFill>
                  <a:schemeClr val="tx1"/>
                </a:solidFill>
              </a:rPr>
              <a:t>Tiêu chí tiếp tục / dừng / mở rộng </a:t>
            </a:r>
            <a:pPr algn="l" indent="0" marL="0">
              <a:buNone/>
            </a:pPr>
            <a:r>
              <a:rPr lang="en-US" sz="1400" dirty="0">
                <a:solidFill>
                  <a:schemeClr val="tx1"/>
                </a:solidFill>
              </a:rPr>
              <a:t>thống nhất từ trước</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1672" cy="822960"/>
          </a:xfrm>
          <a:prstGeom prst="rect">
            <a:avLst/>
          </a:prstGeom>
          <a:noFill/>
          <a:ln/>
        </p:spPr>
        <p:txBody>
          <a:bodyPr wrap="square" lIns="0" tIns="0" rIns="0" bIns="0" rtlCol="0" anchor="ctr"/>
          <a:lstStyle/>
          <a:p>
            <a:pPr algn="l" indent="0" marL="0">
              <a:buNone/>
            </a:pPr>
            <a:r>
              <a:rPr lang="en-US" sz="4000" b="1" dirty="0">
                <a:solidFill>
                  <a:schemeClr val="bg1"/>
                </a:solidFill>
                <a:latin typeface="+mj-lt" pitchFamily="34" charset="0"/>
                <a:ea typeface="+mj-lt" pitchFamily="34" charset="-122"/>
                <a:cs typeface="+mj-lt" pitchFamily="34" charset="-120"/>
              </a:rPr>
              <a:t>AI đề xuất, người duyệt, máy quyết định</a:t>
            </a:r>
            <a:endParaRPr lang="en-US" sz="4000" dirty="0"/>
          </a:p>
        </p:txBody>
      </p:sp>
      <p:sp>
        <p:nvSpPr>
          <p:cNvPr id="3" name="Icon circle FaRobot"/>
          <p:cNvSpPr/>
          <p:nvPr/>
        </p:nvSpPr>
        <p:spPr>
          <a:xfrm>
            <a:off x="548640" y="2103120"/>
            <a:ext cx="1097280" cy="1097280"/>
          </a:xfrm>
          <a:prstGeom prst="ellipse">
            <a:avLst/>
          </a:prstGeom>
          <a:solidFill>
            <a:schemeClr val="accent1"/>
          </a:solidFill>
          <a:ln/>
        </p:spPr>
      </p:sp>
      <p:pic>
        <p:nvPicPr>
          <p:cNvPr id="4" name="Image 0" descr="Robot icon">    </p:cNvPr>
          <p:cNvPicPr>
            <a:picLocks noChangeAspect="1"/>
          </p:cNvPicPr>
          <p:nvPr/>
        </p:nvPicPr>
        <p:blipFill>
          <a:blip r:embed="rId1"/>
          <a:stretch>
            <a:fillRect/>
          </a:stretch>
        </p:blipFill>
        <p:spPr>
          <a:xfrm>
            <a:off x="811987" y="2366467"/>
            <a:ext cx="570586" cy="570586"/>
          </a:xfrm>
          <a:prstGeom prst="rect">
            <a:avLst/>
          </a:prstGeom>
        </p:spPr>
      </p:pic>
      <p:sp>
        <p:nvSpPr>
          <p:cNvPr id="5" name="Text 2"/>
          <p:cNvSpPr txBox="1"/>
          <p:nvPr/>
        </p:nvSpPr>
        <p:spPr>
          <a:xfrm>
            <a:off x="548640" y="3383280"/>
            <a:ext cx="3511296" cy="731520"/>
          </a:xfrm>
          <a:prstGeom prst="rect">
            <a:avLst/>
          </a:prstGeom>
          <a:noFill/>
          <a:ln/>
        </p:spPr>
        <p:txBody>
          <a:bodyPr wrap="square" lIns="0" tIns="0" rIns="0" bIns="0" rtlCol="0" anchor="t"/>
          <a:lstStyle/>
          <a:p>
            <a:pPr algn="l" indent="0" marL="0">
              <a:buNone/>
            </a:pPr>
            <a:r>
              <a:rPr lang="en-US" sz="2200" b="1" dirty="0">
                <a:solidFill>
                  <a:schemeClr val="bg1"/>
                </a:solidFill>
                <a:latin typeface="+mj-lt" pitchFamily="34" charset="0"/>
                <a:ea typeface="+mj-lt" pitchFamily="34" charset="-122"/>
                <a:cs typeface="+mj-lt" pitchFamily="34" charset="-120"/>
              </a:rPr>
              <a:t>AI đề xuất</a:t>
            </a:r>
            <a:endParaRPr lang="en-US" sz="2200" dirty="0"/>
          </a:p>
        </p:txBody>
      </p:sp>
      <p:sp>
        <p:nvSpPr>
          <p:cNvPr id="6" name="Text 3"/>
          <p:cNvSpPr txBox="1"/>
          <p:nvPr/>
        </p:nvSpPr>
        <p:spPr>
          <a:xfrm>
            <a:off x="548640" y="4160520"/>
            <a:ext cx="3328416" cy="822960"/>
          </a:xfrm>
          <a:prstGeom prst="rect">
            <a:avLst/>
          </a:prstGeom>
          <a:noFill/>
          <a:ln/>
        </p:spPr>
        <p:txBody>
          <a:bodyPr wrap="square" lIns="0" tIns="0" rIns="0" bIns="0" rtlCol="0" anchor="t"/>
          <a:lstStyle/>
          <a:p>
            <a:pPr algn="l" indent="0" marL="0">
              <a:buNone/>
            </a:pPr>
            <a:r>
              <a:rPr lang="en-US" sz="1600" dirty="0">
                <a:solidFill>
                  <a:schemeClr val="accent5"/>
                </a:solidFill>
              </a:rPr>
              <a:t>Tách rule, thiết kế case, viết test, đề xuất bản vá</a:t>
            </a:r>
            <a:endParaRPr lang="en-US" sz="1600" dirty="0"/>
          </a:p>
        </p:txBody>
      </p:sp>
      <p:sp>
        <p:nvSpPr>
          <p:cNvPr id="7" name="Icon circle FaUserCheck"/>
          <p:cNvSpPr/>
          <p:nvPr/>
        </p:nvSpPr>
        <p:spPr>
          <a:xfrm>
            <a:off x="4334256" y="2103120"/>
            <a:ext cx="1097280" cy="1097280"/>
          </a:xfrm>
          <a:prstGeom prst="ellipse">
            <a:avLst/>
          </a:prstGeom>
          <a:solidFill>
            <a:schemeClr val="accent2"/>
          </a:solidFill>
          <a:ln/>
        </p:spPr>
      </p:sp>
      <p:pic>
        <p:nvPicPr>
          <p:cNvPr id="8" name="Image 1" descr="UserCheck icon">    </p:cNvPr>
          <p:cNvPicPr>
            <a:picLocks noChangeAspect="1"/>
          </p:cNvPicPr>
          <p:nvPr/>
        </p:nvPicPr>
        <p:blipFill>
          <a:blip r:embed="rId2"/>
          <a:stretch>
            <a:fillRect/>
          </a:stretch>
        </p:blipFill>
        <p:spPr>
          <a:xfrm>
            <a:off x="4597603" y="2366467"/>
            <a:ext cx="570586" cy="570586"/>
          </a:xfrm>
          <a:prstGeom prst="rect">
            <a:avLst/>
          </a:prstGeom>
        </p:spPr>
      </p:pic>
      <p:sp>
        <p:nvSpPr>
          <p:cNvPr id="9" name="Text 5"/>
          <p:cNvSpPr txBox="1"/>
          <p:nvPr/>
        </p:nvSpPr>
        <p:spPr>
          <a:xfrm>
            <a:off x="4334256" y="3383280"/>
            <a:ext cx="3511296" cy="731520"/>
          </a:xfrm>
          <a:prstGeom prst="rect">
            <a:avLst/>
          </a:prstGeom>
          <a:noFill/>
          <a:ln/>
        </p:spPr>
        <p:txBody>
          <a:bodyPr wrap="square" lIns="0" tIns="0" rIns="0" bIns="0" rtlCol="0" anchor="t"/>
          <a:lstStyle/>
          <a:p>
            <a:pPr algn="l" indent="0" marL="0">
              <a:buNone/>
            </a:pPr>
            <a:r>
              <a:rPr lang="en-US" sz="2200" b="1" dirty="0">
                <a:solidFill>
                  <a:schemeClr val="bg1"/>
                </a:solidFill>
                <a:latin typeface="+mj-lt" pitchFamily="34" charset="0"/>
                <a:ea typeface="+mj-lt" pitchFamily="34" charset="-122"/>
                <a:cs typeface="+mj-lt" pitchFamily="34" charset="-120"/>
              </a:rPr>
              <a:t>Người duyệt</a:t>
            </a:r>
            <a:endParaRPr lang="en-US" sz="2200" dirty="0"/>
          </a:p>
        </p:txBody>
      </p:sp>
      <p:sp>
        <p:nvSpPr>
          <p:cNvPr id="10" name="Text 6"/>
          <p:cNvSpPr txBox="1"/>
          <p:nvPr/>
        </p:nvSpPr>
        <p:spPr>
          <a:xfrm>
            <a:off x="4334256" y="4160520"/>
            <a:ext cx="3328416" cy="822960"/>
          </a:xfrm>
          <a:prstGeom prst="rect">
            <a:avLst/>
          </a:prstGeom>
          <a:noFill/>
          <a:ln/>
        </p:spPr>
        <p:txBody>
          <a:bodyPr wrap="square" lIns="0" tIns="0" rIns="0" bIns="0" rtlCol="0" anchor="t"/>
          <a:lstStyle/>
          <a:p>
            <a:pPr algn="l" indent="0" marL="0">
              <a:buNone/>
            </a:pPr>
            <a:r>
              <a:rPr lang="en-US" sz="1600" dirty="0">
                <a:solidFill>
                  <a:schemeClr val="accent5"/>
                </a:solidFill>
              </a:rPr>
              <a:t>Giữ mọi cổng: chỗ mơ hồ, rule + case, PR</a:t>
            </a:r>
            <a:endParaRPr lang="en-US" sz="1600" dirty="0"/>
          </a:p>
        </p:txBody>
      </p:sp>
      <p:sp>
        <p:nvSpPr>
          <p:cNvPr id="11" name="Icon circle FaCheckCircle"/>
          <p:cNvSpPr/>
          <p:nvPr/>
        </p:nvSpPr>
        <p:spPr>
          <a:xfrm>
            <a:off x="8119872" y="2103120"/>
            <a:ext cx="1097280" cy="1097280"/>
          </a:xfrm>
          <a:prstGeom prst="ellipse">
            <a:avLst/>
          </a:prstGeom>
          <a:solidFill>
            <a:schemeClr val="accent3"/>
          </a:solidFill>
          <a:ln/>
        </p:spPr>
      </p:sp>
      <p:pic>
        <p:nvPicPr>
          <p:cNvPr id="12" name="Image 2" descr="CheckCircle icon">    </p:cNvPr>
          <p:cNvPicPr>
            <a:picLocks noChangeAspect="1"/>
          </p:cNvPicPr>
          <p:nvPr/>
        </p:nvPicPr>
        <p:blipFill>
          <a:blip r:embed="rId3"/>
          <a:stretch>
            <a:fillRect/>
          </a:stretch>
        </p:blipFill>
        <p:spPr>
          <a:xfrm>
            <a:off x="8383219" y="2366467"/>
            <a:ext cx="570586" cy="570586"/>
          </a:xfrm>
          <a:prstGeom prst="rect">
            <a:avLst/>
          </a:prstGeom>
        </p:spPr>
      </p:pic>
      <p:sp>
        <p:nvSpPr>
          <p:cNvPr id="13" name="Text 8"/>
          <p:cNvSpPr txBox="1"/>
          <p:nvPr/>
        </p:nvSpPr>
        <p:spPr>
          <a:xfrm>
            <a:off x="8119872" y="3383280"/>
            <a:ext cx="3511296" cy="731520"/>
          </a:xfrm>
          <a:prstGeom prst="rect">
            <a:avLst/>
          </a:prstGeom>
          <a:noFill/>
          <a:ln/>
        </p:spPr>
        <p:txBody>
          <a:bodyPr wrap="square" lIns="0" tIns="0" rIns="0" bIns="0" rtlCol="0" anchor="t"/>
          <a:lstStyle/>
          <a:p>
            <a:pPr algn="l" indent="0" marL="0">
              <a:buNone/>
            </a:pPr>
            <a:r>
              <a:rPr lang="en-US" sz="2200" b="1" dirty="0">
                <a:solidFill>
                  <a:schemeClr val="bg1"/>
                </a:solidFill>
                <a:latin typeface="+mj-lt" pitchFamily="34" charset="0"/>
                <a:ea typeface="+mj-lt" pitchFamily="34" charset="-122"/>
                <a:cs typeface="+mj-lt" pitchFamily="34" charset="-120"/>
              </a:rPr>
              <a:t>Công cụ chạy test quyết định</a:t>
            </a:r>
            <a:endParaRPr lang="en-US" sz="2200" dirty="0"/>
          </a:p>
        </p:txBody>
      </p:sp>
      <p:sp>
        <p:nvSpPr>
          <p:cNvPr id="14" name="Text 9"/>
          <p:cNvSpPr txBox="1"/>
          <p:nvPr/>
        </p:nvSpPr>
        <p:spPr>
          <a:xfrm>
            <a:off x="8119872" y="4160520"/>
            <a:ext cx="3328416" cy="822960"/>
          </a:xfrm>
          <a:prstGeom prst="rect">
            <a:avLst/>
          </a:prstGeom>
          <a:noFill/>
          <a:ln/>
        </p:spPr>
        <p:txBody>
          <a:bodyPr wrap="square" lIns="0" tIns="0" rIns="0" bIns="0" rtlCol="0" anchor="t"/>
          <a:lstStyle/>
          <a:p>
            <a:pPr algn="l" indent="0" marL="0">
              <a:buNone/>
            </a:pPr>
            <a:r>
              <a:rPr lang="en-US" sz="1600" dirty="0">
                <a:solidFill>
                  <a:schemeClr val="accent5"/>
                </a:solidFill>
              </a:rPr>
              <a:t>Pass/fail là kết quả của Maestro, không phải của AI</a:t>
            </a:r>
            <a:endParaRPr lang="en-US" sz="1600" dirty="0"/>
          </a:p>
        </p:txBody>
      </p:sp>
      <p:sp>
        <p:nvSpPr>
          <p:cNvPr id="15" name="Text 10"/>
          <p:cNvSpPr txBox="1"/>
          <p:nvPr/>
        </p:nvSpPr>
        <p:spPr>
          <a:xfrm>
            <a:off x="548640" y="5669280"/>
            <a:ext cx="11064240" cy="548640"/>
          </a:xfrm>
          <a:prstGeom prst="rect">
            <a:avLst/>
          </a:prstGeom>
          <a:noFill/>
          <a:ln/>
        </p:spPr>
        <p:txBody>
          <a:bodyPr wrap="square" lIns="0" tIns="0" rIns="0" bIns="0" rtlCol="0" anchor="t"/>
          <a:lstStyle/>
          <a:p>
            <a:pPr algn="l" indent="0" marL="0">
              <a:buNone/>
            </a:pPr>
            <a:r>
              <a:rPr lang="en-US" sz="2800" b="1" dirty="0">
                <a:solidFill>
                  <a:schemeClr val="bg1"/>
                </a:solidFill>
                <a:latin typeface="+mj-lt" pitchFamily="34" charset="0"/>
                <a:ea typeface="+mj-lt" pitchFamily="34" charset="-122"/>
                <a:cs typeface="+mj-lt" pitchFamily="34" charset="-120"/>
              </a:rPr>
              <a:t>Cảm ơn · Hỏi đáp</a:t>
            </a:r>
            <a:endParaRPr lang="en-US" sz="2800" dirty="0"/>
          </a:p>
        </p:txBody>
      </p:sp>
    </p:spTree>
  </p:cSld>
  <p:clrMapOvr>
    <a:masterClrMapping/>
  </p:clrMapOvr>
</p:sld>
</file>

<file path=ppt/theme/theme1.xml><?xml version="1.0" encoding="utf-8"?>
<a:theme xmlns:a="http://schemas.openxmlformats.org/drawingml/2006/main" name="QA Pipeline">
  <a:themeElements>
    <a:clrScheme name="QA Pipeline">
      <a:dk1>
        <a:srgbClr val="14161F"/>
      </a:dk1>
      <a:lt1>
        <a:srgbClr val="FFFFFF"/>
      </a:lt1>
      <a:dk2>
        <a:srgbClr val="2B3245"/>
      </a:dk2>
      <a:lt2>
        <a:srgbClr val="F1F3F7"/>
      </a:lt2>
      <a:accent1>
        <a:srgbClr val="5B5BD6"/>
      </a:accent1>
      <a:accent2>
        <a:srgbClr val="F5A524"/>
      </a:accent2>
      <a:accent3>
        <a:srgbClr val="12B886"/>
      </a:accent3>
      <a:accent4>
        <a:srgbClr val="E5484D"/>
      </a:accent4>
      <a:accent5>
        <a:srgbClr val="8A93A6"/>
      </a:accent5>
      <a:accent6>
        <a:srgbClr val="0EA5E9"/>
      </a:accent6>
      <a:hlink>
        <a:srgbClr val="5B5BD6"/>
      </a:hlink>
      <a:folHlink>
        <a:srgbClr val="8A93A6"/>
      </a:folHlink>
    </a:clrScheme>
    <a:fontScheme name="QA Pipeli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Proposes, the Runner Decides</dc:title>
  <dc:subject>PptxGenJS Presentation</dc:subject>
  <dc:creator>QA</dc:creator>
  <cp:lastModifiedBy>QA</cp:lastModifiedBy>
  <cp:revision>1</cp:revision>
  <dcterms:created xsi:type="dcterms:W3CDTF">2026-10-08T14:42:31Z</dcterms:created>
  <dcterms:modified xsi:type="dcterms:W3CDTF">2026-10-08T14:42:31Z</dcterms:modified>
</cp:coreProperties>
</file>